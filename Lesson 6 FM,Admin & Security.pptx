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1.xml" ContentType="application/vnd.openxmlformats-officedocument.themeOverride+xml"/>
  <Override PartName="/ppt/notesSlides/notesSlide26.xml" ContentType="application/vnd.openxmlformats-officedocument.presentationml.notesSlide+xml"/>
  <Override PartName="/ppt/tags/tag7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1"/>
    <p:sldMasterId id="2147483993" r:id="rId2"/>
    <p:sldMasterId id="2147483946" r:id="rId3"/>
  </p:sldMasterIdLst>
  <p:notesMasterIdLst>
    <p:notesMasterId r:id="rId50"/>
  </p:notesMasterIdLst>
  <p:handoutMasterIdLst>
    <p:handoutMasterId r:id="rId51"/>
  </p:handoutMasterIdLst>
  <p:sldIdLst>
    <p:sldId id="407" r:id="rId4"/>
    <p:sldId id="520" r:id="rId5"/>
    <p:sldId id="426" r:id="rId6"/>
    <p:sldId id="427" r:id="rId7"/>
    <p:sldId id="438" r:id="rId8"/>
    <p:sldId id="439" r:id="rId9"/>
    <p:sldId id="440" r:id="rId10"/>
    <p:sldId id="441" r:id="rId11"/>
    <p:sldId id="442" r:id="rId12"/>
    <p:sldId id="443" r:id="rId13"/>
    <p:sldId id="444" r:id="rId14"/>
    <p:sldId id="445" r:id="rId15"/>
    <p:sldId id="446" r:id="rId16"/>
    <p:sldId id="447" r:id="rId17"/>
    <p:sldId id="448" r:id="rId18"/>
    <p:sldId id="499" r:id="rId19"/>
    <p:sldId id="500" r:id="rId20"/>
    <p:sldId id="449" r:id="rId21"/>
    <p:sldId id="450" r:id="rId22"/>
    <p:sldId id="451" r:id="rId23"/>
    <p:sldId id="452" r:id="rId24"/>
    <p:sldId id="453" r:id="rId25"/>
    <p:sldId id="494" r:id="rId26"/>
    <p:sldId id="495" r:id="rId27"/>
    <p:sldId id="496" r:id="rId28"/>
    <p:sldId id="497" r:id="rId29"/>
    <p:sldId id="498" r:id="rId30"/>
    <p:sldId id="454" r:id="rId31"/>
    <p:sldId id="455" r:id="rId32"/>
    <p:sldId id="503" r:id="rId33"/>
    <p:sldId id="493" r:id="rId34"/>
    <p:sldId id="518" r:id="rId35"/>
    <p:sldId id="509" r:id="rId36"/>
    <p:sldId id="519" r:id="rId37"/>
    <p:sldId id="508" r:id="rId38"/>
    <p:sldId id="510" r:id="rId39"/>
    <p:sldId id="511" r:id="rId40"/>
    <p:sldId id="512" r:id="rId41"/>
    <p:sldId id="513" r:id="rId42"/>
    <p:sldId id="514" r:id="rId43"/>
    <p:sldId id="515" r:id="rId44"/>
    <p:sldId id="516" r:id="rId45"/>
    <p:sldId id="517" r:id="rId46"/>
    <p:sldId id="424" r:id="rId47"/>
    <p:sldId id="425" r:id="rId48"/>
    <p:sldId id="329" r:id="rId49"/>
  </p:sldIdLst>
  <p:sldSz cx="9906000" cy="6858000" type="A4"/>
  <p:notesSz cx="6797675" cy="9874250"/>
  <p:custDataLst>
    <p:tags r:id="rId52"/>
  </p:custDataLst>
  <p:defaultTex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FFFF"/>
    <a:srgbClr val="F2F2F2"/>
    <a:srgbClr val="E47E1A"/>
    <a:srgbClr val="BA0065"/>
    <a:srgbClr val="FFBC1D"/>
    <a:srgbClr val="598E20"/>
    <a:srgbClr val="D03833"/>
    <a:srgbClr val="805924"/>
    <a:srgbClr val="7263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8407" autoAdjust="0"/>
    <p:restoredTop sz="94621" autoAdjust="0"/>
  </p:normalViewPr>
  <p:slideViewPr>
    <p:cSldViewPr>
      <p:cViewPr>
        <p:scale>
          <a:sx n="75" d="100"/>
          <a:sy n="75" d="100"/>
        </p:scale>
        <p:origin x="-1464" y="-462"/>
      </p:cViewPr>
      <p:guideLst>
        <p:guide orient="horz" pos="3948"/>
        <p:guide orient="horz" pos="791"/>
        <p:guide orient="horz" pos="1062"/>
        <p:guide orient="horz" pos="3620"/>
        <p:guide orient="horz" pos="2374"/>
        <p:guide pos="3120"/>
        <p:guide pos="6025"/>
        <p:guide pos="3042"/>
        <p:guide pos="3198"/>
        <p:guide pos="220"/>
        <p:guide pos="420"/>
        <p:guide pos="5819"/>
      </p:guideLst>
    </p:cSldViewPr>
  </p:slideViewPr>
  <p:outlineViewPr>
    <p:cViewPr>
      <p:scale>
        <a:sx n="33" d="100"/>
        <a:sy n="33" d="100"/>
      </p:scale>
      <p:origin x="0" y="6180"/>
    </p:cViewPr>
  </p:outlineViewPr>
  <p:notesTextViewPr>
    <p:cViewPr>
      <p:scale>
        <a:sx n="100" d="100"/>
        <a:sy n="100" d="100"/>
      </p:scale>
      <p:origin x="0" y="0"/>
    </p:cViewPr>
  </p:notesTextViewPr>
  <p:sorterViewPr>
    <p:cViewPr>
      <p:scale>
        <a:sx n="66" d="100"/>
        <a:sy n="66" d="100"/>
      </p:scale>
      <p:origin x="0" y="690"/>
    </p:cViewPr>
  </p:sorterViewPr>
  <p:notesViewPr>
    <p:cSldViewPr>
      <p:cViewPr varScale="1">
        <p:scale>
          <a:sx n="72" d="100"/>
          <a:sy n="72" d="100"/>
        </p:scale>
        <p:origin x="-3246" y="-102"/>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6797675" cy="493176"/>
          </a:xfrm>
          <a:prstGeom prst="rect">
            <a:avLst/>
          </a:prstGeom>
        </p:spPr>
        <p:txBody>
          <a:bodyPr vert="horz" lIns="34625" tIns="34625" rIns="242374" bIns="34625" rtlCol="0" anchor="ctr"/>
          <a:lstStyle>
            <a:lvl1pPr algn="l">
              <a:defRPr sz="1200"/>
            </a:lvl1pPr>
          </a:lstStyle>
          <a:p>
            <a:pPr algn="r"/>
            <a:endParaRPr lang="de-DE" sz="1500" dirty="0">
              <a:latin typeface="Arial" pitchFamily="34" charset="0"/>
              <a:cs typeface="Arial" pitchFamily="34" charset="0"/>
            </a:endParaRPr>
          </a:p>
        </p:txBody>
      </p:sp>
      <p:sp>
        <p:nvSpPr>
          <p:cNvPr id="4" name="Footer Placeholder 3"/>
          <p:cNvSpPr>
            <a:spLocks noGrp="1"/>
          </p:cNvSpPr>
          <p:nvPr>
            <p:ph type="ftr" sz="quarter" idx="2"/>
          </p:nvPr>
        </p:nvSpPr>
        <p:spPr>
          <a:xfrm>
            <a:off x="0" y="9379542"/>
            <a:ext cx="2945862" cy="493176"/>
          </a:xfrm>
          <a:prstGeom prst="rect">
            <a:avLst/>
          </a:prstGeom>
        </p:spPr>
        <p:txBody>
          <a:bodyPr vert="horz" lIns="87947" tIns="43973" rIns="87947" bIns="43973" rtlCol="0" anchor="b"/>
          <a:lstStyle>
            <a:lvl1pPr algn="l">
              <a:defRPr sz="1200"/>
            </a:lvl1pPr>
          </a:lstStyle>
          <a:p>
            <a:r>
              <a:rPr lang="de-DE" sz="800" dirty="0" smtClean="0">
                <a:latin typeface="Arial" pitchFamily="34" charset="0"/>
                <a:cs typeface="Arial" pitchFamily="34" charset="0"/>
              </a:rPr>
              <a:t>© 2012 Capgemini. All </a:t>
            </a:r>
            <a:r>
              <a:rPr lang="de-DE" sz="800" dirty="0" err="1" smtClean="0">
                <a:latin typeface="Arial" pitchFamily="34" charset="0"/>
                <a:cs typeface="Arial" pitchFamily="34" charset="0"/>
              </a:rPr>
              <a:t>rights</a:t>
            </a:r>
            <a:r>
              <a:rPr lang="de-DE" sz="800" dirty="0" smtClean="0">
                <a:latin typeface="Arial" pitchFamily="34" charset="0"/>
                <a:cs typeface="Arial" pitchFamily="34" charset="0"/>
              </a:rPr>
              <a:t> </a:t>
            </a:r>
            <a:r>
              <a:rPr lang="de-DE" sz="800" dirty="0" err="1" smtClean="0">
                <a:latin typeface="Arial" pitchFamily="34" charset="0"/>
                <a:cs typeface="Arial" pitchFamily="34" charset="0"/>
              </a:rPr>
              <a:t>reserved</a:t>
            </a:r>
            <a:r>
              <a:rPr lang="de-DE" sz="800" dirty="0" smtClean="0">
                <a:latin typeface="Arial" pitchFamily="34" charset="0"/>
                <a:cs typeface="Arial" pitchFamily="34" charset="0"/>
              </a:rPr>
              <a:t>.</a:t>
            </a:r>
            <a:endParaRPr lang="de-DE" sz="800" dirty="0">
              <a:latin typeface="Arial" pitchFamily="34" charset="0"/>
              <a:cs typeface="Arial" pitchFamily="34" charset="0"/>
            </a:endParaRPr>
          </a:p>
        </p:txBody>
      </p:sp>
      <p:sp>
        <p:nvSpPr>
          <p:cNvPr id="5" name="Slide Number Placeholder 4"/>
          <p:cNvSpPr>
            <a:spLocks noGrp="1"/>
          </p:cNvSpPr>
          <p:nvPr>
            <p:ph type="sldNum" sz="quarter" idx="3"/>
          </p:nvPr>
        </p:nvSpPr>
        <p:spPr>
          <a:xfrm>
            <a:off x="3850294" y="9379542"/>
            <a:ext cx="2945862" cy="493176"/>
          </a:xfrm>
          <a:prstGeom prst="rect">
            <a:avLst/>
          </a:prstGeom>
        </p:spPr>
        <p:txBody>
          <a:bodyPr vert="horz" lIns="87947" tIns="43973" rIns="87947" bIns="43973" rtlCol="0" anchor="b"/>
          <a:lstStyle>
            <a:lvl1pPr algn="r">
              <a:defRPr sz="1200"/>
            </a:lvl1pPr>
          </a:lstStyle>
          <a:p>
            <a:fld id="{9EC16AE0-9542-4D5B-AF70-A50F5AFBFBE0}" type="slidenum">
              <a:rPr lang="de-DE" sz="800" smtClean="0">
                <a:latin typeface="Arial" pitchFamily="34" charset="0"/>
                <a:cs typeface="Arial" pitchFamily="34" charset="0"/>
              </a:rPr>
              <a:pPr/>
              <a:t>‹#›</a:t>
            </a:fld>
            <a:endParaRPr lang="de-DE" sz="800" dirty="0">
              <a:latin typeface="Arial" pitchFamily="34" charset="0"/>
              <a:cs typeface="Arial" pitchFamily="34" charset="0"/>
            </a:endParaRPr>
          </a:p>
        </p:txBody>
      </p:sp>
    </p:spTree>
    <p:extLst>
      <p:ext uri="{BB962C8B-B14F-4D97-AF65-F5344CB8AC3E}">
        <p14:creationId xmlns:p14="http://schemas.microsoft.com/office/powerpoint/2010/main" val="3450032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3713"/>
          </a:xfrm>
          <a:prstGeom prst="rect">
            <a:avLst/>
          </a:prstGeom>
        </p:spPr>
        <p:txBody>
          <a:bodyPr vert="horz" lIns="95264" tIns="47632" rIns="95264" bIns="47632" rtlCol="0"/>
          <a:lstStyle>
            <a:lvl1pPr algn="l">
              <a:defRPr sz="1300"/>
            </a:lvl1pPr>
          </a:lstStyle>
          <a:p>
            <a:endParaRPr lang="en-US" dirty="0"/>
          </a:p>
        </p:txBody>
      </p:sp>
      <p:sp>
        <p:nvSpPr>
          <p:cNvPr id="3" name="Date Placeholder 2"/>
          <p:cNvSpPr>
            <a:spLocks noGrp="1"/>
          </p:cNvSpPr>
          <p:nvPr>
            <p:ph type="dt" idx="1"/>
          </p:nvPr>
        </p:nvSpPr>
        <p:spPr>
          <a:xfrm>
            <a:off x="3850443" y="0"/>
            <a:ext cx="2945659" cy="493713"/>
          </a:xfrm>
          <a:prstGeom prst="rect">
            <a:avLst/>
          </a:prstGeom>
        </p:spPr>
        <p:txBody>
          <a:bodyPr vert="horz" lIns="95264" tIns="47632" rIns="95264" bIns="47632" rtlCol="0"/>
          <a:lstStyle>
            <a:lvl1pPr algn="r">
              <a:defRPr sz="1300"/>
            </a:lvl1pPr>
          </a:lstStyle>
          <a:p>
            <a:fld id="{2FB4FF29-EE9A-4D47-9F1A-289A80693C0F}" type="datetimeFigureOut">
              <a:rPr lang="en-US" smtClean="0"/>
              <a:pPr/>
              <a:t>8/8/2016</a:t>
            </a:fld>
            <a:endParaRPr lang="en-US" dirty="0"/>
          </a:p>
        </p:txBody>
      </p:sp>
      <p:sp>
        <p:nvSpPr>
          <p:cNvPr id="4" name="Slide Image Placeholder 3"/>
          <p:cNvSpPr>
            <a:spLocks noGrp="1" noRot="1" noChangeAspect="1"/>
          </p:cNvSpPr>
          <p:nvPr>
            <p:ph type="sldImg" idx="2"/>
          </p:nvPr>
        </p:nvSpPr>
        <p:spPr>
          <a:xfrm>
            <a:off x="725488" y="741363"/>
            <a:ext cx="5346700" cy="3702050"/>
          </a:xfrm>
          <a:prstGeom prst="rect">
            <a:avLst/>
          </a:prstGeom>
          <a:noFill/>
          <a:ln w="12700">
            <a:solidFill>
              <a:prstClr val="black"/>
            </a:solidFill>
          </a:ln>
        </p:spPr>
        <p:txBody>
          <a:bodyPr vert="horz" lIns="95264" tIns="47632" rIns="95264" bIns="47632" rtlCol="0" anchor="ctr"/>
          <a:lstStyle/>
          <a:p>
            <a:endParaRPr lang="de-DE"/>
          </a:p>
        </p:txBody>
      </p:sp>
      <p:sp>
        <p:nvSpPr>
          <p:cNvPr id="5" name="Notes Placeholder 4"/>
          <p:cNvSpPr>
            <a:spLocks noGrp="1"/>
          </p:cNvSpPr>
          <p:nvPr>
            <p:ph type="body" sz="quarter" idx="3"/>
          </p:nvPr>
        </p:nvSpPr>
        <p:spPr>
          <a:xfrm>
            <a:off x="679768" y="4690268"/>
            <a:ext cx="5438140" cy="4443413"/>
          </a:xfrm>
          <a:prstGeom prst="rect">
            <a:avLst/>
          </a:prstGeom>
        </p:spPr>
        <p:txBody>
          <a:bodyPr vert="horz" lIns="95264" tIns="47632" rIns="95264" bIns="4763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378824"/>
            <a:ext cx="2945659" cy="493713"/>
          </a:xfrm>
          <a:prstGeom prst="rect">
            <a:avLst/>
          </a:prstGeom>
        </p:spPr>
        <p:txBody>
          <a:bodyPr vert="horz" lIns="95264" tIns="47632" rIns="95264" bIns="47632"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378824"/>
            <a:ext cx="2945659" cy="493713"/>
          </a:xfrm>
          <a:prstGeom prst="rect">
            <a:avLst/>
          </a:prstGeom>
        </p:spPr>
        <p:txBody>
          <a:bodyPr vert="horz" lIns="95264" tIns="47632" rIns="95264" bIns="47632" rtlCol="0" anchor="b"/>
          <a:lstStyle>
            <a:lvl1pPr algn="r">
              <a:defRPr sz="1300"/>
            </a:lvl1pPr>
          </a:lstStyle>
          <a:p>
            <a:fld id="{71E7D22E-2FCF-4181-8686-08BDCDF94062}" type="slidenum">
              <a:rPr lang="en-US" smtClean="0"/>
              <a:pPr/>
              <a:t>‹#›</a:t>
            </a:fld>
            <a:endParaRPr lang="en-US" dirty="0"/>
          </a:p>
        </p:txBody>
      </p:sp>
    </p:spTree>
    <p:extLst>
      <p:ext uri="{BB962C8B-B14F-4D97-AF65-F5344CB8AC3E}">
        <p14:creationId xmlns:p14="http://schemas.microsoft.com/office/powerpoint/2010/main" val="3773016071"/>
      </p:ext>
    </p:extLst>
  </p:cSld>
  <p:clrMap bg1="lt1" tx1="dk1" bg2="lt2" tx2="dk2" accent1="accent1" accent2="accent2" accent3="accent3" accent4="accent4" accent5="accent5" accent6="accent6" hlink="hlink" folHlink="folHlink"/>
  <p:notesStyle>
    <a:lvl1pPr marL="0" algn="l" defTabSz="914342" rtl="0" eaLnBrk="1" latinLnBrk="0" hangingPunct="1">
      <a:defRPr sz="1200" kern="1200">
        <a:solidFill>
          <a:schemeClr val="tx1"/>
        </a:solidFill>
        <a:latin typeface="+mn-lt"/>
        <a:ea typeface="+mn-ea"/>
        <a:cs typeface="+mn-cs"/>
      </a:defRPr>
    </a:lvl1pPr>
    <a:lvl2pPr marL="457171" algn="l" defTabSz="914342" rtl="0" eaLnBrk="1" latinLnBrk="0" hangingPunct="1">
      <a:defRPr sz="1200" kern="1200">
        <a:solidFill>
          <a:schemeClr val="tx1"/>
        </a:solidFill>
        <a:latin typeface="+mn-lt"/>
        <a:ea typeface="+mn-ea"/>
        <a:cs typeface="+mn-cs"/>
      </a:defRPr>
    </a:lvl2pPr>
    <a:lvl3pPr marL="914342" algn="l" defTabSz="914342" rtl="0" eaLnBrk="1" latinLnBrk="0" hangingPunct="1">
      <a:defRPr sz="1200" kern="1200">
        <a:solidFill>
          <a:schemeClr val="tx1"/>
        </a:solidFill>
        <a:latin typeface="+mn-lt"/>
        <a:ea typeface="+mn-ea"/>
        <a:cs typeface="+mn-cs"/>
      </a:defRPr>
    </a:lvl3pPr>
    <a:lvl4pPr marL="1371513" algn="l" defTabSz="914342" rtl="0" eaLnBrk="1" latinLnBrk="0" hangingPunct="1">
      <a:defRPr sz="1200" kern="1200">
        <a:solidFill>
          <a:schemeClr val="tx1"/>
        </a:solidFill>
        <a:latin typeface="+mn-lt"/>
        <a:ea typeface="+mn-ea"/>
        <a:cs typeface="+mn-cs"/>
      </a:defRPr>
    </a:lvl4pPr>
    <a:lvl5pPr marL="1828684" algn="l" defTabSz="914342" rtl="0" eaLnBrk="1" latinLnBrk="0" hangingPunct="1">
      <a:defRPr sz="1200" kern="1200">
        <a:solidFill>
          <a:schemeClr val="tx1"/>
        </a:solidFill>
        <a:latin typeface="+mn-lt"/>
        <a:ea typeface="+mn-ea"/>
        <a:cs typeface="+mn-cs"/>
      </a:defRPr>
    </a:lvl5pPr>
    <a:lvl6pPr marL="2285855" algn="l" defTabSz="914342" rtl="0" eaLnBrk="1" latinLnBrk="0" hangingPunct="1">
      <a:defRPr sz="1200" kern="1200">
        <a:solidFill>
          <a:schemeClr val="tx1"/>
        </a:solidFill>
        <a:latin typeface="+mn-lt"/>
        <a:ea typeface="+mn-ea"/>
        <a:cs typeface="+mn-cs"/>
      </a:defRPr>
    </a:lvl6pPr>
    <a:lvl7pPr marL="2743026" algn="l" defTabSz="914342" rtl="0" eaLnBrk="1" latinLnBrk="0" hangingPunct="1">
      <a:defRPr sz="1200" kern="1200">
        <a:solidFill>
          <a:schemeClr val="tx1"/>
        </a:solidFill>
        <a:latin typeface="+mn-lt"/>
        <a:ea typeface="+mn-ea"/>
        <a:cs typeface="+mn-cs"/>
      </a:defRPr>
    </a:lvl7pPr>
    <a:lvl8pPr marL="3200198" algn="l" defTabSz="914342" rtl="0" eaLnBrk="1" latinLnBrk="0" hangingPunct="1">
      <a:defRPr sz="1200" kern="1200">
        <a:solidFill>
          <a:schemeClr val="tx1"/>
        </a:solidFill>
        <a:latin typeface="+mn-lt"/>
        <a:ea typeface="+mn-ea"/>
        <a:cs typeface="+mn-cs"/>
      </a:defRPr>
    </a:lvl8pPr>
    <a:lvl9pPr marL="3657369"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5488" y="741363"/>
            <a:ext cx="5346700" cy="37020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1E7D22E-2FCF-4181-8686-08BDCDF9406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2</a:t>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00C4991-3814-4780-AE5A-2EEF7EF9798D}" type="slidenum">
              <a:rPr lang="en-GB" smtClean="0"/>
              <a:pPr>
                <a:defRPr/>
              </a:pPr>
              <a:t>4</a:t>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7"/>
          <p:cNvSpPr>
            <a:spLocks noGrp="1" noChangeArrowheads="1"/>
          </p:cNvSpPr>
          <p:nvPr>
            <p:ph type="sldNum" sz="quarter"/>
          </p:nvPr>
        </p:nvSpPr>
        <p:spPr>
          <a:noFill/>
        </p:spPr>
        <p:txBody>
          <a:bodyPr/>
          <a:lstStyle/>
          <a:p>
            <a:fld id="{EEEE9410-A5D5-432B-8E13-937AFAED5CBE}" type="slidenum">
              <a:rPr lang="en-US">
                <a:ea typeface="MS Gothic" pitchFamily="49" charset="-128"/>
              </a:rPr>
              <a:pPr/>
              <a:t>5</a:t>
            </a:fld>
            <a:endParaRPr lang="en-US">
              <a:ea typeface="MS Gothic" pitchFamily="49" charset="-128"/>
            </a:endParaRPr>
          </a:p>
        </p:txBody>
      </p:sp>
      <p:sp>
        <p:nvSpPr>
          <p:cNvPr id="152579" name="Text Box 1"/>
          <p:cNvSpPr txBox="1">
            <a:spLocks noChangeArrowheads="1"/>
          </p:cNvSpPr>
          <p:nvPr/>
        </p:nvSpPr>
        <p:spPr bwMode="auto">
          <a:xfrm>
            <a:off x="1132947" y="740569"/>
            <a:ext cx="4531784" cy="370284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2580" name="Text Box 2"/>
          <p:cNvSpPr txBox="1">
            <a:spLocks noGrp="1" noChangeArrowheads="1"/>
          </p:cNvSpPr>
          <p:nvPr>
            <p:ph type="body"/>
          </p:nvPr>
        </p:nvSpPr>
        <p:spPr>
          <a:xfrm>
            <a:off x="906358" y="4690269"/>
            <a:ext cx="4984961" cy="4443413"/>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dirty="0" smtClean="0">
              <a:ea typeface="MS Gothic" pitchFamily="49"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674" name="Rectangle 7"/>
          <p:cNvSpPr>
            <a:spLocks noGrp="1" noChangeArrowheads="1"/>
          </p:cNvSpPr>
          <p:nvPr>
            <p:ph type="sldNum" sz="quarter"/>
          </p:nvPr>
        </p:nvSpPr>
        <p:spPr>
          <a:noFill/>
        </p:spPr>
        <p:txBody>
          <a:bodyPr/>
          <a:lstStyle/>
          <a:p>
            <a:fld id="{AE6E311A-955A-4F79-8D3F-A58DBF26C006}" type="slidenum">
              <a:rPr lang="en-US">
                <a:ea typeface="MS Gothic" pitchFamily="49" charset="-128"/>
              </a:rPr>
              <a:pPr/>
              <a:t>6</a:t>
            </a:fld>
            <a:endParaRPr lang="en-US">
              <a:ea typeface="MS Gothic" pitchFamily="49" charset="-128"/>
            </a:endParaRPr>
          </a:p>
        </p:txBody>
      </p:sp>
      <p:sp>
        <p:nvSpPr>
          <p:cNvPr id="15667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4C85A8A-7B46-4AAF-9208-94424AC6F37D}"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6</a:t>
            </a:fld>
            <a:endParaRPr lang="en-US" sz="1200">
              <a:solidFill>
                <a:srgbClr val="000000"/>
              </a:solidFill>
              <a:latin typeface="Times New Roman" pitchFamily="18" charset="0"/>
            </a:endParaRPr>
          </a:p>
        </p:txBody>
      </p:sp>
      <p:sp>
        <p:nvSpPr>
          <p:cNvPr id="156676"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6677" name="Text Box 3"/>
          <p:cNvSpPr txBox="1">
            <a:spLocks noGrp="1" noChangeArrowheads="1"/>
          </p:cNvSpPr>
          <p:nvPr>
            <p:ph type="body"/>
          </p:nvPr>
        </p:nvSpPr>
        <p:spPr>
          <a:xfrm>
            <a:off x="904784" y="4688555"/>
            <a:ext cx="4988109" cy="7494830"/>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7"/>
          <p:cNvSpPr>
            <a:spLocks noGrp="1" noChangeArrowheads="1"/>
          </p:cNvSpPr>
          <p:nvPr>
            <p:ph type="sldNum" sz="quarter"/>
          </p:nvPr>
        </p:nvSpPr>
        <p:spPr>
          <a:noFill/>
        </p:spPr>
        <p:txBody>
          <a:bodyPr/>
          <a:lstStyle/>
          <a:p>
            <a:fld id="{0B8F074F-8C71-4B4E-94E1-C64B176F5327}" type="slidenum">
              <a:rPr lang="en-US">
                <a:ea typeface="MS Gothic" pitchFamily="49" charset="-128"/>
              </a:rPr>
              <a:pPr/>
              <a:t>7</a:t>
            </a:fld>
            <a:endParaRPr lang="en-US">
              <a:ea typeface="MS Gothic" pitchFamily="49" charset="-128"/>
            </a:endParaRPr>
          </a:p>
        </p:txBody>
      </p:sp>
      <p:sp>
        <p:nvSpPr>
          <p:cNvPr id="155651"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1FB1BB0-20C7-4A6A-BAD5-0BC371976CE0}"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7</a:t>
            </a:fld>
            <a:endParaRPr lang="en-US" sz="1200">
              <a:solidFill>
                <a:srgbClr val="000000"/>
              </a:solidFill>
              <a:latin typeface="Times New Roman" pitchFamily="18" charset="0"/>
            </a:endParaRPr>
          </a:p>
        </p:txBody>
      </p:sp>
      <p:sp>
        <p:nvSpPr>
          <p:cNvPr id="155652"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5653"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698" name="Rectangle 7"/>
          <p:cNvSpPr>
            <a:spLocks noGrp="1" noChangeArrowheads="1"/>
          </p:cNvSpPr>
          <p:nvPr>
            <p:ph type="sldNum" sz="quarter"/>
          </p:nvPr>
        </p:nvSpPr>
        <p:spPr>
          <a:noFill/>
        </p:spPr>
        <p:txBody>
          <a:bodyPr/>
          <a:lstStyle/>
          <a:p>
            <a:fld id="{D08B8115-233B-470D-BB06-69085123D61B}" type="slidenum">
              <a:rPr lang="en-US">
                <a:ea typeface="MS Gothic" pitchFamily="49" charset="-128"/>
              </a:rPr>
              <a:pPr/>
              <a:t>8</a:t>
            </a:fld>
            <a:endParaRPr lang="en-US">
              <a:ea typeface="MS Gothic" pitchFamily="49" charset="-128"/>
            </a:endParaRPr>
          </a:p>
        </p:txBody>
      </p:sp>
      <p:sp>
        <p:nvSpPr>
          <p:cNvPr id="15769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1C6BD3B-5A1D-40C1-B3A9-6EA4BA6DE008}"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8</a:t>
            </a:fld>
            <a:endParaRPr lang="en-US" sz="1200">
              <a:solidFill>
                <a:srgbClr val="000000"/>
              </a:solidFill>
              <a:latin typeface="Times New Roman" pitchFamily="18" charset="0"/>
            </a:endParaRPr>
          </a:p>
        </p:txBody>
      </p:sp>
      <p:sp>
        <p:nvSpPr>
          <p:cNvPr id="157700"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7701" name="Text Box 3"/>
          <p:cNvSpPr txBox="1">
            <a:spLocks noGrp="1" noChangeArrowheads="1"/>
          </p:cNvSpPr>
          <p:nvPr>
            <p:ph type="body"/>
          </p:nvPr>
        </p:nvSpPr>
        <p:spPr>
          <a:xfrm>
            <a:off x="904784" y="4688555"/>
            <a:ext cx="4988109" cy="4446841"/>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7"/>
          <p:cNvSpPr>
            <a:spLocks noGrp="1" noChangeArrowheads="1"/>
          </p:cNvSpPr>
          <p:nvPr>
            <p:ph type="sldNum" sz="quarter"/>
          </p:nvPr>
        </p:nvSpPr>
        <p:spPr>
          <a:noFill/>
        </p:spPr>
        <p:txBody>
          <a:bodyPr/>
          <a:lstStyle/>
          <a:p>
            <a:fld id="{A91792AF-283A-4BB7-9F76-0E4A46E3DB75}" type="slidenum">
              <a:rPr lang="en-US">
                <a:ea typeface="MS Gothic" pitchFamily="49" charset="-128"/>
              </a:rPr>
              <a:pPr/>
              <a:t>9</a:t>
            </a:fld>
            <a:endParaRPr lang="en-US">
              <a:ea typeface="MS Gothic" pitchFamily="49" charset="-128"/>
            </a:endParaRPr>
          </a:p>
        </p:txBody>
      </p:sp>
      <p:sp>
        <p:nvSpPr>
          <p:cNvPr id="15872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6DD56B-9D73-449A-B324-ACF67A0E501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9</a:t>
            </a:fld>
            <a:endParaRPr lang="en-US" sz="1200">
              <a:solidFill>
                <a:srgbClr val="000000"/>
              </a:solidFill>
              <a:latin typeface="Times New Roman" pitchFamily="18" charset="0"/>
            </a:endParaRPr>
          </a:p>
        </p:txBody>
      </p:sp>
      <p:sp>
        <p:nvSpPr>
          <p:cNvPr id="158724"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8725"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dirty="0" smtClean="0">
              <a:ea typeface="MS Gothic" pitchFamily="49"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794" name="Rectangle 7"/>
          <p:cNvSpPr>
            <a:spLocks noGrp="1" noChangeArrowheads="1"/>
          </p:cNvSpPr>
          <p:nvPr>
            <p:ph type="sldNum" sz="quarter"/>
          </p:nvPr>
        </p:nvSpPr>
        <p:spPr>
          <a:noFill/>
        </p:spPr>
        <p:txBody>
          <a:bodyPr/>
          <a:lstStyle/>
          <a:p>
            <a:fld id="{754CB1A7-F700-442F-ADC0-32C5D2C95265}" type="slidenum">
              <a:rPr lang="en-US">
                <a:ea typeface="MS Gothic" pitchFamily="49" charset="-128"/>
              </a:rPr>
              <a:pPr/>
              <a:t>10</a:t>
            </a:fld>
            <a:endParaRPr lang="en-US">
              <a:ea typeface="MS Gothic" pitchFamily="49" charset="-128"/>
            </a:endParaRPr>
          </a:p>
        </p:txBody>
      </p:sp>
      <p:sp>
        <p:nvSpPr>
          <p:cNvPr id="16179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388C7B6-CF05-4873-9004-217C15101B5F}"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10</a:t>
            </a:fld>
            <a:endParaRPr lang="en-US" sz="1200">
              <a:solidFill>
                <a:srgbClr val="000000"/>
              </a:solidFill>
              <a:latin typeface="Times New Roman" pitchFamily="18" charset="0"/>
            </a:endParaRPr>
          </a:p>
        </p:txBody>
      </p:sp>
      <p:sp>
        <p:nvSpPr>
          <p:cNvPr id="161796"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61797"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The most important component of the Framework Manager project is the query subject. A project is built upon query subjects. There are several types of query subjects: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Data Source Query Subject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The data source query subject is an SQL query that acts as a view into the underlying query database(s). During the initial metadata import operation, a default data source query subject is created for each object you select and creates the default relationships between query subjects for you automatically. Note: A query subject that is based on a table uses the following general SQL syntax: select * from &lt;table&gt;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Model Query Subject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The model query subject allows you to define the business presentation for the users. Model query subjects can contain query items from other existing objects in the model. Model query subjects can be enhanced even further, perhaps by adding filters or calculations to create more query items. You can also use query subjects from other model query subjects.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Stored Procedure Query Subject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The stored procedure query subject contains query items based on the return list of a database stored procedure.</a:t>
            </a:r>
          </a:p>
          <a:p>
            <a:pPr marL="457200" lvl="1" indent="0">
              <a:spcBef>
                <a:spcPts val="450"/>
              </a:spcBef>
              <a:buFont typeface="Courier New" pitchFamily="49"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7"/>
          <p:cNvSpPr>
            <a:spLocks noGrp="1" noChangeArrowheads="1"/>
          </p:cNvSpPr>
          <p:nvPr>
            <p:ph type="sldNum" sz="quarter"/>
          </p:nvPr>
        </p:nvSpPr>
        <p:spPr>
          <a:noFill/>
        </p:spPr>
        <p:txBody>
          <a:bodyPr/>
          <a:lstStyle/>
          <a:p>
            <a:fld id="{1B3858A1-216F-4F4F-BCAE-4C3F315E1236}" type="slidenum">
              <a:rPr lang="en-US">
                <a:ea typeface="MS Gothic" pitchFamily="49" charset="-128"/>
              </a:rPr>
              <a:pPr/>
              <a:t>11</a:t>
            </a:fld>
            <a:endParaRPr lang="en-US">
              <a:ea typeface="MS Gothic" pitchFamily="49" charset="-128"/>
            </a:endParaRPr>
          </a:p>
        </p:txBody>
      </p:sp>
      <p:sp>
        <p:nvSpPr>
          <p:cNvPr id="154627"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AEB005A-556D-4612-95B2-BB479C302EBC}"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11</a:t>
            </a:fld>
            <a:endParaRPr lang="en-US" sz="1200">
              <a:solidFill>
                <a:srgbClr val="000000"/>
              </a:solidFill>
              <a:latin typeface="Times New Roman" pitchFamily="18" charset="0"/>
            </a:endParaRPr>
          </a:p>
        </p:txBody>
      </p:sp>
      <p:sp>
        <p:nvSpPr>
          <p:cNvPr id="154628"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54629" name="Text Box 3"/>
          <p:cNvSpPr txBox="1">
            <a:spLocks noGrp="1" noChangeArrowheads="1"/>
          </p:cNvSpPr>
          <p:nvPr>
            <p:ph type="body"/>
          </p:nvPr>
        </p:nvSpPr>
        <p:spPr>
          <a:xfrm>
            <a:off x="904784" y="4688556"/>
            <a:ext cx="4988109" cy="8293684"/>
          </a:xfrm>
          <a:noFill/>
          <a:ln/>
        </p:spPr>
        <p:txBody>
          <a:bodyPr/>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Before report authors can create reports, you must follow a process in Framework Manager:</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Design and create project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Foundation for the modeling process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Prepare Metadata</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Clean up, Administer, Present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Prepare the Business View</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Add business value specific to reporting requirements (e.g., calculations, filters, prompting)‏</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Create and Manage Packages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Identify subsets of the metadata to be published</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Set Security</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Based on ReportNet security</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Set at the package level</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Publish</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To the ReportNet server for use by report authors to create reports</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cs typeface="Times New Roman" pitchFamily="18" charset="0"/>
              </a:rPr>
              <a:t>Note: this graphic shows the FM workflow process, with Publishing models as the final task. For the purposes of course flow we will be publishing models in the demos and workshops in each module. This is to view the results of modifications made to the models, right away, instead of waiting until the end (of a 3 day course) to view them. Otherwise, students may not remember what they have modeled on a previous day, and may not recognize those changes reflected in the reports and queries created in  QS and/or 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Manage the Project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To be performed throughout the modeling process.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Set of project management features: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to enable multi-user modeling</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maintain version control</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Link &amp; segment  organize a project according to business rules and organizational needs and allow other users to access sections of the project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to manage the project</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specify query processing</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define function sets</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verify the project for errors or problems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cs typeface="Times New Roman" pitchFamily="18" charset="0"/>
            </a:endParaRP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818" name="Rectangle 7"/>
          <p:cNvSpPr>
            <a:spLocks noGrp="1" noChangeArrowheads="1"/>
          </p:cNvSpPr>
          <p:nvPr>
            <p:ph type="sldNum" sz="quarter"/>
          </p:nvPr>
        </p:nvSpPr>
        <p:spPr>
          <a:noFill/>
        </p:spPr>
        <p:txBody>
          <a:bodyPr/>
          <a:lstStyle/>
          <a:p>
            <a:fld id="{85B7390B-A2A0-4823-9575-5C7E8269C542}" type="slidenum">
              <a:rPr lang="en-US">
                <a:ea typeface="MS Gothic" pitchFamily="49" charset="-128"/>
              </a:rPr>
              <a:pPr/>
              <a:t>12</a:t>
            </a:fld>
            <a:endParaRPr lang="en-US">
              <a:ea typeface="MS Gothic" pitchFamily="49" charset="-128"/>
            </a:endParaRPr>
          </a:p>
        </p:txBody>
      </p:sp>
      <p:sp>
        <p:nvSpPr>
          <p:cNvPr id="16281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2842DCE-A625-4FF0-8A5F-9B58ED1DFC3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12</a:t>
            </a:fld>
            <a:endParaRPr lang="en-US" sz="1200">
              <a:solidFill>
                <a:srgbClr val="000000"/>
              </a:solidFill>
              <a:latin typeface="Times New Roman" pitchFamily="18" charset="0"/>
            </a:endParaRPr>
          </a:p>
        </p:txBody>
      </p:sp>
      <p:sp>
        <p:nvSpPr>
          <p:cNvPr id="162820"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62821"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Design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Ensure that you know your data and the structure of your data source(s).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Analyze and understand your reporting requirements before you begin.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Identify project structure</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Metadata</a:t>
            </a:r>
          </a:p>
          <a:p>
            <a:pPr marL="914400" lvl="2"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Data source type, locations, connections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Organization</a:t>
            </a:r>
          </a:p>
          <a:p>
            <a:pPr marL="914400" lvl="2"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Two tier model</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Create</a:t>
            </a:r>
          </a:p>
          <a:p>
            <a:pPr>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Create a project</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Establish file system location for project files</a:t>
            </a:r>
          </a:p>
          <a:p>
            <a:pPr>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Import the required metadata</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You should import only what you need (tables, relationships) - see design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914" name="Rectangle 7"/>
          <p:cNvSpPr>
            <a:spLocks noGrp="1" noChangeArrowheads="1"/>
          </p:cNvSpPr>
          <p:nvPr>
            <p:ph type="sldNum" sz="quarter"/>
          </p:nvPr>
        </p:nvSpPr>
        <p:spPr>
          <a:noFill/>
        </p:spPr>
        <p:txBody>
          <a:bodyPr/>
          <a:lstStyle/>
          <a:p>
            <a:fld id="{B336EBFD-4E1A-495E-A01C-9D3A63BB80FA}" type="slidenum">
              <a:rPr lang="en-US">
                <a:ea typeface="MS Gothic" pitchFamily="49" charset="-128"/>
              </a:rPr>
              <a:pPr/>
              <a:t>13</a:t>
            </a:fld>
            <a:endParaRPr lang="en-US">
              <a:ea typeface="MS Gothic" pitchFamily="49" charset="-128"/>
            </a:endParaRPr>
          </a:p>
        </p:txBody>
      </p:sp>
      <p:sp>
        <p:nvSpPr>
          <p:cNvPr id="16691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C9E92A8-EED1-4449-B5BA-231361926218}"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13</a:t>
            </a:fld>
            <a:endParaRPr lang="en-US" sz="1200">
              <a:solidFill>
                <a:srgbClr val="000000"/>
              </a:solidFill>
              <a:latin typeface="Times New Roman" pitchFamily="18" charset="0"/>
            </a:endParaRPr>
          </a:p>
        </p:txBody>
      </p:sp>
      <p:sp>
        <p:nvSpPr>
          <p:cNvPr id="166916"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66917" name="Text Box 3"/>
          <p:cNvSpPr txBox="1">
            <a:spLocks noGrp="1" noChangeArrowheads="1"/>
          </p:cNvSpPr>
          <p:nvPr>
            <p:ph type="body"/>
          </p:nvPr>
        </p:nvSpPr>
        <p:spPr>
          <a:xfrm>
            <a:off x="904784" y="4688555"/>
            <a:ext cx="4988109" cy="7309688"/>
          </a:xfrm>
          <a:noFill/>
          <a:ln/>
        </p:spPr>
        <p:txBody>
          <a:bodyPr/>
          <a:lstStyle/>
          <a:p>
            <a:pPr>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Naming Conventions for Objects in a Project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All objects in a project have an identifier that is used to reference them. The identifier can consist of one, two, or three parts, depending upon the type of object. The parts include</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an object name, and</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 location in the project hierarchy, as expressed in the default language of the project.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If you want to have objects with the same name in a project, these objects need a unique identifier. To create a unique identifier for an object, you must create a namespace.</a:t>
            </a:r>
          </a:p>
          <a:p>
            <a:pPr>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One-part Identifiers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Some objects in a project have a one-part identifier. The one-part identifier must be unique across the entire project, even if the namespace contains other namespaces. These are the objects that have a one-part identifier:</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Namespaces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Functions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Shortcuts to namespaces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Shortcuts to folders</a:t>
            </a:r>
          </a:p>
          <a:p>
            <a:pPr>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Three-part Identifiers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Some objects in a project have a three-part identifier. The three-part identifier is based on the identifier of the containing query subject. Each name must be unique in the containing query subject. These are the objects that have a three-part identifier:</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query items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query item folders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For example, you have a GoSales namespace that contains a query subject named Product, and a query item named Product Code. The Product Code query item has the following name, where the square brackets and periods are the syntax Framework Manager uses for object identifiers.</a:t>
            </a:r>
          </a:p>
          <a:p>
            <a:pPr marL="457200" lvl="1" indent="0">
              <a:spcBef>
                <a:spcPts val="450"/>
              </a:spcBef>
              <a:buFont typeface="Courier New" pitchFamily="49"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[Go Sales].[Product].[Product Code]</a:t>
            </a:r>
          </a:p>
          <a:p>
            <a:pPr>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b="1" smtClean="0">
                <a:ea typeface="MS Gothic" pitchFamily="49" charset="-128"/>
              </a:rPr>
              <a:t>Two-part Identifiers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Most of the objects in a Framework Manager project have a two-part identifier. The two-part identifier consists of the name of the containing namespace and the name of the object. The object name must be unique in the nearest containing namespace. For example, you have a GoSales namespace that contains a query subject named Product. The Product query subject has the following name, where the square brackets and periods are the syntax Framework Manager uses for object identifiers.</a:t>
            </a:r>
          </a:p>
          <a:p>
            <a:pPr marL="457200" lvl="1" indent="0">
              <a:spcBef>
                <a:spcPts val="450"/>
              </a:spcBef>
              <a:buFont typeface="Courier New" pitchFamily="49"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[Go Sales].[Product]</a:t>
            </a:r>
          </a:p>
          <a:p>
            <a:pPr marL="457200" lvl="1" indent="0">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a:p>
            <a:pPr>
              <a:spcBef>
                <a:spcPts val="450"/>
              </a:spcBef>
              <a:buFont typeface="Helvetica-Bold"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42" name="Rectangle 7"/>
          <p:cNvSpPr>
            <a:spLocks noGrp="1" noChangeArrowheads="1"/>
          </p:cNvSpPr>
          <p:nvPr>
            <p:ph type="sldNum" sz="quarter"/>
          </p:nvPr>
        </p:nvSpPr>
        <p:spPr>
          <a:noFill/>
        </p:spPr>
        <p:txBody>
          <a:bodyPr/>
          <a:lstStyle/>
          <a:p>
            <a:fld id="{F97BF971-0A12-449B-B407-B7F95B2D1B4F}" type="slidenum">
              <a:rPr lang="en-US">
                <a:ea typeface="MS Gothic" pitchFamily="49" charset="-128"/>
              </a:rPr>
              <a:pPr/>
              <a:t>14</a:t>
            </a:fld>
            <a:endParaRPr lang="en-US">
              <a:ea typeface="MS Gothic" pitchFamily="49" charset="-128"/>
            </a:endParaRPr>
          </a:p>
        </p:txBody>
      </p:sp>
      <p:sp>
        <p:nvSpPr>
          <p:cNvPr id="163843"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ADFC69-9525-4F67-9790-E01A787B7728}"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14</a:t>
            </a:fld>
            <a:endParaRPr lang="en-US" sz="1200">
              <a:solidFill>
                <a:srgbClr val="000000"/>
              </a:solidFill>
              <a:latin typeface="Times New Roman" pitchFamily="18" charset="0"/>
            </a:endParaRPr>
          </a:p>
        </p:txBody>
      </p:sp>
      <p:sp>
        <p:nvSpPr>
          <p:cNvPr id="163844"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63845"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Examine and modify object properties (e.g., names, descriptions)‏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Verify the usage and regular Aggregate property values of each query item, especially if the usage is set to "fact".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Examine and resolve ambiguous relationships (remove redundant relationships, modify cardinality)‏</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Create relationships (e.g. between two data sources)‏</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It is best practice to create relationships only in the data-source layer.</a:t>
            </a:r>
          </a:p>
          <a:p>
            <a:pPr marL="457200" lvl="1" indent="0">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latin typeface="Arial" charset="0"/>
              <a:ea typeface="MS Gothic" pitchFamily="49" charset="-128"/>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Edit SQL</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cs typeface="Times New Roman" pitchFamily="18" charset="0"/>
              </a:rPr>
              <a:t>Specify query processing type (local vs. database)‏</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Defining function sets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latin typeface="Arial" charset="0"/>
              <a:ea typeface="MS Gothic" pitchFamily="49" charset="-128"/>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Create a two tier model</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Create folders that separate query subjects into physical and presentation layers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Add query subjects to the presentation layer that are based on query subjects in the physical layer</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Then organize and model objects to provide the business view of the metadata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7"/>
          <p:cNvSpPr>
            <a:spLocks noGrp="1" noChangeArrowheads="1"/>
          </p:cNvSpPr>
          <p:nvPr>
            <p:ph type="sldNum" sz="quarter"/>
          </p:nvPr>
        </p:nvSpPr>
        <p:spPr>
          <a:noFill/>
        </p:spPr>
        <p:txBody>
          <a:bodyPr/>
          <a:lstStyle/>
          <a:p>
            <a:fld id="{04DB1B87-93EC-492D-849D-A5914D66E765}" type="slidenum">
              <a:rPr lang="en-US">
                <a:ea typeface="MS Gothic" pitchFamily="49" charset="-128"/>
              </a:rPr>
              <a:pPr/>
              <a:t>15</a:t>
            </a:fld>
            <a:endParaRPr lang="en-US">
              <a:ea typeface="MS Gothic" pitchFamily="49" charset="-128"/>
            </a:endParaRPr>
          </a:p>
        </p:txBody>
      </p:sp>
      <p:sp>
        <p:nvSpPr>
          <p:cNvPr id="165891"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65892"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7"/>
          <p:cNvSpPr>
            <a:spLocks noGrp="1" noChangeArrowheads="1"/>
          </p:cNvSpPr>
          <p:nvPr>
            <p:ph type="sldNum" sz="quarter"/>
          </p:nvPr>
        </p:nvSpPr>
        <p:spPr>
          <a:noFill/>
        </p:spPr>
        <p:txBody>
          <a:bodyPr/>
          <a:lstStyle/>
          <a:p>
            <a:fld id="{04DB1B87-93EC-492D-849D-A5914D66E765}" type="slidenum">
              <a:rPr lang="en-US">
                <a:ea typeface="MS Gothic" pitchFamily="49" charset="-128"/>
              </a:rPr>
              <a:pPr/>
              <a:t>16</a:t>
            </a:fld>
            <a:endParaRPr lang="en-US">
              <a:ea typeface="MS Gothic" pitchFamily="49" charset="-128"/>
            </a:endParaRPr>
          </a:p>
        </p:txBody>
      </p:sp>
      <p:sp>
        <p:nvSpPr>
          <p:cNvPr id="165891"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65892"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938" name="Rectangle 7"/>
          <p:cNvSpPr>
            <a:spLocks noGrp="1" noChangeArrowheads="1"/>
          </p:cNvSpPr>
          <p:nvPr>
            <p:ph type="sldNum" sz="quarter"/>
          </p:nvPr>
        </p:nvSpPr>
        <p:spPr>
          <a:noFill/>
        </p:spPr>
        <p:txBody>
          <a:bodyPr/>
          <a:lstStyle/>
          <a:p>
            <a:fld id="{55E2FD73-32D0-4CA7-B096-0A0662CE9129}" type="slidenum">
              <a:rPr lang="en-US">
                <a:ea typeface="MS Gothic" pitchFamily="49" charset="-128"/>
              </a:rPr>
              <a:pPr/>
              <a:t>18</a:t>
            </a:fld>
            <a:endParaRPr lang="en-US">
              <a:ea typeface="MS Gothic" pitchFamily="49" charset="-128"/>
            </a:endParaRPr>
          </a:p>
        </p:txBody>
      </p:sp>
      <p:sp>
        <p:nvSpPr>
          <p:cNvPr id="16793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0EA56B7-14BA-4ECF-AE45-7EB46E701C42}"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18</a:t>
            </a:fld>
            <a:endParaRPr lang="en-US" sz="1200">
              <a:solidFill>
                <a:srgbClr val="000000"/>
              </a:solidFill>
              <a:latin typeface="Times New Roman" pitchFamily="18" charset="0"/>
            </a:endParaRPr>
          </a:p>
        </p:txBody>
      </p:sp>
      <p:sp>
        <p:nvSpPr>
          <p:cNvPr id="167940"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67941"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You can add business rules to the query subjects in your model to refine the data retrieved and ensure that the right information is available for report authors. You can</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add </a:t>
            </a:r>
            <a:r>
              <a:rPr lang="en-US" sz="1000" smtClean="0">
                <a:solidFill>
                  <a:srgbClr val="0000FF"/>
                </a:solidFill>
                <a:ea typeface="MS Gothic" pitchFamily="49" charset="-128"/>
              </a:rPr>
              <a:t>calculations </a:t>
            </a:r>
            <a:r>
              <a:rPr lang="en-US" sz="1000" smtClean="0">
                <a:ea typeface="MS Gothic" pitchFamily="49" charset="-128"/>
              </a:rPr>
              <a:t>so that report authors can include calculated data in their reports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create and apply </a:t>
            </a:r>
            <a:r>
              <a:rPr lang="en-US" sz="1000" smtClean="0">
                <a:solidFill>
                  <a:srgbClr val="0000FF"/>
                </a:solidFill>
                <a:ea typeface="MS Gothic" pitchFamily="49" charset="-128"/>
              </a:rPr>
              <a:t>filters </a:t>
            </a:r>
            <a:r>
              <a:rPr lang="en-US" sz="1000" smtClean="0">
                <a:ea typeface="MS Gothic" pitchFamily="49" charset="-128"/>
              </a:rPr>
              <a:t>so that you can limit the data that a query subject retrieves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add </a:t>
            </a:r>
            <a:r>
              <a:rPr lang="en-US" sz="1000" smtClean="0">
                <a:solidFill>
                  <a:srgbClr val="0000FF"/>
                </a:solidFill>
                <a:ea typeface="MS Gothic" pitchFamily="49" charset="-128"/>
              </a:rPr>
              <a:t>prompts </a:t>
            </a:r>
            <a:r>
              <a:rPr lang="en-US" sz="1000" smtClean="0">
                <a:ea typeface="MS Gothic" pitchFamily="49" charset="-128"/>
              </a:rPr>
              <a:t>so that users are prompted to filter data when they open a report</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use </a:t>
            </a:r>
            <a:r>
              <a:rPr lang="en-US" sz="1000" smtClean="0">
                <a:solidFill>
                  <a:srgbClr val="0000FF"/>
                </a:solidFill>
                <a:ea typeface="MS Gothic" pitchFamily="49" charset="-128"/>
              </a:rPr>
              <a:t>session parameters </a:t>
            </a:r>
            <a:r>
              <a:rPr lang="en-US" sz="1000" smtClean="0">
                <a:ea typeface="MS Gothic" pitchFamily="49" charset="-128"/>
              </a:rPr>
              <a:t>and </a:t>
            </a:r>
            <a:r>
              <a:rPr lang="en-US" sz="1000" smtClean="0">
                <a:solidFill>
                  <a:srgbClr val="0000FF"/>
                </a:solidFill>
                <a:ea typeface="MS Gothic" pitchFamily="49" charset="-128"/>
              </a:rPr>
              <a:t>parameter maps </a:t>
            </a:r>
            <a:r>
              <a:rPr lang="en-US" sz="1000" smtClean="0">
                <a:ea typeface="MS Gothic" pitchFamily="49" charset="-128"/>
              </a:rPr>
              <a:t>to create dynamic queries</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Use star schema groups to isolate fact tables that share conformed dimension(s)  </a:t>
            </a:r>
            <a:r>
              <a:rPr lang="en-US" sz="1000" b="1" smtClean="0">
                <a:ea typeface="MS Gothic" pitchFamily="49" charset="-128"/>
              </a:rPr>
              <a:t>ADVANCED</a:t>
            </a:r>
            <a:r>
              <a:rPr lang="en-US" sz="1000" smtClean="0">
                <a:ea typeface="MS Gothic" pitchFamily="49" charset="-128"/>
              </a:rPr>
              <a:t> – see Module 8</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Specify dimensional information  </a:t>
            </a:r>
            <a:r>
              <a:rPr lang="en-US" sz="1000" b="1" smtClean="0">
                <a:ea typeface="MS Gothic" pitchFamily="49" charset="-128"/>
              </a:rPr>
              <a:t>ADVANCED</a:t>
            </a:r>
            <a:r>
              <a:rPr lang="en-US" sz="1000" smtClean="0">
                <a:ea typeface="MS Gothic" pitchFamily="49" charset="-128"/>
              </a:rPr>
              <a:t> – see Module 8</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I.G. note: There may seem a crossover between modeling tasks performed in the Business View preparation and Metadata preparation phases of the workflow process. For example, although we describe adding calculations as part of the Business View preparation phase, this is a modeling technique that can be performed in the Database layer. However, we describe creating the Database layer (as part of creating a two tier model) in the Metadata preparation phase. It is important to emphasize that the workflow process is iterative and not necessarily linear. As such, the tasks we describe in each of the phases are unique to each phase, but that they may occur at different times during the modeling process.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962" name="Rectangle 7"/>
          <p:cNvSpPr>
            <a:spLocks noGrp="1" noChangeArrowheads="1"/>
          </p:cNvSpPr>
          <p:nvPr>
            <p:ph type="sldNum" sz="quarter"/>
          </p:nvPr>
        </p:nvSpPr>
        <p:spPr>
          <a:noFill/>
        </p:spPr>
        <p:txBody>
          <a:bodyPr/>
          <a:lstStyle/>
          <a:p>
            <a:fld id="{DB8AFF1F-B23F-4676-99B1-228D8B846376}" type="slidenum">
              <a:rPr lang="en-US">
                <a:ea typeface="MS Gothic" pitchFamily="49" charset="-128"/>
              </a:rPr>
              <a:pPr/>
              <a:t>19</a:t>
            </a:fld>
            <a:endParaRPr lang="en-US">
              <a:ea typeface="MS Gothic" pitchFamily="49" charset="-128"/>
            </a:endParaRPr>
          </a:p>
        </p:txBody>
      </p:sp>
      <p:sp>
        <p:nvSpPr>
          <p:cNvPr id="168963" name="Rectangle 1"/>
          <p:cNvSpPr txBox="1">
            <a:spLocks noGrp="1" noRot="1" noChangeAspect="1" noChangeArrowheads="1" noTextEdit="1"/>
          </p:cNvSpPr>
          <p:nvPr>
            <p:ph type="sldImg"/>
          </p:nvPr>
        </p:nvSpPr>
        <p:spPr>
          <a:xfrm>
            <a:off x="723900" y="739775"/>
            <a:ext cx="5349875" cy="3703638"/>
          </a:xfrm>
          <a:solidFill>
            <a:srgbClr val="FFFFFF"/>
          </a:solidFill>
          <a:ln/>
        </p:spPr>
      </p:sp>
      <p:sp>
        <p:nvSpPr>
          <p:cNvPr id="168964" name="Rectangle 2"/>
          <p:cNvSpPr txBox="1">
            <a:spLocks noGrp="1" noChangeArrowheads="1"/>
          </p:cNvSpPr>
          <p:nvPr>
            <p:ph type="body" idx="1"/>
          </p:nvPr>
        </p:nvSpPr>
        <p:spPr>
          <a:xfrm>
            <a:off x="906358" y="4690269"/>
            <a:ext cx="4984961" cy="4443413"/>
          </a:xfrm>
          <a:noFill/>
          <a:ln/>
        </p:spPr>
        <p:txBody>
          <a:bodyPr wrap="none" anchor="ct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034" name="Rectangle 7"/>
          <p:cNvSpPr>
            <a:spLocks noGrp="1" noChangeArrowheads="1"/>
          </p:cNvSpPr>
          <p:nvPr>
            <p:ph type="sldNum" sz="quarter"/>
          </p:nvPr>
        </p:nvSpPr>
        <p:spPr>
          <a:noFill/>
        </p:spPr>
        <p:txBody>
          <a:bodyPr/>
          <a:lstStyle/>
          <a:p>
            <a:fld id="{BC13ECDE-85D1-4ED6-A9B5-8F7BB2E8EAE0}" type="slidenum">
              <a:rPr lang="en-US">
                <a:ea typeface="MS Gothic" pitchFamily="49" charset="-128"/>
              </a:rPr>
              <a:pPr/>
              <a:t>20</a:t>
            </a:fld>
            <a:endParaRPr lang="en-US">
              <a:ea typeface="MS Gothic" pitchFamily="49" charset="-128"/>
            </a:endParaRPr>
          </a:p>
        </p:txBody>
      </p:sp>
      <p:sp>
        <p:nvSpPr>
          <p:cNvPr id="172035"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1992338-BDAC-4F2B-864B-809A54E5401B}"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20</a:t>
            </a:fld>
            <a:endParaRPr lang="en-US" sz="1200">
              <a:solidFill>
                <a:srgbClr val="000000"/>
              </a:solidFill>
              <a:latin typeface="Times New Roman" pitchFamily="18" charset="0"/>
            </a:endParaRPr>
          </a:p>
        </p:txBody>
      </p:sp>
      <p:sp>
        <p:nvSpPr>
          <p:cNvPr id="172036"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2037"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Define the package(s) to be published to the ReportNet server. </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Each package contains the query subjects required to meet a reporting need</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Modify a Package – select, hide, unselect</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Specify Languages – what languages will the report authors be able to see</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Set Governors – set data retrieval limits</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Explore packages– identify what is hidden, selected/unselected in a package</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PGothic" pitchFamily="34" charset="-128"/>
              </a:rPr>
              <a:t>View package inclusion – select an object and identify which package(s) has been included in </a:t>
            </a:r>
            <a:r>
              <a:rPr lang="en-US" sz="1000" smtClean="0">
                <a:latin typeface="Arial" charset="0"/>
                <a:ea typeface="MS PGothic" pitchFamily="34" charset="-128"/>
              </a:rPr>
              <a:t>Publish a Package</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Gothic" pitchFamily="49" charset="-128"/>
              </a:rPr>
              <a:t>publish packages to the ReportNet server or to a network location</a:t>
            </a:r>
          </a:p>
          <a:p>
            <a:pPr marL="457200" lvl="1" indent="0">
              <a:spcBef>
                <a:spcPts val="45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latin typeface="Arial" charset="0"/>
                <a:ea typeface="MS PGothic" pitchFamily="34" charset="-128"/>
              </a:rPr>
              <a:t>enable v</a:t>
            </a:r>
            <a:r>
              <a:rPr lang="en-US" sz="1000" smtClean="0">
                <a:ea typeface="MS PGothic" pitchFamily="34" charset="-128"/>
              </a:rPr>
              <a:t>ersioning</a:t>
            </a:r>
          </a:p>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PGothic"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1010" name="Rectangle 7"/>
          <p:cNvSpPr>
            <a:spLocks noGrp="1" noChangeArrowheads="1"/>
          </p:cNvSpPr>
          <p:nvPr>
            <p:ph type="sldNum" sz="quarter"/>
          </p:nvPr>
        </p:nvSpPr>
        <p:spPr>
          <a:noFill/>
        </p:spPr>
        <p:txBody>
          <a:bodyPr/>
          <a:lstStyle/>
          <a:p>
            <a:fld id="{0C45040E-F4A9-47D5-80B2-92FF88DEBBAE}" type="slidenum">
              <a:rPr lang="en-US">
                <a:ea typeface="MS Gothic" pitchFamily="49" charset="-128"/>
              </a:rPr>
              <a:pPr/>
              <a:t>21</a:t>
            </a:fld>
            <a:endParaRPr lang="en-US">
              <a:ea typeface="MS Gothic" pitchFamily="49" charset="-128"/>
            </a:endParaRPr>
          </a:p>
        </p:txBody>
      </p:sp>
      <p:sp>
        <p:nvSpPr>
          <p:cNvPr id="171011"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183A0C5-6378-4A95-96A3-E1C86150E1DE}"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21</a:t>
            </a:fld>
            <a:endParaRPr lang="en-US" sz="1200">
              <a:solidFill>
                <a:srgbClr val="000000"/>
              </a:solidFill>
              <a:latin typeface="Times New Roman" pitchFamily="18" charset="0"/>
            </a:endParaRPr>
          </a:p>
        </p:txBody>
      </p:sp>
      <p:sp>
        <p:nvSpPr>
          <p:cNvPr id="171012"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1013" name="Text Box 3"/>
          <p:cNvSpPr txBox="1">
            <a:spLocks noGrp="1" noChangeArrowheads="1"/>
          </p:cNvSpPr>
          <p:nvPr>
            <p:ph type="body"/>
          </p:nvPr>
        </p:nvSpPr>
        <p:spPr>
          <a:xfrm>
            <a:off x="904784" y="4688555"/>
            <a:ext cx="4988109" cy="4446841"/>
          </a:xfrm>
          <a:noFill/>
          <a:ln/>
        </p:spPr>
        <p:txBody>
          <a:bodyPr/>
          <a:lstStyle/>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Access to the packages - apply security to a package and identify the user who has access to that package</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Security filters – enable row security by creating a security filter that is applied to a specific query subject; the filter controls the data that is shown to report authors when they set up their reports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Access to objects – enable column security by either making an object visible or hiding it.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000" smtClean="0">
                <a:ea typeface="MS Gothic" pitchFamily="49" charset="-128"/>
              </a:rPr>
              <a:t>Package Admin Access – applying security on who can publish and perform other administration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000" smtClean="0">
              <a:ea typeface="MS Gothic" pitchFamily="49"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7"/>
          <p:cNvSpPr>
            <a:spLocks noGrp="1" noChangeArrowheads="1"/>
          </p:cNvSpPr>
          <p:nvPr>
            <p:ph type="sldNum" sz="quarter"/>
          </p:nvPr>
        </p:nvSpPr>
        <p:spPr>
          <a:noFill/>
        </p:spPr>
        <p:txBody>
          <a:bodyPr/>
          <a:lstStyle/>
          <a:p>
            <a:fld id="{30359ED5-CB05-40F6-BFF1-3F86C867F908}" type="slidenum">
              <a:rPr lang="en-US">
                <a:ea typeface="MS Gothic" pitchFamily="49" charset="-128"/>
              </a:rPr>
              <a:pPr/>
              <a:t>22</a:t>
            </a:fld>
            <a:endParaRPr lang="en-US">
              <a:ea typeface="MS Gothic" pitchFamily="49" charset="-128"/>
            </a:endParaRPr>
          </a:p>
        </p:txBody>
      </p:sp>
      <p:sp>
        <p:nvSpPr>
          <p:cNvPr id="173059" name="Text Box 1"/>
          <p:cNvSpPr txBox="1">
            <a:spLocks noChangeArrowheads="1"/>
          </p:cNvSpPr>
          <p:nvPr/>
        </p:nvSpPr>
        <p:spPr bwMode="auto">
          <a:xfrm>
            <a:off x="3852017" y="9380537"/>
            <a:ext cx="2945659" cy="493713"/>
          </a:xfrm>
          <a:prstGeom prst="rect">
            <a:avLst/>
          </a:prstGeom>
          <a:noFill/>
          <a:ln w="9525">
            <a:noFill/>
            <a:round/>
            <a:headEnd/>
            <a:tailEnd/>
          </a:ln>
        </p:spPr>
        <p:txBody>
          <a:bodyPr lIns="90000" tIns="46800" rIns="90000" bIns="46800" anchor="b"/>
          <a:lstStyle/>
          <a:p>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93F951C-E828-4624-91D2-DCC21FC189FD}" type="slidenum">
              <a:rPr lang="en-US" sz="1200">
                <a:solidFill>
                  <a:srgbClr val="000000"/>
                </a:solidFill>
                <a:latin typeface="Times New Roman" pitchFamily="18" charset="0"/>
              </a:rPr>
              <a:pPr algn="r">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22</a:t>
            </a:fld>
            <a:endParaRPr lang="en-US" sz="1200">
              <a:solidFill>
                <a:srgbClr val="000000"/>
              </a:solidFill>
              <a:latin typeface="Times New Roman" pitchFamily="18" charset="0"/>
            </a:endParaRPr>
          </a:p>
        </p:txBody>
      </p:sp>
      <p:sp>
        <p:nvSpPr>
          <p:cNvPr id="173060" name="Text Box 2"/>
          <p:cNvSpPr txBox="1">
            <a:spLocks noChangeArrowheads="1"/>
          </p:cNvSpPr>
          <p:nvPr/>
        </p:nvSpPr>
        <p:spPr bwMode="auto">
          <a:xfrm>
            <a:off x="981887" y="411427"/>
            <a:ext cx="4833902" cy="3949700"/>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173061" name="Rectangle 3"/>
          <p:cNvSpPr txBox="1">
            <a:spLocks noGrp="1" noChangeArrowheads="1"/>
          </p:cNvSpPr>
          <p:nvPr>
            <p:ph type="body"/>
          </p:nvPr>
        </p:nvSpPr>
        <p:spPr>
          <a:xfrm>
            <a:off x="904784" y="4688555"/>
            <a:ext cx="4988109" cy="4446841"/>
          </a:xfrm>
          <a:noFill/>
          <a:ln/>
        </p:spPr>
        <p:txBody>
          <a:bodyPr wrap="none" anchor="ct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bwMode="auto">
          <a:noFill/>
        </p:spPr>
        <p:txBody>
          <a:bodyPr/>
          <a:lstStyle/>
          <a:p>
            <a:pPr algn="just"/>
            <a:r>
              <a:rPr lang="en-US" smtClean="0"/>
              <a:t>Regular dimensions represent descriptive data that provides context for data modeled in measure dimensions. A regular dimension is broken into groups of information called levels. In turn, the various levels can be organized into hierarchies. For example, a product  dimension can contain the levels Product Line, Product Type, and Product organized in a single hierarchy called Product. Another example is a time dimension that has the levels Year, Quarter, Month, Week, and Day, organized into two hierarchies. The one hierarchy YQMD contains the levels Year, Quarter, Month, and Day, and the other hierarchy YWD contains the levels Year, Week, and Day.</a:t>
            </a:r>
          </a:p>
          <a:p>
            <a:pPr algn="just"/>
            <a:endParaRPr lang="en-US" smtClean="0"/>
          </a:p>
        </p:txBody>
      </p:sp>
      <p:sp>
        <p:nvSpPr>
          <p:cNvPr id="118788" name="Header Placeholder 3"/>
          <p:cNvSpPr>
            <a:spLocks noGrp="1"/>
          </p:cNvSpPr>
          <p:nvPr>
            <p:ph type="hdr" sz="quarter" idx="4294967295"/>
          </p:nvPr>
        </p:nvSpPr>
        <p:spPr bwMode="auto">
          <a:xfrm>
            <a:off x="2" y="0"/>
            <a:ext cx="2946443" cy="494051"/>
          </a:xfrm>
          <a:prstGeom prst="rect">
            <a:avLst/>
          </a:prstGeom>
          <a:noFill/>
          <a:ln>
            <a:miter lim="800000"/>
            <a:headEnd/>
            <a:tailEnd/>
          </a:ln>
        </p:spPr>
        <p:txBody>
          <a:bodyPr/>
          <a:lstStyle/>
          <a:p>
            <a:r>
              <a:rPr lang="en-US" sz="1800"/>
              <a:t>HCU EABIS</a:t>
            </a:r>
          </a:p>
        </p:txBody>
      </p:sp>
      <p:sp>
        <p:nvSpPr>
          <p:cNvPr id="118789" name="Footer Placeholder 4"/>
          <p:cNvSpPr>
            <a:spLocks noGrp="1"/>
          </p:cNvSpPr>
          <p:nvPr>
            <p:ph type="ftr" sz="quarter" idx="4294967295"/>
          </p:nvPr>
        </p:nvSpPr>
        <p:spPr bwMode="auto">
          <a:xfrm>
            <a:off x="2" y="9378514"/>
            <a:ext cx="2946443" cy="494051"/>
          </a:xfrm>
          <a:prstGeom prst="rect">
            <a:avLst/>
          </a:prstGeom>
          <a:noFill/>
          <a:ln>
            <a:miter lim="800000"/>
            <a:headEnd/>
            <a:tailEnd/>
          </a:ln>
        </p:spPr>
        <p:txBody>
          <a:bodyPr/>
          <a:lstStyle/>
          <a:p>
            <a:r>
              <a:rPr lang="en-US" sz="1800" dirty="0"/>
              <a:t>Cognos Competency</a:t>
            </a:r>
          </a:p>
        </p:txBody>
      </p:sp>
      <p:sp>
        <p:nvSpPr>
          <p:cNvPr id="92166" name="Slide Number Placeholder 5"/>
          <p:cNvSpPr>
            <a:spLocks noGrp="1"/>
          </p:cNvSpPr>
          <p:nvPr>
            <p:ph type="sldNum" sz="quarter" idx="5"/>
          </p:nvPr>
        </p:nvSpPr>
        <p:spPr/>
        <p:txBody>
          <a:bodyPr/>
          <a:lstStyle/>
          <a:p>
            <a:pPr>
              <a:defRPr/>
            </a:pPr>
            <a:fld id="{BC435B1F-F08D-4FDE-8424-91B9EE149B1B}" type="slidenum">
              <a:rPr lang="en-US" smtClean="0"/>
              <a:pPr>
                <a:defRPr/>
              </a:pPr>
              <a:t>23</a:t>
            </a:fld>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p:spPr>
      </p:sp>
      <p:sp>
        <p:nvSpPr>
          <p:cNvPr id="217091" name="Notes Placeholder 2"/>
          <p:cNvSpPr>
            <a:spLocks noGrp="1"/>
          </p:cNvSpPr>
          <p:nvPr>
            <p:ph type="body" idx="1"/>
          </p:nvPr>
        </p:nvSpPr>
        <p:spPr bwMode="auto">
          <a:noFill/>
        </p:spPr>
        <p:txBody>
          <a:bodyPr/>
          <a:lstStyle/>
          <a:p>
            <a:pPr algn="just"/>
            <a:r>
              <a:rPr lang="en-US" smtClean="0"/>
              <a:t>Regular dimensions represent descriptive data that provides context for data modeled in measure dimensions. A regular dimension is broken into groups of information called levels. In turn, the various levels can be organized into hierarchies. For example, a product  dimension can contain the levels Product Line, Product Type, and Product organized in a single hierarchy called Product. Another example is a time dimension that has the levels Year, Quarter, Month, Week, and Day, organized into two hierarchies. The one hierarchy YQMD contains the levels Year, Quarter, Month, and Day, and the other hierarchy YWD contains the levels Year, Week, and Day.</a:t>
            </a:r>
          </a:p>
          <a:p>
            <a:pPr algn="just"/>
            <a:endParaRPr lang="en-US" smtClean="0"/>
          </a:p>
        </p:txBody>
      </p:sp>
      <p:sp>
        <p:nvSpPr>
          <p:cNvPr id="217092" name="Header Placeholder 3"/>
          <p:cNvSpPr txBox="1">
            <a:spLocks noGrp="1"/>
          </p:cNvSpPr>
          <p:nvPr/>
        </p:nvSpPr>
        <p:spPr bwMode="auto">
          <a:xfrm>
            <a:off x="2" y="0"/>
            <a:ext cx="2946443" cy="494051"/>
          </a:xfrm>
          <a:prstGeom prst="rect">
            <a:avLst/>
          </a:prstGeom>
          <a:noFill/>
          <a:ln w="9525">
            <a:noFill/>
            <a:miter lim="800000"/>
            <a:headEnd/>
            <a:tailEnd/>
          </a:ln>
        </p:spPr>
        <p:txBody>
          <a:bodyPr/>
          <a:lstStyle/>
          <a:p>
            <a:r>
              <a:rPr lang="en-US" sz="1800"/>
              <a:t>HCU EABIS</a:t>
            </a:r>
          </a:p>
        </p:txBody>
      </p:sp>
      <p:sp>
        <p:nvSpPr>
          <p:cNvPr id="217093" name="Footer Placeholder 4"/>
          <p:cNvSpPr txBox="1">
            <a:spLocks noGrp="1"/>
          </p:cNvSpPr>
          <p:nvPr/>
        </p:nvSpPr>
        <p:spPr bwMode="auto">
          <a:xfrm>
            <a:off x="2" y="9378514"/>
            <a:ext cx="2946443" cy="494051"/>
          </a:xfrm>
          <a:prstGeom prst="rect">
            <a:avLst/>
          </a:prstGeom>
          <a:noFill/>
          <a:ln w="9525">
            <a:noFill/>
            <a:miter lim="800000"/>
            <a:headEnd/>
            <a:tailEnd/>
          </a:ln>
        </p:spPr>
        <p:txBody>
          <a:bodyPr/>
          <a:lstStyle/>
          <a:p>
            <a:r>
              <a:rPr lang="en-US" sz="1800" dirty="0"/>
              <a:t>Cognos Competency</a:t>
            </a:r>
          </a:p>
        </p:txBody>
      </p:sp>
      <p:sp>
        <p:nvSpPr>
          <p:cNvPr id="92166" name="Slide Number Placeholder 5"/>
          <p:cNvSpPr txBox="1">
            <a:spLocks noGrp="1"/>
          </p:cNvSpPr>
          <p:nvPr/>
        </p:nvSpPr>
        <p:spPr>
          <a:xfrm>
            <a:off x="3849664" y="9378514"/>
            <a:ext cx="2946442" cy="494051"/>
          </a:xfrm>
          <a:prstGeom prst="rect">
            <a:avLst/>
          </a:prstGeom>
          <a:noFill/>
        </p:spPr>
        <p:txBody>
          <a:bodyPr lIns="92446" tIns="46223" rIns="92446" bIns="46223" anchor="b"/>
          <a:lstStyle/>
          <a:p>
            <a:pPr algn="r" fontAlgn="auto">
              <a:spcBef>
                <a:spcPts val="0"/>
              </a:spcBef>
              <a:spcAft>
                <a:spcPts val="0"/>
              </a:spcAft>
              <a:defRPr/>
            </a:pPr>
            <a:fld id="{492D7459-E63F-4457-AC70-C2CBCA7B6AF4}" type="slidenum">
              <a:rPr lang="en-US" sz="1200">
                <a:latin typeface="+mn-lt"/>
              </a:rPr>
              <a:pPr algn="r" fontAlgn="auto">
                <a:spcBef>
                  <a:spcPts val="0"/>
                </a:spcBef>
                <a:spcAft>
                  <a:spcPts val="0"/>
                </a:spcAft>
                <a:defRPr/>
              </a:pPr>
              <a:t>24</a:t>
            </a:fld>
            <a:endParaRPr lang="en-US" sz="1200">
              <a:latin typeface="+mn-l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1" name="Notes Placeholder 2"/>
          <p:cNvSpPr>
            <a:spLocks noGrp="1"/>
          </p:cNvSpPr>
          <p:nvPr>
            <p:ph type="body" idx="1"/>
          </p:nvPr>
        </p:nvSpPr>
        <p:spPr bwMode="auto">
          <a:noFill/>
        </p:spPr>
        <p:txBody>
          <a:bodyPr/>
          <a:lstStyle/>
          <a:p>
            <a:endParaRPr lang="en-US" smtClean="0"/>
          </a:p>
        </p:txBody>
      </p:sp>
      <p:sp>
        <p:nvSpPr>
          <p:cNvPr id="93190" name="Slide Number Placeholder 5"/>
          <p:cNvSpPr>
            <a:spLocks noGrp="1"/>
          </p:cNvSpPr>
          <p:nvPr>
            <p:ph type="sldNum" sz="quarter" idx="5"/>
          </p:nvPr>
        </p:nvSpPr>
        <p:spPr/>
        <p:txBody>
          <a:bodyPr/>
          <a:lstStyle/>
          <a:p>
            <a:pPr>
              <a:defRPr/>
            </a:pPr>
            <a:fld id="{7A737BAA-5BF7-44B8-AC66-ED96D4865A46}" type="slidenum">
              <a:rPr lang="en-US" smtClean="0"/>
              <a:pPr>
                <a:defRPr/>
              </a:pPr>
              <a:t>25</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a:lstStyle/>
          <a:p>
            <a:pPr algn="just"/>
            <a:r>
              <a:rPr lang="en-US" smtClean="0"/>
              <a:t>Measure dimensions represent the quantitative data described by regular dimensions. Known by many terms in various OLAP products, a measure dimension is simply the object that contains the fact data. Measure dimensions differ from fact query subjects because they do not include the foreign keys used to join a fact query subject to a dimensional query subject. This is because the measure dimension is not meant to be joined as if it were a relational data object. For query generation purposes, a measure dimension derives its relationship to a regular dimension through the underlying query subjects. Similarly the relationship to other measure dimensions is through regular dimensions that are based on query subjects built to behave as conformed dimensions. To enable multiple-fact, multiple-grain querying, you must have query subjects and determinants created appropriately before you build regular dimensions and measure dimensions. </a:t>
            </a:r>
          </a:p>
        </p:txBody>
      </p:sp>
      <p:sp>
        <p:nvSpPr>
          <p:cNvPr id="4" name="Slide Number Placeholder 3"/>
          <p:cNvSpPr>
            <a:spLocks noGrp="1"/>
          </p:cNvSpPr>
          <p:nvPr>
            <p:ph type="sldNum" sz="quarter" idx="5"/>
          </p:nvPr>
        </p:nvSpPr>
        <p:spPr/>
        <p:txBody>
          <a:bodyPr/>
          <a:lstStyle/>
          <a:p>
            <a:pPr>
              <a:defRPr/>
            </a:pPr>
            <a:fld id="{1F7CD7A8-CE85-452C-9624-9B78E7C41CD8}" type="slidenum">
              <a:rPr lang="en-US" smtClean="0"/>
              <a:pPr>
                <a:defRPr/>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a:lstStyle/>
          <a:p>
            <a:pPr algn="just"/>
            <a:r>
              <a:rPr lang="en-US" smtClean="0"/>
              <a:t>Another example to present Creation of Measure Dimension is presented here.</a:t>
            </a:r>
          </a:p>
          <a:p>
            <a:pPr algn="just"/>
            <a:r>
              <a:rPr lang="en-US" smtClean="0"/>
              <a:t>In this case, create a model query subject that combines the foreign keys of both Order Header and Order Details and includes all measures at the Order Detail level. Then create a measure dimension based on the model query subject. </a:t>
            </a:r>
          </a:p>
          <a:p>
            <a:endParaRPr lang="en-US" smtClean="0"/>
          </a:p>
        </p:txBody>
      </p:sp>
      <p:sp>
        <p:nvSpPr>
          <p:cNvPr id="95238" name="Slide Number Placeholder 5"/>
          <p:cNvSpPr>
            <a:spLocks noGrp="1"/>
          </p:cNvSpPr>
          <p:nvPr>
            <p:ph type="sldNum" sz="quarter" idx="5"/>
          </p:nvPr>
        </p:nvSpPr>
        <p:spPr/>
        <p:txBody>
          <a:bodyPr/>
          <a:lstStyle/>
          <a:p>
            <a:pPr>
              <a:defRPr/>
            </a:pPr>
            <a:fld id="{5DDEFF10-0870-466D-91D1-359561D20C3C}" type="slidenum">
              <a:rPr lang="en-US" smtClean="0"/>
              <a:pPr>
                <a:defRPr/>
              </a:pPr>
              <a:t>27</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1E7D22E-2FCF-4181-8686-08BDCDF94062}" type="slidenum">
              <a:rPr lang="en-US" smtClean="0"/>
              <a:pPr/>
              <a:t>45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1.xml"/><Relationship Id="rId7" Type="http://schemas.openxmlformats.org/officeDocument/2006/relationships/image" Target="../media/image3.jpeg"/><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3.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15.xml"/><Relationship Id="rId7" Type="http://schemas.openxmlformats.org/officeDocument/2006/relationships/image" Target="../media/image5.jpeg"/><Relationship Id="rId2" Type="http://schemas.openxmlformats.org/officeDocument/2006/relationships/tags" Target="../tags/tag14.xml"/><Relationship Id="rId1" Type="http://schemas.openxmlformats.org/officeDocument/2006/relationships/vmlDrawing" Target="../drawings/vmlDrawing3.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image" Target="../media/image6.jpeg"/><Relationship Id="rId2" Type="http://schemas.openxmlformats.org/officeDocument/2006/relationships/tags" Target="../tags/tag18.xml"/><Relationship Id="rId1" Type="http://schemas.openxmlformats.org/officeDocument/2006/relationships/vmlDrawing" Target="../drawings/vmlDrawing4.vml"/><Relationship Id="rId6" Type="http://schemas.openxmlformats.org/officeDocument/2006/relationships/slideMaster" Target="../slideMasters/slideMaster1.xml"/><Relationship Id="rId11" Type="http://schemas.openxmlformats.org/officeDocument/2006/relationships/image" Target="../media/image4.png"/><Relationship Id="rId5" Type="http://schemas.openxmlformats.org/officeDocument/2006/relationships/tags" Target="../tags/tag21.xml"/><Relationship Id="rId10" Type="http://schemas.openxmlformats.org/officeDocument/2006/relationships/image" Target="../media/image2.png"/><Relationship Id="rId4" Type="http://schemas.openxmlformats.org/officeDocument/2006/relationships/tags" Target="../tags/tag20.xml"/><Relationship Id="rId9"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5.vml"/><Relationship Id="rId6" Type="http://schemas.openxmlformats.org/officeDocument/2006/relationships/tags" Target="../tags/tag26.xml"/><Relationship Id="rId5" Type="http://schemas.openxmlformats.org/officeDocument/2006/relationships/tags" Target="../tags/tag25.xml"/><Relationship Id="rId10" Type="http://schemas.openxmlformats.org/officeDocument/2006/relationships/image" Target="../media/image7.png"/><Relationship Id="rId4" Type="http://schemas.openxmlformats.org/officeDocument/2006/relationships/tags" Target="../tags/tag24.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emf"/><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1.xml"/><Relationship Id="rId7" Type="http://schemas.openxmlformats.org/officeDocument/2006/relationships/oleObject" Target="../embeddings/oleObject7.bin"/><Relationship Id="rId2" Type="http://schemas.openxmlformats.org/officeDocument/2006/relationships/tags" Target="../tags/tag30.xml"/><Relationship Id="rId1" Type="http://schemas.openxmlformats.org/officeDocument/2006/relationships/vmlDrawing" Target="../drawings/vmlDrawing7.vml"/><Relationship Id="rId6" Type="http://schemas.openxmlformats.org/officeDocument/2006/relationships/slideMaster" Target="../slideMasters/slideMaster1.xml"/><Relationship Id="rId5" Type="http://schemas.openxmlformats.org/officeDocument/2006/relationships/tags" Target="../tags/tag33.xml"/><Relationship Id="rId4" Type="http://schemas.openxmlformats.org/officeDocument/2006/relationships/tags" Target="../tags/tag32.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oleObject" Target="../embeddings/oleObject8.bin"/><Relationship Id="rId2" Type="http://schemas.openxmlformats.org/officeDocument/2006/relationships/tags" Target="../tags/tag34.xml"/><Relationship Id="rId1" Type="http://schemas.openxmlformats.org/officeDocument/2006/relationships/vmlDrawing" Target="../drawings/vmlDrawing8.vml"/><Relationship Id="rId6" Type="http://schemas.openxmlformats.org/officeDocument/2006/relationships/slideMaster" Target="../slideMasters/slideMaster1.xml"/><Relationship Id="rId5" Type="http://schemas.openxmlformats.org/officeDocument/2006/relationships/tags" Target="../tags/tag37.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vmlDrawing" Target="../drawings/vmlDrawing9.v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emf"/><Relationship Id="rId4" Type="http://schemas.openxmlformats.org/officeDocument/2006/relationships/tags" Target="../tags/tag40.xml"/><Relationship Id="rId9" Type="http://schemas.openxmlformats.org/officeDocument/2006/relationships/oleObject" Target="../embeddings/oleObject9.bin"/></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58.xml"/><Relationship Id="rId7"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4.xml.rels><?xml version="1.0" encoding="UTF-8" standalone="yes"?>
<Relationships xmlns="http://schemas.openxmlformats.org/package/2006/relationships"><Relationship Id="rId8" Type="http://schemas.openxmlformats.org/officeDocument/2006/relationships/hyperlink" Target="http://www.capgemini.com/about/how-we-work/the-collaborative-business-experiencetm" TargetMode="External"/><Relationship Id="rId3" Type="http://schemas.openxmlformats.org/officeDocument/2006/relationships/tags" Target="../tags/tag60.xml"/><Relationship Id="rId7" Type="http://schemas.openxmlformats.org/officeDocument/2006/relationships/image" Target="../media/image13.png"/><Relationship Id="rId2" Type="http://schemas.openxmlformats.org/officeDocument/2006/relationships/tags" Target="../tags/tag59.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10" Type="http://schemas.openxmlformats.org/officeDocument/2006/relationships/hyperlink" Target="http://www.capgemini.com/" TargetMode="External"/><Relationship Id="rId4" Type="http://schemas.openxmlformats.org/officeDocument/2006/relationships/slideMaster" Target="../slideMasters/slideMaster2.xml"/><Relationship Id="rId9" Type="http://schemas.openxmlformats.org/officeDocument/2006/relationships/hyperlink" Target="http://www.capgemini.com/about/how-we-work/rightshorer"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emf"/><Relationship Id="rId2" Type="http://schemas.openxmlformats.org/officeDocument/2006/relationships/tags" Target="../tags/tag63.xml"/><Relationship Id="rId1" Type="http://schemas.openxmlformats.org/officeDocument/2006/relationships/vmlDrawing" Target="../drawings/vmlDrawing18.vml"/><Relationship Id="rId6" Type="http://schemas.openxmlformats.org/officeDocument/2006/relationships/oleObject" Target="../embeddings/oleObject18.bin"/><Relationship Id="rId5" Type="http://schemas.openxmlformats.org/officeDocument/2006/relationships/image" Target="../media/image3.jpeg"/><Relationship Id="rId4"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image" Target="../media/image1.emf"/><Relationship Id="rId2" Type="http://schemas.openxmlformats.org/officeDocument/2006/relationships/tags" Target="../tags/tag65.xml"/><Relationship Id="rId1" Type="http://schemas.openxmlformats.org/officeDocument/2006/relationships/vmlDrawing" Target="../drawings/vmlDrawing19.vml"/><Relationship Id="rId6" Type="http://schemas.openxmlformats.org/officeDocument/2006/relationships/oleObject" Target="../embeddings/oleObject19.bin"/><Relationship Id="rId5" Type="http://schemas.openxmlformats.org/officeDocument/2006/relationships/image" Target="../media/image14.jpeg"/><Relationship Id="rId4"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1.emf"/><Relationship Id="rId2" Type="http://schemas.openxmlformats.org/officeDocument/2006/relationships/tags" Target="../tags/tag67.xml"/><Relationship Id="rId1" Type="http://schemas.openxmlformats.org/officeDocument/2006/relationships/vmlDrawing" Target="../drawings/vmlDrawing20.vml"/><Relationship Id="rId6" Type="http://schemas.openxmlformats.org/officeDocument/2006/relationships/oleObject" Target="../embeddings/oleObject20.bin"/><Relationship Id="rId5" Type="http://schemas.openxmlformats.org/officeDocument/2006/relationships/image" Target="../media/image15.jpe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pic>
        <p:nvPicPr>
          <p:cNvPr id="10" name="Image 5"/>
          <p:cNvPicPr>
            <a:picLocks noChangeAspect="1"/>
          </p:cNvPicPr>
          <p:nvPr userDrawn="1"/>
        </p:nvPicPr>
        <p:blipFill rotWithShape="1">
          <a:blip r:embed="rId7"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11" name="Rectangle 10"/>
          <p:cNvSpPr/>
          <p:nvPr userDrawn="1"/>
        </p:nvSpPr>
        <p:spPr>
          <a:xfrm rot="10800000">
            <a:off x="-2" y="5388769"/>
            <a:ext cx="5895975" cy="1473606"/>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490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4133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41342"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4510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t="1404"/>
          <a:stretch/>
        </p:blipFill>
        <p:spPr>
          <a:xfrm>
            <a:off x="-2054" y="79513"/>
            <a:ext cx="9908054" cy="6778487"/>
          </a:xfrm>
          <a:prstGeom prst="rect">
            <a:avLst/>
          </a:prstGeom>
          <a:noFill/>
          <a:ln>
            <a:noFill/>
          </a:ln>
        </p:spPr>
      </p:pic>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2655" name="think-cell Slide" r:id="rId8" imgW="360" imgH="360" progId="">
                  <p:embed/>
                </p:oleObj>
              </mc:Choice>
              <mc:Fallback>
                <p:oleObj name="think-cell Slide" r:id="rId8" imgW="360" imgH="360" progId="">
                  <p:embed/>
                  <p:pic>
                    <p:nvPicPr>
                      <p:cNvPr id="0" name="Picture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4951973" y="3008823"/>
            <a:ext cx="4612715" cy="724977"/>
          </a:xfrm>
          <a:effectLst>
            <a:outerShdw blurRad="25400" dist="12700" dir="2700000" algn="tl" rotWithShape="0">
              <a:prstClr val="black">
                <a:alpha val="40000"/>
              </a:prstClr>
            </a:outerShdw>
          </a:effectLst>
        </p:spPr>
        <p:txBody>
          <a:bodyPr lIns="0" tIns="33059" rIns="0" bIns="33059" anchor="ctr"/>
          <a:lstStyle>
            <a:lvl1pPr algn="r">
              <a:lnSpc>
                <a:spcPct val="100000"/>
              </a:lnSpc>
              <a:defRPr sz="2800" b="0">
                <a:solidFill>
                  <a:schemeClr val="bg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5410200" y="3733800"/>
            <a:ext cx="4154488" cy="381000"/>
          </a:xfrm>
          <a:effectLst>
            <a:outerShdw blurRad="12700" dist="12700" dir="2700000" sx="133000" sy="133000" algn="tl" rotWithShape="0">
              <a:schemeClr val="bg1">
                <a:alpha val="80000"/>
              </a:schemeClr>
            </a:outerShdw>
          </a:effectLst>
        </p:spPr>
        <p:txBody>
          <a:bodyPr lIns="0" tIns="33059" rIns="0" bIns="33059" anchor="ctr"/>
          <a:lstStyle>
            <a:lvl1pPr marL="0" indent="0" algn="r">
              <a:lnSpc>
                <a:spcPct val="100000"/>
              </a:lnSpc>
              <a:buNone/>
              <a:defRPr sz="1800" b="0">
                <a:solidFill>
                  <a:schemeClr val="accent2">
                    <a:lumMod val="60000"/>
                    <a:lumOff val="40000"/>
                  </a:schemeClr>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8"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0" name="Rectangle 9"/>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26972392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spTree>
      <p:nvGrpSpPr>
        <p:cNvPr id="1" name=""/>
        <p:cNvGrpSpPr/>
        <p:nvPr/>
      </p:nvGrpSpPr>
      <p:grpSpPr>
        <a:xfrm>
          <a:off x="0" y="0"/>
          <a:ext cx="0" cy="0"/>
          <a:chOff x="0" y="0"/>
          <a:chExt cx="0" cy="0"/>
        </a:xfrm>
      </p:grpSpPr>
      <p:pic>
        <p:nvPicPr>
          <p:cNvPr id="12" name="Image 5"/>
          <p:cNvPicPr>
            <a:picLocks noChangeAspect="1"/>
          </p:cNvPicPr>
          <p:nvPr userDrawn="1"/>
        </p:nvPicPr>
        <p:blipFill rotWithShape="1">
          <a:blip r:embed="rId7" cstate="print">
            <a:extLst>
              <a:ext uri="{28A0092B-C50C-407E-A947-70E740481C1C}">
                <a14:useLocalDpi xmlns:a14="http://schemas.microsoft.com/office/drawing/2010/main" val="0"/>
              </a:ext>
            </a:extLst>
          </a:blip>
          <a:srcRect/>
          <a:stretch/>
        </p:blipFill>
        <p:spPr>
          <a:xfrm>
            <a:off x="0" y="1334528"/>
            <a:ext cx="9906483" cy="5523472"/>
          </a:xfrm>
          <a:prstGeom prst="rect">
            <a:avLst/>
          </a:prstGeom>
          <a:noFill/>
          <a:ln>
            <a:noFill/>
          </a:ln>
        </p:spPr>
      </p:pic>
      <p:sp>
        <p:nvSpPr>
          <p:cNvPr id="11" name="Rectangle 10"/>
          <p:cNvSpPr/>
          <p:nvPr userDrawn="1"/>
        </p:nvSpPr>
        <p:spPr>
          <a:xfrm rot="10800000">
            <a:off x="-3" y="5381624"/>
            <a:ext cx="5895975" cy="1476375"/>
          </a:xfrm>
          <a:prstGeom prst="rect">
            <a:avLst/>
          </a:prstGeom>
          <a:gradFill flip="none" rotWithShape="1">
            <a:gsLst>
              <a:gs pos="0">
                <a:schemeClr val="bg1">
                  <a:alpha val="83000"/>
                </a:schemeClr>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86569" tIns="43285" rIns="86569" bIns="43285" rtlCol="0" anchor="ctr"/>
          <a:lstStyle/>
          <a:p>
            <a:pPr algn="ctr"/>
            <a:endParaRPr lang="en-US" sz="2268" dirty="0" smtClean="0">
              <a:solidFill>
                <a:schemeClr val="tx2">
                  <a:lumMod val="50000"/>
                </a:schemeClr>
              </a:solidFill>
            </a:endParaRPr>
          </a:p>
        </p:txBody>
      </p:sp>
      <p:sp>
        <p:nvSpPr>
          <p:cNvPr id="17" name="Rectangle 7"/>
          <p:cNvSpPr/>
          <p:nvPr userDrawn="1">
            <p:custDataLst>
              <p:tags r:id="rId2"/>
            </p:custDataLst>
          </p:nvPr>
        </p:nvSpPr>
        <p:spPr bwMode="auto">
          <a:xfrm>
            <a:off x="-2052" y="0"/>
            <a:ext cx="9908534" cy="2683033"/>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50253 w 10562411"/>
              <a:gd name="connsiteY0" fmla="*/ 226828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150253 w 10562411"/>
              <a:gd name="connsiteY7" fmla="*/ 226828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411"/>
              <a:gd name="connsiteY0" fmla="*/ 0 h 2958168"/>
              <a:gd name="connsiteX1" fmla="*/ 10297658 w 10562411"/>
              <a:gd name="connsiteY1" fmla="*/ 497083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2189 w 10562585"/>
              <a:gd name="connsiteY0" fmla="*/ 0 h 2958168"/>
              <a:gd name="connsiteX1" fmla="*/ 10562072 w 10562585"/>
              <a:gd name="connsiteY1" fmla="*/ 0 h 2958168"/>
              <a:gd name="connsiteX2" fmla="*/ 10561157 w 10562585"/>
              <a:gd name="connsiteY2" fmla="*/ 1476338 h 2958168"/>
              <a:gd name="connsiteX3" fmla="*/ 9288594 w 10562585"/>
              <a:gd name="connsiteY3" fmla="*/ 2153103 h 2958168"/>
              <a:gd name="connsiteX4" fmla="*/ 2317558 w 10562585"/>
              <a:gd name="connsiteY4" fmla="*/ 2159512 h 2958168"/>
              <a:gd name="connsiteX5" fmla="*/ 1180889 w 10562585"/>
              <a:gd name="connsiteY5" fmla="*/ 2958168 h 2958168"/>
              <a:gd name="connsiteX6" fmla="*/ 0 w 10562585"/>
              <a:gd name="connsiteY6" fmla="*/ 2174065 h 2958168"/>
              <a:gd name="connsiteX7" fmla="*/ 2189 w 10562585"/>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2585" h="2958168">
                <a:moveTo>
                  <a:pt x="2189" y="0"/>
                </a:moveTo>
                <a:lnTo>
                  <a:pt x="10562072" y="0"/>
                </a:lnTo>
                <a:cubicBezTo>
                  <a:pt x="10562585" y="67600"/>
                  <a:pt x="10562411" y="1432923"/>
                  <a:pt x="10561157" y="1476338"/>
                </a:cubicBezTo>
                <a:cubicBezTo>
                  <a:pt x="10083761" y="2148347"/>
                  <a:pt x="9705180" y="2158423"/>
                  <a:pt x="9288594" y="2153103"/>
                </a:cubicBezTo>
                <a:lnTo>
                  <a:pt x="2317558" y="2159512"/>
                </a:lnTo>
                <a:cubicBezTo>
                  <a:pt x="1740344" y="2192654"/>
                  <a:pt x="1372498" y="2495346"/>
                  <a:pt x="1180889" y="2958168"/>
                </a:cubicBezTo>
                <a:cubicBezTo>
                  <a:pt x="882535" y="2254391"/>
                  <a:pt x="278640" y="2173187"/>
                  <a:pt x="0" y="2174065"/>
                </a:cubicBezTo>
                <a:cubicBezTo>
                  <a:pt x="2067" y="2138552"/>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23681" name="think-cell Slide" r:id="rId8" imgW="360" imgH="360" progId="">
                  <p:embed/>
                </p:oleObj>
              </mc:Choice>
              <mc:Fallback>
                <p:oleObj name="think-cell Slide" r:id="rId8" imgW="360" imgH="360" progId="">
                  <p:embed/>
                  <p:pic>
                    <p:nvPicPr>
                      <p:cNvPr id="0" name="Picture 6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ctrTitle" hasCustomPrompt="1"/>
            <p:custDataLst>
              <p:tags r:id="rId4"/>
            </p:custDataLst>
          </p:nvPr>
        </p:nvSpPr>
        <p:spPr>
          <a:xfrm>
            <a:off x="349250" y="5534025"/>
            <a:ext cx="4727575" cy="724977"/>
          </a:xfrm>
          <a:effectLst>
            <a:outerShdw blurRad="12700" dist="12700" dir="2700000" sx="133000" sy="133000" algn="tl" rotWithShape="0">
              <a:schemeClr val="bg1">
                <a:alpha val="80000"/>
              </a:schemeClr>
            </a:outerShdw>
          </a:effectLst>
        </p:spPr>
        <p:txBody>
          <a:bodyPr lIns="0" tIns="33059" rIns="33059" bIns="33059" anchor="ctr"/>
          <a:lstStyle>
            <a:lvl1pPr algn="l">
              <a:lnSpc>
                <a:spcPct val="100000"/>
              </a:lnSpc>
              <a:defRPr sz="2800" b="0">
                <a:solidFill>
                  <a:schemeClr val="tx1"/>
                </a:solidFill>
                <a:effectLst/>
                <a:latin typeface="Arial Narrow" pitchFamily="34" charset="0"/>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5"/>
            </p:custDataLst>
          </p:nvPr>
        </p:nvSpPr>
        <p:spPr>
          <a:xfrm>
            <a:off x="349249" y="6267450"/>
            <a:ext cx="5861051" cy="381000"/>
          </a:xfrm>
          <a:effectLst>
            <a:outerShdw blurRad="12700" dist="12700" dir="2700000" sx="133000" sy="133000" algn="tl" rotWithShape="0">
              <a:schemeClr val="bg1">
                <a:alpha val="80000"/>
              </a:schemeClr>
            </a:outerShdw>
          </a:effectLst>
        </p:spPr>
        <p:txBody>
          <a:bodyPr lIns="0" tIns="33059" rIns="33059" bIns="33059" anchor="ctr"/>
          <a:lstStyle>
            <a:lvl1pPr marL="0" indent="0" algn="l">
              <a:lnSpc>
                <a:spcPct val="100000"/>
              </a:lnSpc>
              <a:buNone/>
              <a:defRPr sz="1800" b="0">
                <a:solidFill>
                  <a:schemeClr val="accent2"/>
                </a:solidFill>
                <a:effectLst/>
                <a:latin typeface="Arial Narrow" pitchFamily="34" charset="0"/>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pic>
        <p:nvPicPr>
          <p:cNvPr id="16" name="Picture 26" descr="D:\Users\bkp\My Work\TEMPLATES\LOGO Library\Capgemini_Logo_Set\Capgemini Logo Set\ppt\Logo_Capgemini_RGB.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8799" y="633766"/>
            <a:ext cx="2926080" cy="6781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0" descr="D:\Users\bkp\My Work\TEMPLATES\LOGO Library\Capgemini_Logo_Set\Slogan_PMRC_cmyk_Capgemini.pn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311583" y="821745"/>
            <a:ext cx="2926080" cy="24001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userDrawn="1"/>
        </p:nvSpPr>
        <p:spPr>
          <a:xfrm>
            <a:off x="6629400" y="5964783"/>
            <a:ext cx="2585072" cy="218008"/>
          </a:xfrm>
          <a:prstGeom prst="rect">
            <a:avLst/>
          </a:prstGeom>
          <a:effectLst>
            <a:outerShdw blurRad="38100" dist="12700" dir="2700000" algn="tl" rotWithShape="0">
              <a:schemeClr val="bg1">
                <a:alpha val="50000"/>
              </a:schemeClr>
            </a:outerShdw>
          </a:effectLst>
        </p:spPr>
        <p:txBody>
          <a:bodyPr wrap="square" lIns="0" tIns="0" rIns="0" bIns="0">
            <a:spAutoFit/>
          </a:bodyPr>
          <a:lstStyle/>
          <a:p>
            <a:pPr algn="r">
              <a:lnSpc>
                <a:spcPts val="1700"/>
              </a:lnSpc>
            </a:pPr>
            <a:r>
              <a:rPr lang="en-US" sz="1800" b="1" kern="1100" spc="0" baseline="0" dirty="0" smtClean="0">
                <a:solidFill>
                  <a:schemeClr val="accent6"/>
                </a:solidFill>
                <a:latin typeface="Arial Narrow" pitchFamily="34" charset="0"/>
                <a:ea typeface="+mn-ea"/>
                <a:cs typeface="+mn-cs"/>
              </a:rPr>
              <a:t>Learning and </a:t>
            </a: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6781800" y="6214646"/>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r"/>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307273605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9786" name="think-cell Slide" r:id="rId8" imgW="360" imgH="360" progId="">
                  <p:embed/>
                </p:oleObj>
              </mc:Choice>
              <mc:Fallback>
                <p:oleObj name="think-cell Slide" r:id="rId8" imgW="360" imgH="360" progId="">
                  <p:embed/>
                  <p:pic>
                    <p:nvPicPr>
                      <p:cNvPr id="0" name="Picture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solidFill>
                  <a:schemeClr val="accent2"/>
                </a:solidFill>
              </a:defRPr>
            </a:lvl1pPr>
          </a:lstStyle>
          <a:p>
            <a:r>
              <a:rPr lang="en-US" dirty="0" smtClean="0"/>
              <a:t>Click to edit Master title style</a:t>
            </a:r>
            <a:endParaRPr lang="en-US" dirty="0"/>
          </a:p>
        </p:txBody>
      </p:sp>
      <p:cxnSp>
        <p:nvCxnSpPr>
          <p:cNvPr id="10" name="Straight Connector 5"/>
          <p:cNvCxnSpPr/>
          <p:nvPr userDrawn="1">
            <p:custDataLst>
              <p:tags r:id="rId4"/>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nvGrpSpPr>
          <p:cNvPr id="16" name="Group 15"/>
          <p:cNvGrpSpPr/>
          <p:nvPr userDrawn="1"/>
        </p:nvGrpSpPr>
        <p:grpSpPr>
          <a:xfrm>
            <a:off x="2057400" y="957738"/>
            <a:ext cx="183356" cy="186929"/>
            <a:chOff x="3948113" y="3393281"/>
            <a:chExt cx="183356" cy="186929"/>
          </a:xfrm>
        </p:grpSpPr>
        <p:sp>
          <p:nvSpPr>
            <p:cNvPr id="18" name="Rectangle 17"/>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19" name="Rectangle 18"/>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0" name="Group 19"/>
          <p:cNvGrpSpPr/>
          <p:nvPr userDrawn="1"/>
        </p:nvGrpSpPr>
        <p:grpSpPr>
          <a:xfrm>
            <a:off x="3810000" y="5931502"/>
            <a:ext cx="183356" cy="186929"/>
            <a:chOff x="4191000" y="3876277"/>
            <a:chExt cx="183356" cy="186929"/>
          </a:xfrm>
        </p:grpSpPr>
        <p:sp>
          <p:nvSpPr>
            <p:cNvPr id="21" name="Rectangle 20"/>
            <p:cNvSpPr/>
            <p:nvPr userDrawn="1"/>
          </p:nvSpPr>
          <p:spPr bwMode="auto">
            <a:xfrm>
              <a:off x="4191000" y="3970337"/>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2" name="Rectangle 21"/>
            <p:cNvSpPr/>
            <p:nvPr userDrawn="1"/>
          </p:nvSpPr>
          <p:spPr bwMode="auto">
            <a:xfrm>
              <a:off x="4281487" y="3876277"/>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23" name="Rectangle 22"/>
          <p:cNvSpPr/>
          <p:nvPr userDrawn="1"/>
        </p:nvSpPr>
        <p:spPr bwMode="auto">
          <a:xfrm>
            <a:off x="8686800" y="1752600"/>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4" name="Rectangle 23"/>
          <p:cNvSpPr/>
          <p:nvPr userDrawn="1"/>
        </p:nvSpPr>
        <p:spPr bwMode="auto">
          <a:xfrm>
            <a:off x="9440444" y="6209864"/>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25" name="Group 24"/>
          <p:cNvGrpSpPr/>
          <p:nvPr userDrawn="1"/>
        </p:nvGrpSpPr>
        <p:grpSpPr>
          <a:xfrm>
            <a:off x="7269956" y="5201670"/>
            <a:ext cx="183356" cy="186929"/>
            <a:chOff x="4622005" y="3393281"/>
            <a:chExt cx="183356" cy="186929"/>
          </a:xfrm>
        </p:grpSpPr>
        <p:sp>
          <p:nvSpPr>
            <p:cNvPr id="26" name="Rectangle 25"/>
            <p:cNvSpPr/>
            <p:nvPr userDrawn="1"/>
          </p:nvSpPr>
          <p:spPr bwMode="auto">
            <a:xfrm>
              <a:off x="4622005" y="3487341"/>
              <a:ext cx="92869" cy="92869"/>
            </a:xfrm>
            <a:prstGeom prst="rect">
              <a:avLst/>
            </a:prstGeom>
            <a:solidFill>
              <a:schemeClr val="accent1"/>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27" name="Rectangle 26"/>
            <p:cNvSpPr/>
            <p:nvPr userDrawn="1"/>
          </p:nvSpPr>
          <p:spPr bwMode="auto">
            <a:xfrm>
              <a:off x="4712492" y="3393281"/>
              <a:ext cx="92869" cy="92869"/>
            </a:xfrm>
            <a:prstGeom prst="rect">
              <a:avLst/>
            </a:prstGeom>
            <a:solidFill>
              <a:schemeClr val="accent2"/>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grpSp>
        <p:nvGrpSpPr>
          <p:cNvPr id="28" name="Group 27"/>
          <p:cNvGrpSpPr/>
          <p:nvPr userDrawn="1"/>
        </p:nvGrpSpPr>
        <p:grpSpPr>
          <a:xfrm>
            <a:off x="9486878" y="3025376"/>
            <a:ext cx="183356" cy="186929"/>
            <a:chOff x="3948113" y="3393281"/>
            <a:chExt cx="183356" cy="186929"/>
          </a:xfrm>
        </p:grpSpPr>
        <p:sp>
          <p:nvSpPr>
            <p:cNvPr id="29" name="Rectangle 28"/>
            <p:cNvSpPr/>
            <p:nvPr userDrawn="1"/>
          </p:nvSpPr>
          <p:spPr bwMode="auto">
            <a:xfrm>
              <a:off x="3948113" y="348734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0" name="Rectangle 29"/>
            <p:cNvSpPr/>
            <p:nvPr userDrawn="1"/>
          </p:nvSpPr>
          <p:spPr bwMode="auto">
            <a:xfrm>
              <a:off x="4038600" y="3393281"/>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sp>
        <p:nvSpPr>
          <p:cNvPr id="31" name="Rectangle 30"/>
          <p:cNvSpPr/>
          <p:nvPr userDrawn="1"/>
        </p:nvSpPr>
        <p:spPr bwMode="auto">
          <a:xfrm>
            <a:off x="9346861" y="4196384"/>
            <a:ext cx="92869" cy="92869"/>
          </a:xfrm>
          <a:prstGeom prst="rect">
            <a:avLst/>
          </a:prstGeom>
          <a:solidFill>
            <a:schemeClr val="accent2">
              <a:lumMod val="60000"/>
              <a:lumOff val="4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nvGrpSpPr>
          <p:cNvPr id="32" name="Group 31"/>
          <p:cNvGrpSpPr/>
          <p:nvPr userDrawn="1"/>
        </p:nvGrpSpPr>
        <p:grpSpPr>
          <a:xfrm>
            <a:off x="8382000" y="3165871"/>
            <a:ext cx="183356" cy="186929"/>
            <a:chOff x="5548313" y="3134916"/>
            <a:chExt cx="183356" cy="186929"/>
          </a:xfrm>
        </p:grpSpPr>
        <p:sp>
          <p:nvSpPr>
            <p:cNvPr id="33" name="Rectangle 32"/>
            <p:cNvSpPr/>
            <p:nvPr userDrawn="1"/>
          </p:nvSpPr>
          <p:spPr bwMode="auto">
            <a:xfrm>
              <a:off x="5548313" y="3228976"/>
              <a:ext cx="92869" cy="92869"/>
            </a:xfrm>
            <a:prstGeom prst="rect">
              <a:avLst/>
            </a:prstGeom>
            <a:solidFill>
              <a:schemeClr val="accent2">
                <a:lumMod val="20000"/>
                <a:lumOff val="8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sp>
          <p:nvSpPr>
            <p:cNvPr id="34" name="Rectangle 33"/>
            <p:cNvSpPr/>
            <p:nvPr userDrawn="1"/>
          </p:nvSpPr>
          <p:spPr bwMode="auto">
            <a:xfrm>
              <a:off x="5638800" y="3134916"/>
              <a:ext cx="92869" cy="92869"/>
            </a:xfrm>
            <a:prstGeom prst="rect">
              <a:avLst/>
            </a:prstGeom>
            <a:solidFill>
              <a:schemeClr val="accent2">
                <a:lumMod val="40000"/>
                <a:lumOff val="60000"/>
              </a:schemeClr>
            </a:solidFill>
            <a:ln w="63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GB" sz="1600" i="0" u="none" strike="noStrike" cap="none" normalizeH="0" baseline="0" dirty="0" smtClean="0">
                <a:ln>
                  <a:noFill/>
                </a:ln>
                <a:solidFill>
                  <a:schemeClr val="tx2">
                    <a:lumMod val="50000"/>
                  </a:schemeClr>
                </a:solidFill>
                <a:effectLst/>
                <a:latin typeface="+mn-lt"/>
                <a:cs typeface="Arial" charset="0"/>
              </a:endParaRPr>
            </a:p>
          </p:txBody>
        </p:sp>
      </p:grpSp>
      <p:cxnSp>
        <p:nvCxnSpPr>
          <p:cNvPr id="35" name="Straight Connector 5"/>
          <p:cNvCxnSpPr/>
          <p:nvPr userDrawn="1">
            <p:custDataLst>
              <p:tags r:id="rId5"/>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36" name="Picture 68" descr="D:\Users\bkp\My Work\GSLs\TEMPLATES\I&amp;D\FINAL\04-17\Pyramid.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305800" y="5222873"/>
            <a:ext cx="879232" cy="80209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p:cNvSpPr>
            <a:spLocks noGrp="1"/>
          </p:cNvSpPr>
          <p:nvPr userDrawn="1">
            <p:ph sz="quarter" idx="10"/>
            <p:custDataLst>
              <p:tags r:id="rId6"/>
            </p:custDataLst>
          </p:nvPr>
        </p:nvSpPr>
        <p:spPr>
          <a:xfrm>
            <a:off x="341313" y="1255713"/>
            <a:ext cx="8896350" cy="3196515"/>
          </a:xfrm>
        </p:spPr>
        <p:txBody>
          <a:bodyPr lIns="91440"/>
          <a:lstStyle>
            <a:lvl1pPr marL="228600" indent="-228600">
              <a:spcAft>
                <a:spcPts val="1200"/>
              </a:spcAft>
              <a:buClr>
                <a:schemeClr val="accent2"/>
              </a:buClr>
              <a:defRPr>
                <a:solidFill>
                  <a:schemeClr val="tx1"/>
                </a:solidFill>
              </a:defRPr>
            </a:lvl1pPr>
            <a:lvl2pPr marL="457200" indent="-228600">
              <a:spcAft>
                <a:spcPts val="1200"/>
              </a:spcAft>
              <a:buClr>
                <a:schemeClr val="accent2"/>
              </a:buClr>
              <a:defRPr>
                <a:solidFill>
                  <a:schemeClr val="tx1"/>
                </a:solidFill>
              </a:defRPr>
            </a:lvl2pPr>
            <a:lvl3pPr marL="685800" indent="-228600">
              <a:spcAft>
                <a:spcPts val="1200"/>
              </a:spcAft>
              <a:buClr>
                <a:schemeClr val="accent2"/>
              </a:buClr>
              <a:defRPr>
                <a:solidFill>
                  <a:schemeClr val="tx1"/>
                </a:solidFill>
              </a:defRPr>
            </a:lvl3pPr>
            <a:lvl4pPr>
              <a:buClr>
                <a:schemeClr val="accent2"/>
              </a:buClr>
              <a:defRPr>
                <a:solidFill>
                  <a:schemeClr val="tx1"/>
                </a:solidFill>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extLst>
      <p:ext uri="{BB962C8B-B14F-4D97-AF65-F5344CB8AC3E}">
        <p14:creationId xmlns:p14="http://schemas.microsoft.com/office/powerpoint/2010/main" val="253503983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8844" name="think-cell Slide" r:id="rId6" imgW="360" imgH="360" progId="">
                  <p:embed/>
                </p:oleObj>
              </mc:Choice>
              <mc:Fallback>
                <p:oleObj name="think-cell Slide" r:id="rId6" imgW="360" imgH="360" progId="">
                  <p:embed/>
                  <p:pic>
                    <p:nvPicPr>
                      <p:cNvPr id="0" name="Picture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p:custDataLst>
              <p:tags r:id="rId4"/>
            </p:custDataLst>
          </p:nvPr>
        </p:nvSpPr>
        <p:spPr>
          <a:xfrm>
            <a:off x="341313" y="1255713"/>
            <a:ext cx="9223375" cy="5011737"/>
          </a:xfrm>
        </p:spPr>
        <p:txBody>
          <a:bodyPr/>
          <a:lstStyle>
            <a:lvl1pPr>
              <a:defRPr b="0"/>
            </a:lvl1pPr>
            <a:lvl2pPr marL="457200" indent="-228600">
              <a:defRPr/>
            </a:lvl2pPr>
            <a:lvl3pPr marL="685800" indent="-228600">
              <a:defRPr/>
            </a:lvl3pPr>
            <a:lvl4pPr>
              <a:defRPr/>
            </a:lvl4pPr>
            <a:lvl5pPr>
              <a:buNone/>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119868" name="think-cell Slide" r:id="rId7" imgW="360" imgH="360" progId="">
                  <p:embed/>
                </p:oleObj>
              </mc:Choice>
              <mc:Fallback>
                <p:oleObj name="think-cell Slide" r:id="rId7" imgW="360" imgH="360" progId="">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3"/>
            </p:custDataLst>
          </p:nvPr>
        </p:nvSpPr>
        <p:spPr/>
        <p:txBody>
          <a:bodyPr/>
          <a:lstStyle>
            <a:lvl1pPr>
              <a:defRPr>
                <a:solidFill>
                  <a:schemeClr val="tx1"/>
                </a:solidFill>
              </a:defRPr>
            </a:lvl1pPr>
          </a:lstStyle>
          <a:p>
            <a:r>
              <a:rPr lang="en-US" noProof="0" smtClean="0"/>
              <a:t>Click to edit Master title style</a:t>
            </a:r>
            <a:endParaRPr lang="en-US" dirty="0"/>
          </a:p>
        </p:txBody>
      </p:sp>
      <p:sp>
        <p:nvSpPr>
          <p:cNvPr id="3" name="Content Placeholder 2"/>
          <p:cNvSpPr>
            <a:spLocks noGrp="1"/>
          </p:cNvSpPr>
          <p:nvPr>
            <p:ph idx="1"/>
            <p:custDataLst>
              <p:tags r:id="rId4"/>
            </p:custDataLst>
          </p:nvPr>
        </p:nvSpPr>
        <p:spPr>
          <a:xfrm>
            <a:off x="341313" y="1828800"/>
            <a:ext cx="9223376" cy="4438649"/>
          </a:xfrm>
        </p:spPr>
        <p:txBody>
          <a:bodyPr/>
          <a:lstStyle>
            <a:lvl1pPr>
              <a:defRPr b="0"/>
            </a:lvl1pPr>
            <a:lvl2pPr marL="457200" indent="-223838">
              <a:defRPr/>
            </a:lvl2pPr>
            <a:lvl3pPr>
              <a:defRPr/>
            </a:lvl3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8" name="Espace réservé du texte 7"/>
          <p:cNvSpPr>
            <a:spLocks noGrp="1"/>
          </p:cNvSpPr>
          <p:nvPr>
            <p:ph type="body" sz="quarter" idx="11"/>
            <p:custDataLst>
              <p:tags r:id="rId5"/>
            </p:custDataLst>
          </p:nvPr>
        </p:nvSpPr>
        <p:spPr>
          <a:xfrm>
            <a:off x="341313" y="1255713"/>
            <a:ext cx="9223376" cy="548640"/>
          </a:xfrm>
        </p:spPr>
        <p:txBody>
          <a:bodyPr/>
          <a:lstStyle>
            <a:lvl1pPr marL="0" indent="0">
              <a:buNone/>
              <a:defRPr sz="2000" b="1">
                <a:solidFill>
                  <a:srgbClr val="E47E1A"/>
                </a:solidFill>
              </a:defRPr>
            </a:lvl1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3963" name="think-cell Slide" r:id="rId7" imgW="360" imgH="360" progId="">
                  <p:embed/>
                </p:oleObj>
              </mc:Choice>
              <mc:Fallback>
                <p:oleObj name="think-cell Slide" r:id="rId7" imgW="360" imgH="360" progId="">
                  <p:embed/>
                  <p:pic>
                    <p:nvPicPr>
                      <p:cNvPr id="0"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255713"/>
            <a:ext cx="4487862" cy="4993230"/>
          </a:xfrm>
        </p:spPr>
        <p:txBody>
          <a:bodyPr/>
          <a:lstStyle>
            <a:lvl1pPr>
              <a:defRPr/>
            </a:lvl1pPr>
            <a:lvl2pPr marL="457200" indent="-228600">
              <a:defRPr/>
            </a:lvl2pPr>
            <a:lvl3pPr marL="685800" indent="-228600">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255713"/>
            <a:ext cx="4487863" cy="5011737"/>
          </a:xfrm>
        </p:spPr>
        <p:txBody>
          <a:bodyPr/>
          <a:lstStyle>
            <a:lvl1pPr>
              <a:defRPr/>
            </a:lvl1pPr>
            <a:lvl2pPr marL="457200" indent="-228600">
              <a:defRPr/>
            </a:lvl2pPr>
            <a:lvl3pPr>
              <a:defRPr/>
            </a:lvl3pPr>
            <a:lvl4pPr>
              <a:defRPr/>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2939" name="think-cell Slide" r:id="rId9" imgW="360" imgH="360" progId="">
                  <p:embed/>
                </p:oleObj>
              </mc:Choice>
              <mc:Fallback>
                <p:oleObj name="think-cell Slide" r:id="rId9" imgW="360" imgH="360" progId="">
                  <p:embed/>
                  <p:pic>
                    <p:nvPicPr>
                      <p:cNvPr id="0" name="Picture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p:custDataLst>
              <p:tags r:id="rId4"/>
            </p:custDataLst>
          </p:nvPr>
        </p:nvSpPr>
        <p:spPr>
          <a:xfrm>
            <a:off x="341313" y="1828800"/>
            <a:ext cx="4487862" cy="4438649"/>
          </a:xfrm>
        </p:spPr>
        <p:txBody>
          <a:bodyPr/>
          <a:lstStyle>
            <a:lvl1pPr>
              <a:defRPr sz="2000"/>
            </a:lvl1pPr>
            <a:lvl2pPr>
              <a:defRPr sz="1800"/>
            </a:lvl2pPr>
            <a:lvl3pPr>
              <a:defRPr sz="1600"/>
            </a:lvl3pPr>
            <a:lvl4pPr>
              <a:defRPr sz="14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6" name="Espace réservé du contenu 5"/>
          <p:cNvSpPr>
            <a:spLocks noGrp="1"/>
          </p:cNvSpPr>
          <p:nvPr>
            <p:ph sz="quarter" idx="11"/>
            <p:custDataLst>
              <p:tags r:id="rId5"/>
            </p:custDataLst>
          </p:nvPr>
        </p:nvSpPr>
        <p:spPr>
          <a:xfrm>
            <a:off x="5076825" y="1828800"/>
            <a:ext cx="4487863" cy="4438649"/>
          </a:xfrm>
        </p:spPr>
        <p:txBody>
          <a:bodyPr/>
          <a:lstStyle>
            <a:lvl1pPr>
              <a:defRPr sz="2000"/>
            </a:lvl1pPr>
            <a:lvl2pPr>
              <a:defRPr sz="1800"/>
            </a:lvl2pPr>
            <a:lvl3pPr>
              <a:defRPr sz="1600"/>
            </a:lvl3pPr>
            <a:lvl4pPr>
              <a:defRPr sz="1300"/>
            </a:lvl4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p:txBody>
      </p:sp>
      <p:sp>
        <p:nvSpPr>
          <p:cNvPr id="7" name="Espace réservé du texte 6"/>
          <p:cNvSpPr>
            <a:spLocks noGrp="1"/>
          </p:cNvSpPr>
          <p:nvPr>
            <p:ph type="body" sz="quarter" idx="12" hasCustomPrompt="1"/>
            <p:custDataLst>
              <p:tags r:id="rId6"/>
            </p:custDataLst>
          </p:nvPr>
        </p:nvSpPr>
        <p:spPr>
          <a:xfrm>
            <a:off x="341313" y="1255713"/>
            <a:ext cx="4487862"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vl5pPr>
              <a:buNone/>
              <a:defRPr/>
            </a:lvl5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5076825" y="1255713"/>
            <a:ext cx="4487863" cy="548640"/>
          </a:xfrm>
        </p:spPr>
        <p:txBody>
          <a:bodyPr vert="horz" lIns="0" tIns="33059" rIns="33059" bIns="33059" rtlCol="0">
            <a:noAutofit/>
          </a:bodyPr>
          <a:lstStyle>
            <a:lvl1pPr algn="l">
              <a:buNone/>
              <a:defRPr lang="en-US" sz="2000" b="1" kern="1200" noProof="0" dirty="0" smtClean="0">
                <a:solidFill>
                  <a:srgbClr val="E47E1A"/>
                </a:solidFill>
                <a:latin typeface="+mn-lt"/>
                <a:ea typeface="+mn-ea"/>
                <a:cs typeface="+mn-cs"/>
              </a:defRPr>
            </a:lvl1pPr>
          </a:lstStyle>
          <a:p>
            <a:pPr marL="0" lvl="0" indent="0" algn="l" defTabSz="914342" rtl="0" eaLnBrk="1" latinLnBrk="0" hangingPunct="1">
              <a:spcBef>
                <a:spcPts val="0"/>
              </a:spcBef>
              <a:spcAft>
                <a:spcPts val="600"/>
              </a:spcAft>
              <a:buClr>
                <a:schemeClr val="accent5"/>
              </a:buClr>
              <a:buFont typeface="Wingdings" pitchFamily="2" charset="2"/>
              <a:buNone/>
            </a:pPr>
            <a:r>
              <a:rPr lang="en-US" noProof="0" dirty="0" smtClean="0"/>
              <a:t>Click to edit Master text style</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1914" name="think-cell Slide" r:id="rId5" imgW="360" imgH="360" progId="">
                  <p:embed/>
                </p:oleObj>
              </mc:Choice>
              <mc:Fallback>
                <p:oleObj name="think-cell Slide" r:id="rId5" imgW="360" imgH="360" progId="">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76858" name="think-cell Slide" r:id="rId4" imgW="360" imgH="360" progId="">
                  <p:embed/>
                </p:oleObj>
              </mc:Choice>
              <mc:Fallback>
                <p:oleObj name="think-cell Slide" r:id="rId4" imgW="360" imgH="360" progId="">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3" name="Object 5"/>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51267" name="think-cell Slide" r:id="rId4" imgW="360" imgH="360" progId="">
                  <p:embed/>
                </p:oleObj>
              </mc:Choice>
              <mc:Fallback>
                <p:oleObj name="think-cell Slide" r:id="rId4" imgW="360" imgH="36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p:nvPr>
        </p:nvSpPr>
        <p:spPr/>
        <p:txBody>
          <a:bodyPr/>
          <a:lstStyle>
            <a:lvl1pPr>
              <a:defRPr/>
            </a:lvl1pPr>
          </a:lstStyle>
          <a:p>
            <a:pPr lvl="0"/>
            <a:r>
              <a:rPr lang="en-US" noProof="0" smtClean="0"/>
              <a:t>Click to edit Master title style</a:t>
            </a:r>
            <a:endParaRPr lang="en-US" noProof="0" dirty="0"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One column slide - blue">
    <p:spTree>
      <p:nvGrpSpPr>
        <p:cNvPr id="1" name=""/>
        <p:cNvGrpSpPr/>
        <p:nvPr/>
      </p:nvGrpSpPr>
      <p:grpSpPr>
        <a:xfrm>
          <a:off x="0" y="0"/>
          <a:ext cx="0" cy="0"/>
          <a:chOff x="0" y="0"/>
          <a:chExt cx="0" cy="0"/>
        </a:xfrm>
      </p:grpSpPr>
      <p:sp>
        <p:nvSpPr>
          <p:cNvPr id="2" name="Titre 1"/>
          <p:cNvSpPr>
            <a:spLocks noGrp="1"/>
          </p:cNvSpPr>
          <p:nvPr>
            <p:ph type="title"/>
          </p:nvPr>
        </p:nvSpPr>
        <p:spPr>
          <a:xfrm>
            <a:off x="360000" y="357166"/>
            <a:ext cx="9126000" cy="369332"/>
          </a:xfrm>
        </p:spPr>
        <p:txBody>
          <a:bodyPr/>
          <a:lstStyle>
            <a:lvl1pPr>
              <a:defRPr>
                <a:solidFill>
                  <a:schemeClr val="accent2"/>
                </a:solidFill>
              </a:defRPr>
            </a:lvl1pPr>
          </a:lstStyle>
          <a:p>
            <a:r>
              <a:rPr lang="en-US" dirty="0" smtClean="0"/>
              <a:t>Click to edit Master title style</a:t>
            </a:r>
            <a:endParaRPr lang="en-US" dirty="0"/>
          </a:p>
        </p:txBody>
      </p:sp>
      <p:sp>
        <p:nvSpPr>
          <p:cNvPr id="3" name="Espace réservé du contenu 2"/>
          <p:cNvSpPr>
            <a:spLocks noGrp="1"/>
          </p:cNvSpPr>
          <p:nvPr>
            <p:ph idx="1"/>
          </p:nvPr>
        </p:nvSpPr>
        <p:spPr>
          <a:xfrm>
            <a:off x="360000" y="1142984"/>
            <a:ext cx="9126000" cy="4977016"/>
          </a:xfrm>
        </p:spPr>
        <p:txBody>
          <a:bodyPr/>
          <a:lstStyle>
            <a:lvl1pPr marL="0">
              <a:buSzPct val="100000"/>
              <a:defRPr>
                <a:solidFill>
                  <a:schemeClr val="tx1"/>
                </a:solidFill>
              </a:defRPr>
            </a:lvl1pPr>
            <a:lvl2pPr>
              <a:defRPr>
                <a:solidFill>
                  <a:schemeClr val="tx1"/>
                </a:solidFill>
              </a:defRPr>
            </a:lvl2pPr>
            <a:lvl3pPr>
              <a:defRPr>
                <a:solidFill>
                  <a:schemeClr val="tx1"/>
                </a:solidFill>
              </a:defRPr>
            </a:lvl3pPr>
          </a:lstStyle>
          <a:p>
            <a:pPr lvl="0"/>
            <a:r>
              <a:rPr lang="en-US" dirty="0" smtClean="0"/>
              <a:t>Click to edit Master text styles</a:t>
            </a:r>
          </a:p>
          <a:p>
            <a:pPr lvl="1"/>
            <a:r>
              <a:rPr lang="en-US" dirty="0" smtClean="0"/>
              <a:t>Second level</a:t>
            </a:r>
          </a:p>
          <a:p>
            <a:pPr lvl="2"/>
            <a:r>
              <a:rPr lang="en-US" dirty="0" smtClean="0"/>
              <a:t>Third level</a:t>
            </a:r>
          </a:p>
        </p:txBody>
      </p:sp>
    </p:spTree>
  </p:cSld>
  <p:clrMapOvr>
    <a:masterClrMapping/>
  </p:clrMapOvr>
  <p:transition advClick="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graphicFrame>
        <p:nvGraphicFramePr>
          <p:cNvPr id="337" name="Object 336"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1834"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 name="Rectangle 9"/>
          <p:cNvSpPr>
            <a:spLocks noChangeArrowheads="1"/>
          </p:cNvSpPr>
          <p:nvPr userDrawn="1">
            <p:custDataLst>
              <p:tags r:id="rId3"/>
            </p:custDataLst>
          </p:nvPr>
        </p:nvSpPr>
        <p:spPr bwMode="gray">
          <a:xfrm>
            <a:off x="1117963" y="34326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208" name="Image 337" descr="CBE_Label_ppt.png"/>
          <p:cNvPicPr>
            <a:picLocks noChangeAspect="1"/>
          </p:cNvPicPr>
          <p:nvPr userDrawn="1"/>
        </p:nvPicPr>
        <p:blipFill>
          <a:blip r:embed="rId7" cstate="screen"/>
          <a:stretch>
            <a:fillRect/>
          </a:stretch>
        </p:blipFill>
        <p:spPr>
          <a:xfrm>
            <a:off x="867725" y="3283811"/>
            <a:ext cx="519572" cy="522508"/>
          </a:xfrm>
          <a:prstGeom prst="rect">
            <a:avLst/>
          </a:prstGeom>
        </p:spPr>
      </p:pic>
      <p:grpSp>
        <p:nvGrpSpPr>
          <p:cNvPr id="75" name="Group 74"/>
          <p:cNvGrpSpPr/>
          <p:nvPr userDrawn="1"/>
        </p:nvGrpSpPr>
        <p:grpSpPr>
          <a:xfrm>
            <a:off x="5722379" y="3575705"/>
            <a:ext cx="3826121" cy="1827268"/>
            <a:chOff x="5722379" y="3575705"/>
            <a:chExt cx="3826121" cy="1827268"/>
          </a:xfrm>
        </p:grpSpPr>
        <p:grpSp>
          <p:nvGrpSpPr>
            <p:cNvPr id="77" name="Group 76"/>
            <p:cNvGrpSpPr/>
            <p:nvPr userDrawn="1"/>
          </p:nvGrpSpPr>
          <p:grpSpPr>
            <a:xfrm>
              <a:off x="5722379" y="3575705"/>
              <a:ext cx="3826121" cy="1827268"/>
              <a:chOff x="5722379" y="3575705"/>
              <a:chExt cx="3826121" cy="1827268"/>
            </a:xfrm>
          </p:grpSpPr>
          <p:grpSp>
            <p:nvGrpSpPr>
              <p:cNvPr id="187" name="Groupe 203"/>
              <p:cNvGrpSpPr/>
              <p:nvPr userDrawn="1"/>
            </p:nvGrpSpPr>
            <p:grpSpPr>
              <a:xfrm>
                <a:off x="5722379" y="3575705"/>
                <a:ext cx="3826121" cy="1827268"/>
                <a:chOff x="5421313" y="3175001"/>
                <a:chExt cx="4141788" cy="1978025"/>
              </a:xfrm>
              <a:noFill/>
            </p:grpSpPr>
            <p:sp>
              <p:nvSpPr>
                <p:cNvPr id="192" name="Freeform 6"/>
                <p:cNvSpPr>
                  <a:spLocks/>
                </p:cNvSpPr>
                <p:nvPr userDrawn="1"/>
              </p:nvSpPr>
              <p:spPr bwMode="auto">
                <a:xfrm>
                  <a:off x="6532563" y="3200401"/>
                  <a:ext cx="503238" cy="406400"/>
                </a:xfrm>
                <a:custGeom>
                  <a:avLst/>
                  <a:gdLst/>
                  <a:ahLst/>
                  <a:cxnLst>
                    <a:cxn ang="0">
                      <a:pos x="24" y="71"/>
                    </a:cxn>
                    <a:cxn ang="0">
                      <a:pos x="0" y="49"/>
                    </a:cxn>
                    <a:cxn ang="0">
                      <a:pos x="41" y="11"/>
                    </a:cxn>
                    <a:cxn ang="0">
                      <a:pos x="114" y="11"/>
                    </a:cxn>
                    <a:cxn ang="0">
                      <a:pos x="124" y="0"/>
                    </a:cxn>
                    <a:cxn ang="0">
                      <a:pos x="259" y="0"/>
                    </a:cxn>
                    <a:cxn ang="0">
                      <a:pos x="273" y="16"/>
                    </a:cxn>
                    <a:cxn ang="0">
                      <a:pos x="317" y="14"/>
                    </a:cxn>
                    <a:cxn ang="0">
                      <a:pos x="302" y="28"/>
                    </a:cxn>
                    <a:cxn ang="0">
                      <a:pos x="276" y="31"/>
                    </a:cxn>
                    <a:cxn ang="0">
                      <a:pos x="276" y="137"/>
                    </a:cxn>
                    <a:cxn ang="0">
                      <a:pos x="223" y="185"/>
                    </a:cxn>
                    <a:cxn ang="0">
                      <a:pos x="171" y="185"/>
                    </a:cxn>
                    <a:cxn ang="0">
                      <a:pos x="133" y="216"/>
                    </a:cxn>
                    <a:cxn ang="0">
                      <a:pos x="131" y="245"/>
                    </a:cxn>
                    <a:cxn ang="0">
                      <a:pos x="114" y="256"/>
                    </a:cxn>
                    <a:cxn ang="0">
                      <a:pos x="83" y="228"/>
                    </a:cxn>
                    <a:cxn ang="0">
                      <a:pos x="83" y="174"/>
                    </a:cxn>
                    <a:cxn ang="0">
                      <a:pos x="112" y="149"/>
                    </a:cxn>
                    <a:cxn ang="0">
                      <a:pos x="87" y="123"/>
                    </a:cxn>
                    <a:cxn ang="0">
                      <a:pos x="85" y="74"/>
                    </a:cxn>
                    <a:cxn ang="0">
                      <a:pos x="63" y="52"/>
                    </a:cxn>
                    <a:cxn ang="0">
                      <a:pos x="48" y="52"/>
                    </a:cxn>
                    <a:cxn ang="0">
                      <a:pos x="24" y="71"/>
                    </a:cxn>
                  </a:cxnLst>
                  <a:rect l="0" t="0" r="r" b="b"/>
                  <a:pathLst>
                    <a:path w="317" h="256">
                      <a:moveTo>
                        <a:pt x="24" y="71"/>
                      </a:moveTo>
                      <a:lnTo>
                        <a:pt x="0" y="49"/>
                      </a:lnTo>
                      <a:lnTo>
                        <a:pt x="41" y="11"/>
                      </a:lnTo>
                      <a:lnTo>
                        <a:pt x="114" y="11"/>
                      </a:lnTo>
                      <a:lnTo>
                        <a:pt x="124" y="0"/>
                      </a:lnTo>
                      <a:lnTo>
                        <a:pt x="259" y="0"/>
                      </a:lnTo>
                      <a:lnTo>
                        <a:pt x="273" y="16"/>
                      </a:lnTo>
                      <a:lnTo>
                        <a:pt x="317" y="14"/>
                      </a:lnTo>
                      <a:lnTo>
                        <a:pt x="302" y="28"/>
                      </a:lnTo>
                      <a:lnTo>
                        <a:pt x="276" y="31"/>
                      </a:lnTo>
                      <a:lnTo>
                        <a:pt x="276" y="137"/>
                      </a:lnTo>
                      <a:lnTo>
                        <a:pt x="223" y="185"/>
                      </a:lnTo>
                      <a:lnTo>
                        <a:pt x="171" y="185"/>
                      </a:lnTo>
                      <a:lnTo>
                        <a:pt x="133" y="216"/>
                      </a:lnTo>
                      <a:lnTo>
                        <a:pt x="131" y="245"/>
                      </a:lnTo>
                      <a:lnTo>
                        <a:pt x="114" y="256"/>
                      </a:lnTo>
                      <a:lnTo>
                        <a:pt x="83" y="228"/>
                      </a:lnTo>
                      <a:lnTo>
                        <a:pt x="83" y="174"/>
                      </a:lnTo>
                      <a:lnTo>
                        <a:pt x="112" y="149"/>
                      </a:lnTo>
                      <a:lnTo>
                        <a:pt x="87" y="123"/>
                      </a:lnTo>
                      <a:lnTo>
                        <a:pt x="85" y="74"/>
                      </a:lnTo>
                      <a:lnTo>
                        <a:pt x="63" y="52"/>
                      </a:lnTo>
                      <a:lnTo>
                        <a:pt x="48" y="52"/>
                      </a:lnTo>
                      <a:lnTo>
                        <a:pt x="24" y="71"/>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3" name="Freeform 7"/>
                <p:cNvSpPr>
                  <a:spLocks/>
                </p:cNvSpPr>
                <p:nvPr userDrawn="1"/>
              </p:nvSpPr>
              <p:spPr bwMode="auto">
                <a:xfrm>
                  <a:off x="6362701" y="3333751"/>
                  <a:ext cx="185738" cy="201613"/>
                </a:xfrm>
                <a:custGeom>
                  <a:avLst/>
                  <a:gdLst/>
                  <a:ahLst/>
                  <a:cxnLst>
                    <a:cxn ang="0">
                      <a:pos x="63" y="72"/>
                    </a:cxn>
                    <a:cxn ang="0">
                      <a:pos x="35" y="98"/>
                    </a:cxn>
                    <a:cxn ang="0">
                      <a:pos x="66" y="127"/>
                    </a:cxn>
                    <a:cxn ang="0">
                      <a:pos x="90" y="106"/>
                    </a:cxn>
                    <a:cxn ang="0">
                      <a:pos x="98" y="106"/>
                    </a:cxn>
                    <a:cxn ang="0">
                      <a:pos x="117" y="90"/>
                    </a:cxn>
                    <a:cxn ang="0">
                      <a:pos x="76" y="55"/>
                    </a:cxn>
                    <a:cxn ang="0">
                      <a:pos x="73" y="23"/>
                    </a:cxn>
                    <a:cxn ang="0">
                      <a:pos x="41" y="19"/>
                    </a:cxn>
                    <a:cxn ang="0">
                      <a:pos x="39" y="0"/>
                    </a:cxn>
                    <a:cxn ang="0">
                      <a:pos x="0" y="2"/>
                    </a:cxn>
                    <a:cxn ang="0">
                      <a:pos x="0" y="8"/>
                    </a:cxn>
                    <a:cxn ang="0">
                      <a:pos x="23" y="31"/>
                    </a:cxn>
                    <a:cxn ang="0">
                      <a:pos x="63" y="59"/>
                    </a:cxn>
                    <a:cxn ang="0">
                      <a:pos x="63" y="72"/>
                    </a:cxn>
                  </a:cxnLst>
                  <a:rect l="0" t="0" r="r" b="b"/>
                  <a:pathLst>
                    <a:path w="117" h="127">
                      <a:moveTo>
                        <a:pt x="63" y="72"/>
                      </a:moveTo>
                      <a:lnTo>
                        <a:pt x="35" y="98"/>
                      </a:lnTo>
                      <a:lnTo>
                        <a:pt x="66" y="127"/>
                      </a:lnTo>
                      <a:lnTo>
                        <a:pt x="90" y="106"/>
                      </a:lnTo>
                      <a:lnTo>
                        <a:pt x="98" y="106"/>
                      </a:lnTo>
                      <a:lnTo>
                        <a:pt x="117" y="90"/>
                      </a:lnTo>
                      <a:lnTo>
                        <a:pt x="76" y="55"/>
                      </a:lnTo>
                      <a:lnTo>
                        <a:pt x="73" y="23"/>
                      </a:lnTo>
                      <a:lnTo>
                        <a:pt x="41" y="19"/>
                      </a:lnTo>
                      <a:lnTo>
                        <a:pt x="39" y="0"/>
                      </a:lnTo>
                      <a:lnTo>
                        <a:pt x="0" y="2"/>
                      </a:lnTo>
                      <a:lnTo>
                        <a:pt x="0" y="8"/>
                      </a:lnTo>
                      <a:lnTo>
                        <a:pt x="23" y="31"/>
                      </a:lnTo>
                      <a:lnTo>
                        <a:pt x="63" y="59"/>
                      </a:lnTo>
                      <a:lnTo>
                        <a:pt x="63"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4" name="Freeform 8"/>
                <p:cNvSpPr>
                  <a:spLocks/>
                </p:cNvSpPr>
                <p:nvPr userDrawn="1"/>
              </p:nvSpPr>
              <p:spPr bwMode="auto">
                <a:xfrm>
                  <a:off x="6005513" y="3241676"/>
                  <a:ext cx="176213" cy="122238"/>
                </a:xfrm>
                <a:custGeom>
                  <a:avLst/>
                  <a:gdLst/>
                  <a:ahLst/>
                  <a:cxnLst>
                    <a:cxn ang="0">
                      <a:pos x="0" y="19"/>
                    </a:cxn>
                    <a:cxn ang="0">
                      <a:pos x="2" y="0"/>
                    </a:cxn>
                    <a:cxn ang="0">
                      <a:pos x="29" y="2"/>
                    </a:cxn>
                    <a:cxn ang="0">
                      <a:pos x="33" y="7"/>
                    </a:cxn>
                    <a:cxn ang="0">
                      <a:pos x="44" y="17"/>
                    </a:cxn>
                    <a:cxn ang="0">
                      <a:pos x="56" y="15"/>
                    </a:cxn>
                    <a:cxn ang="0">
                      <a:pos x="78" y="36"/>
                    </a:cxn>
                    <a:cxn ang="0">
                      <a:pos x="88" y="27"/>
                    </a:cxn>
                    <a:cxn ang="0">
                      <a:pos x="111" y="26"/>
                    </a:cxn>
                    <a:cxn ang="0">
                      <a:pos x="111" y="67"/>
                    </a:cxn>
                    <a:cxn ang="0">
                      <a:pos x="102" y="67"/>
                    </a:cxn>
                    <a:cxn ang="0">
                      <a:pos x="92" y="76"/>
                    </a:cxn>
                    <a:cxn ang="0">
                      <a:pos x="58" y="77"/>
                    </a:cxn>
                    <a:cxn ang="0">
                      <a:pos x="43" y="62"/>
                    </a:cxn>
                    <a:cxn ang="0">
                      <a:pos x="17" y="62"/>
                    </a:cxn>
                    <a:cxn ang="0">
                      <a:pos x="15" y="29"/>
                    </a:cxn>
                    <a:cxn ang="0">
                      <a:pos x="0" y="19"/>
                    </a:cxn>
                  </a:cxnLst>
                  <a:rect l="0" t="0" r="r" b="b"/>
                  <a:pathLst>
                    <a:path w="111" h="77">
                      <a:moveTo>
                        <a:pt x="0" y="19"/>
                      </a:moveTo>
                      <a:lnTo>
                        <a:pt x="2" y="0"/>
                      </a:lnTo>
                      <a:lnTo>
                        <a:pt x="29" y="2"/>
                      </a:lnTo>
                      <a:lnTo>
                        <a:pt x="33" y="7"/>
                      </a:lnTo>
                      <a:lnTo>
                        <a:pt x="44" y="17"/>
                      </a:lnTo>
                      <a:lnTo>
                        <a:pt x="56" y="15"/>
                      </a:lnTo>
                      <a:lnTo>
                        <a:pt x="78" y="36"/>
                      </a:lnTo>
                      <a:lnTo>
                        <a:pt x="88" y="27"/>
                      </a:lnTo>
                      <a:lnTo>
                        <a:pt x="111" y="26"/>
                      </a:lnTo>
                      <a:lnTo>
                        <a:pt x="111" y="67"/>
                      </a:lnTo>
                      <a:lnTo>
                        <a:pt x="102" y="67"/>
                      </a:lnTo>
                      <a:lnTo>
                        <a:pt x="92" y="76"/>
                      </a:lnTo>
                      <a:lnTo>
                        <a:pt x="58" y="77"/>
                      </a:lnTo>
                      <a:lnTo>
                        <a:pt x="43" y="62"/>
                      </a:lnTo>
                      <a:lnTo>
                        <a:pt x="17" y="62"/>
                      </a:lnTo>
                      <a:lnTo>
                        <a:pt x="15" y="29"/>
                      </a:lnTo>
                      <a:lnTo>
                        <a:pt x="0" y="19"/>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5" name="Freeform 9"/>
                <p:cNvSpPr>
                  <a:spLocks/>
                </p:cNvSpPr>
                <p:nvPr userDrawn="1"/>
              </p:nvSpPr>
              <p:spPr bwMode="auto">
                <a:xfrm>
                  <a:off x="5421313" y="3175001"/>
                  <a:ext cx="1276350" cy="1889125"/>
                </a:xfrm>
                <a:custGeom>
                  <a:avLst/>
                  <a:gdLst/>
                  <a:ahLst/>
                  <a:cxnLst>
                    <a:cxn ang="0">
                      <a:pos x="618" y="1172"/>
                    </a:cxn>
                    <a:cxn ang="0">
                      <a:pos x="618" y="1132"/>
                    </a:cxn>
                    <a:cxn ang="0">
                      <a:pos x="596" y="1057"/>
                    </a:cxn>
                    <a:cxn ang="0">
                      <a:pos x="628" y="1002"/>
                    </a:cxn>
                    <a:cxn ang="0">
                      <a:pos x="728" y="918"/>
                    </a:cxn>
                    <a:cxn ang="0">
                      <a:pos x="783" y="840"/>
                    </a:cxn>
                    <a:cxn ang="0">
                      <a:pos x="738" y="789"/>
                    </a:cxn>
                    <a:cxn ang="0">
                      <a:pos x="637" y="728"/>
                    </a:cxn>
                    <a:cxn ang="0">
                      <a:pos x="581" y="687"/>
                    </a:cxn>
                    <a:cxn ang="0">
                      <a:pos x="509" y="661"/>
                    </a:cxn>
                    <a:cxn ang="0">
                      <a:pos x="454" y="683"/>
                    </a:cxn>
                    <a:cxn ang="0">
                      <a:pos x="407" y="677"/>
                    </a:cxn>
                    <a:cxn ang="0">
                      <a:pos x="385" y="623"/>
                    </a:cxn>
                    <a:cxn ang="0">
                      <a:pos x="381" y="587"/>
                    </a:cxn>
                    <a:cxn ang="0">
                      <a:pos x="295" y="587"/>
                    </a:cxn>
                    <a:cxn ang="0">
                      <a:pos x="329" y="517"/>
                    </a:cxn>
                    <a:cxn ang="0">
                      <a:pos x="465" y="553"/>
                    </a:cxn>
                    <a:cxn ang="0">
                      <a:pos x="554" y="407"/>
                    </a:cxn>
                    <a:cxn ang="0">
                      <a:pos x="637" y="389"/>
                    </a:cxn>
                    <a:cxn ang="0">
                      <a:pos x="591" y="366"/>
                    </a:cxn>
                    <a:cxn ang="0">
                      <a:pos x="698" y="343"/>
                    </a:cxn>
                    <a:cxn ang="0">
                      <a:pos x="677" y="259"/>
                    </a:cxn>
                    <a:cxn ang="0">
                      <a:pos x="565" y="258"/>
                    </a:cxn>
                    <a:cxn ang="0">
                      <a:pos x="491" y="276"/>
                    </a:cxn>
                    <a:cxn ang="0">
                      <a:pos x="491" y="203"/>
                    </a:cxn>
                    <a:cxn ang="0">
                      <a:pos x="585" y="162"/>
                    </a:cxn>
                    <a:cxn ang="0">
                      <a:pos x="544" y="110"/>
                    </a:cxn>
                    <a:cxn ang="0">
                      <a:pos x="511" y="159"/>
                    </a:cxn>
                    <a:cxn ang="0">
                      <a:pos x="334" y="65"/>
                    </a:cxn>
                    <a:cxn ang="0">
                      <a:pos x="184" y="16"/>
                    </a:cxn>
                    <a:cxn ang="0">
                      <a:pos x="136" y="0"/>
                    </a:cxn>
                    <a:cxn ang="0">
                      <a:pos x="63" y="51"/>
                    </a:cxn>
                    <a:cxn ang="0">
                      <a:pos x="27" y="159"/>
                    </a:cxn>
                    <a:cxn ang="0">
                      <a:pos x="53" y="153"/>
                    </a:cxn>
                    <a:cxn ang="0">
                      <a:pos x="170" y="170"/>
                    </a:cxn>
                    <a:cxn ang="0">
                      <a:pos x="192" y="339"/>
                    </a:cxn>
                    <a:cxn ang="0">
                      <a:pos x="176" y="454"/>
                    </a:cxn>
                    <a:cxn ang="0">
                      <a:pos x="199" y="493"/>
                    </a:cxn>
                    <a:cxn ang="0">
                      <a:pos x="270" y="608"/>
                    </a:cxn>
                    <a:cxn ang="0">
                      <a:pos x="327" y="634"/>
                    </a:cxn>
                    <a:cxn ang="0">
                      <a:pos x="385" y="677"/>
                    </a:cxn>
                    <a:cxn ang="0">
                      <a:pos x="465" y="738"/>
                    </a:cxn>
                    <a:cxn ang="0">
                      <a:pos x="468" y="806"/>
                    </a:cxn>
                    <a:cxn ang="0">
                      <a:pos x="503" y="873"/>
                    </a:cxn>
                    <a:cxn ang="0">
                      <a:pos x="550" y="943"/>
                    </a:cxn>
                    <a:cxn ang="0">
                      <a:pos x="620" y="1190"/>
                    </a:cxn>
                  </a:cxnLst>
                  <a:rect l="0" t="0" r="r" b="b"/>
                  <a:pathLst>
                    <a:path w="804" h="1190">
                      <a:moveTo>
                        <a:pt x="620" y="1190"/>
                      </a:moveTo>
                      <a:lnTo>
                        <a:pt x="634" y="1190"/>
                      </a:lnTo>
                      <a:lnTo>
                        <a:pt x="618" y="1172"/>
                      </a:lnTo>
                      <a:lnTo>
                        <a:pt x="596" y="1162"/>
                      </a:lnTo>
                      <a:lnTo>
                        <a:pt x="599" y="1147"/>
                      </a:lnTo>
                      <a:lnTo>
                        <a:pt x="618" y="1132"/>
                      </a:lnTo>
                      <a:lnTo>
                        <a:pt x="622" y="1120"/>
                      </a:lnTo>
                      <a:lnTo>
                        <a:pt x="596" y="1109"/>
                      </a:lnTo>
                      <a:lnTo>
                        <a:pt x="596" y="1057"/>
                      </a:lnTo>
                      <a:lnTo>
                        <a:pt x="632" y="1023"/>
                      </a:lnTo>
                      <a:lnTo>
                        <a:pt x="644" y="1021"/>
                      </a:lnTo>
                      <a:lnTo>
                        <a:pt x="628" y="1002"/>
                      </a:lnTo>
                      <a:lnTo>
                        <a:pt x="669" y="998"/>
                      </a:lnTo>
                      <a:lnTo>
                        <a:pt x="728" y="953"/>
                      </a:lnTo>
                      <a:lnTo>
                        <a:pt x="728" y="918"/>
                      </a:lnTo>
                      <a:lnTo>
                        <a:pt x="765" y="917"/>
                      </a:lnTo>
                      <a:lnTo>
                        <a:pt x="763" y="849"/>
                      </a:lnTo>
                      <a:lnTo>
                        <a:pt x="783" y="840"/>
                      </a:lnTo>
                      <a:lnTo>
                        <a:pt x="804" y="818"/>
                      </a:lnTo>
                      <a:lnTo>
                        <a:pt x="804" y="792"/>
                      </a:lnTo>
                      <a:lnTo>
                        <a:pt x="738" y="789"/>
                      </a:lnTo>
                      <a:lnTo>
                        <a:pt x="685" y="739"/>
                      </a:lnTo>
                      <a:lnTo>
                        <a:pt x="657" y="728"/>
                      </a:lnTo>
                      <a:lnTo>
                        <a:pt x="637" y="728"/>
                      </a:lnTo>
                      <a:lnTo>
                        <a:pt x="608" y="702"/>
                      </a:lnTo>
                      <a:lnTo>
                        <a:pt x="599" y="703"/>
                      </a:lnTo>
                      <a:lnTo>
                        <a:pt x="581" y="687"/>
                      </a:lnTo>
                      <a:lnTo>
                        <a:pt x="538" y="685"/>
                      </a:lnTo>
                      <a:lnTo>
                        <a:pt x="538" y="664"/>
                      </a:lnTo>
                      <a:lnTo>
                        <a:pt x="509" y="661"/>
                      </a:lnTo>
                      <a:lnTo>
                        <a:pt x="491" y="669"/>
                      </a:lnTo>
                      <a:lnTo>
                        <a:pt x="479" y="685"/>
                      </a:lnTo>
                      <a:lnTo>
                        <a:pt x="454" y="683"/>
                      </a:lnTo>
                      <a:lnTo>
                        <a:pt x="426" y="683"/>
                      </a:lnTo>
                      <a:lnTo>
                        <a:pt x="417" y="687"/>
                      </a:lnTo>
                      <a:lnTo>
                        <a:pt x="407" y="677"/>
                      </a:lnTo>
                      <a:lnTo>
                        <a:pt x="405" y="635"/>
                      </a:lnTo>
                      <a:lnTo>
                        <a:pt x="387" y="634"/>
                      </a:lnTo>
                      <a:lnTo>
                        <a:pt x="385" y="623"/>
                      </a:lnTo>
                      <a:lnTo>
                        <a:pt x="407" y="606"/>
                      </a:lnTo>
                      <a:lnTo>
                        <a:pt x="407" y="589"/>
                      </a:lnTo>
                      <a:lnTo>
                        <a:pt x="381" y="587"/>
                      </a:lnTo>
                      <a:lnTo>
                        <a:pt x="358" y="606"/>
                      </a:lnTo>
                      <a:lnTo>
                        <a:pt x="319" y="606"/>
                      </a:lnTo>
                      <a:lnTo>
                        <a:pt x="295" y="587"/>
                      </a:lnTo>
                      <a:lnTo>
                        <a:pt x="293" y="544"/>
                      </a:lnTo>
                      <a:lnTo>
                        <a:pt x="327" y="544"/>
                      </a:lnTo>
                      <a:lnTo>
                        <a:pt x="329" y="517"/>
                      </a:lnTo>
                      <a:lnTo>
                        <a:pt x="448" y="515"/>
                      </a:lnTo>
                      <a:lnTo>
                        <a:pt x="452" y="554"/>
                      </a:lnTo>
                      <a:lnTo>
                        <a:pt x="465" y="553"/>
                      </a:lnTo>
                      <a:lnTo>
                        <a:pt x="465" y="497"/>
                      </a:lnTo>
                      <a:lnTo>
                        <a:pt x="552" y="425"/>
                      </a:lnTo>
                      <a:lnTo>
                        <a:pt x="554" y="407"/>
                      </a:lnTo>
                      <a:lnTo>
                        <a:pt x="608" y="405"/>
                      </a:lnTo>
                      <a:lnTo>
                        <a:pt x="613" y="413"/>
                      </a:lnTo>
                      <a:lnTo>
                        <a:pt x="637" y="389"/>
                      </a:lnTo>
                      <a:lnTo>
                        <a:pt x="636" y="374"/>
                      </a:lnTo>
                      <a:lnTo>
                        <a:pt x="591" y="376"/>
                      </a:lnTo>
                      <a:lnTo>
                        <a:pt x="591" y="366"/>
                      </a:lnTo>
                      <a:lnTo>
                        <a:pt x="613" y="353"/>
                      </a:lnTo>
                      <a:lnTo>
                        <a:pt x="625" y="341"/>
                      </a:lnTo>
                      <a:lnTo>
                        <a:pt x="698" y="343"/>
                      </a:lnTo>
                      <a:lnTo>
                        <a:pt x="698" y="321"/>
                      </a:lnTo>
                      <a:lnTo>
                        <a:pt x="679" y="304"/>
                      </a:lnTo>
                      <a:lnTo>
                        <a:pt x="677" y="259"/>
                      </a:lnTo>
                      <a:lnTo>
                        <a:pt x="622" y="259"/>
                      </a:lnTo>
                      <a:lnTo>
                        <a:pt x="591" y="233"/>
                      </a:lnTo>
                      <a:lnTo>
                        <a:pt x="565" y="258"/>
                      </a:lnTo>
                      <a:lnTo>
                        <a:pt x="562" y="290"/>
                      </a:lnTo>
                      <a:lnTo>
                        <a:pt x="509" y="292"/>
                      </a:lnTo>
                      <a:lnTo>
                        <a:pt x="491" y="276"/>
                      </a:lnTo>
                      <a:lnTo>
                        <a:pt x="462" y="278"/>
                      </a:lnTo>
                      <a:lnTo>
                        <a:pt x="460" y="233"/>
                      </a:lnTo>
                      <a:lnTo>
                        <a:pt x="491" y="203"/>
                      </a:lnTo>
                      <a:lnTo>
                        <a:pt x="532" y="201"/>
                      </a:lnTo>
                      <a:lnTo>
                        <a:pt x="544" y="196"/>
                      </a:lnTo>
                      <a:lnTo>
                        <a:pt x="585" y="162"/>
                      </a:lnTo>
                      <a:lnTo>
                        <a:pt x="585" y="141"/>
                      </a:lnTo>
                      <a:lnTo>
                        <a:pt x="546" y="139"/>
                      </a:lnTo>
                      <a:lnTo>
                        <a:pt x="544" y="110"/>
                      </a:lnTo>
                      <a:lnTo>
                        <a:pt x="523" y="110"/>
                      </a:lnTo>
                      <a:lnTo>
                        <a:pt x="526" y="149"/>
                      </a:lnTo>
                      <a:lnTo>
                        <a:pt x="511" y="159"/>
                      </a:lnTo>
                      <a:lnTo>
                        <a:pt x="426" y="162"/>
                      </a:lnTo>
                      <a:lnTo>
                        <a:pt x="334" y="83"/>
                      </a:lnTo>
                      <a:lnTo>
                        <a:pt x="334" y="65"/>
                      </a:lnTo>
                      <a:lnTo>
                        <a:pt x="272" y="61"/>
                      </a:lnTo>
                      <a:lnTo>
                        <a:pt x="250" y="75"/>
                      </a:lnTo>
                      <a:lnTo>
                        <a:pt x="184" y="16"/>
                      </a:lnTo>
                      <a:lnTo>
                        <a:pt x="172" y="15"/>
                      </a:lnTo>
                      <a:lnTo>
                        <a:pt x="158" y="0"/>
                      </a:lnTo>
                      <a:lnTo>
                        <a:pt x="136" y="0"/>
                      </a:lnTo>
                      <a:lnTo>
                        <a:pt x="117" y="15"/>
                      </a:lnTo>
                      <a:lnTo>
                        <a:pt x="63" y="16"/>
                      </a:lnTo>
                      <a:lnTo>
                        <a:pt x="63" y="51"/>
                      </a:lnTo>
                      <a:lnTo>
                        <a:pt x="8" y="98"/>
                      </a:lnTo>
                      <a:lnTo>
                        <a:pt x="8" y="141"/>
                      </a:lnTo>
                      <a:lnTo>
                        <a:pt x="27" y="159"/>
                      </a:lnTo>
                      <a:lnTo>
                        <a:pt x="0" y="186"/>
                      </a:lnTo>
                      <a:lnTo>
                        <a:pt x="8" y="191"/>
                      </a:lnTo>
                      <a:lnTo>
                        <a:pt x="53" y="153"/>
                      </a:lnTo>
                      <a:lnTo>
                        <a:pt x="127" y="151"/>
                      </a:lnTo>
                      <a:lnTo>
                        <a:pt x="131" y="170"/>
                      </a:lnTo>
                      <a:lnTo>
                        <a:pt x="170" y="170"/>
                      </a:lnTo>
                      <a:lnTo>
                        <a:pt x="170" y="232"/>
                      </a:lnTo>
                      <a:lnTo>
                        <a:pt x="194" y="253"/>
                      </a:lnTo>
                      <a:lnTo>
                        <a:pt x="192" y="339"/>
                      </a:lnTo>
                      <a:lnTo>
                        <a:pt x="158" y="368"/>
                      </a:lnTo>
                      <a:lnTo>
                        <a:pt x="162" y="439"/>
                      </a:lnTo>
                      <a:lnTo>
                        <a:pt x="176" y="454"/>
                      </a:lnTo>
                      <a:lnTo>
                        <a:pt x="176" y="517"/>
                      </a:lnTo>
                      <a:lnTo>
                        <a:pt x="197" y="534"/>
                      </a:lnTo>
                      <a:lnTo>
                        <a:pt x="199" y="493"/>
                      </a:lnTo>
                      <a:lnTo>
                        <a:pt x="223" y="512"/>
                      </a:lnTo>
                      <a:lnTo>
                        <a:pt x="225" y="563"/>
                      </a:lnTo>
                      <a:lnTo>
                        <a:pt x="270" y="608"/>
                      </a:lnTo>
                      <a:lnTo>
                        <a:pt x="278" y="606"/>
                      </a:lnTo>
                      <a:lnTo>
                        <a:pt x="303" y="631"/>
                      </a:lnTo>
                      <a:lnTo>
                        <a:pt x="327" y="634"/>
                      </a:lnTo>
                      <a:lnTo>
                        <a:pt x="337" y="640"/>
                      </a:lnTo>
                      <a:lnTo>
                        <a:pt x="383" y="645"/>
                      </a:lnTo>
                      <a:lnTo>
                        <a:pt x="385" y="677"/>
                      </a:lnTo>
                      <a:lnTo>
                        <a:pt x="407" y="691"/>
                      </a:lnTo>
                      <a:lnTo>
                        <a:pt x="463" y="697"/>
                      </a:lnTo>
                      <a:lnTo>
                        <a:pt x="465" y="738"/>
                      </a:lnTo>
                      <a:lnTo>
                        <a:pt x="450" y="746"/>
                      </a:lnTo>
                      <a:lnTo>
                        <a:pt x="424" y="769"/>
                      </a:lnTo>
                      <a:lnTo>
                        <a:pt x="468" y="806"/>
                      </a:lnTo>
                      <a:lnTo>
                        <a:pt x="482" y="808"/>
                      </a:lnTo>
                      <a:lnTo>
                        <a:pt x="479" y="855"/>
                      </a:lnTo>
                      <a:lnTo>
                        <a:pt x="503" y="873"/>
                      </a:lnTo>
                      <a:lnTo>
                        <a:pt x="524" y="890"/>
                      </a:lnTo>
                      <a:lnTo>
                        <a:pt x="526" y="922"/>
                      </a:lnTo>
                      <a:lnTo>
                        <a:pt x="550" y="943"/>
                      </a:lnTo>
                      <a:lnTo>
                        <a:pt x="552" y="1135"/>
                      </a:lnTo>
                      <a:lnTo>
                        <a:pt x="587" y="1166"/>
                      </a:lnTo>
                      <a:lnTo>
                        <a:pt x="620" y="119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6" name="Freeform 10"/>
                <p:cNvSpPr>
                  <a:spLocks/>
                </p:cNvSpPr>
                <p:nvPr userDrawn="1"/>
              </p:nvSpPr>
              <p:spPr bwMode="auto">
                <a:xfrm>
                  <a:off x="7072313" y="3178176"/>
                  <a:ext cx="2179638" cy="1611313"/>
                </a:xfrm>
                <a:custGeom>
                  <a:avLst/>
                  <a:gdLst/>
                  <a:ahLst/>
                  <a:cxnLst>
                    <a:cxn ang="0">
                      <a:pos x="1125" y="471"/>
                    </a:cxn>
                    <a:cxn ang="0">
                      <a:pos x="1145" y="382"/>
                    </a:cxn>
                    <a:cxn ang="0">
                      <a:pos x="1111" y="261"/>
                    </a:cxn>
                    <a:cxn ang="0">
                      <a:pos x="1191" y="174"/>
                    </a:cxn>
                    <a:cxn ang="0">
                      <a:pos x="1237" y="107"/>
                    </a:cxn>
                    <a:cxn ang="0">
                      <a:pos x="1237" y="220"/>
                    </a:cxn>
                    <a:cxn ang="0">
                      <a:pos x="1266" y="202"/>
                    </a:cxn>
                    <a:cxn ang="0">
                      <a:pos x="1322" y="81"/>
                    </a:cxn>
                    <a:cxn ang="0">
                      <a:pos x="1291" y="47"/>
                    </a:cxn>
                    <a:cxn ang="0">
                      <a:pos x="1341" y="41"/>
                    </a:cxn>
                    <a:cxn ang="0">
                      <a:pos x="1344" y="0"/>
                    </a:cxn>
                    <a:cxn ang="0">
                      <a:pos x="1213" y="35"/>
                    </a:cxn>
                    <a:cxn ang="0">
                      <a:pos x="1109" y="14"/>
                    </a:cxn>
                    <a:cxn ang="0">
                      <a:pos x="910" y="65"/>
                    </a:cxn>
                    <a:cxn ang="0">
                      <a:pos x="864" y="49"/>
                    </a:cxn>
                    <a:cxn ang="0">
                      <a:pos x="733" y="81"/>
                    </a:cxn>
                    <a:cxn ang="0">
                      <a:pos x="749" y="41"/>
                    </a:cxn>
                    <a:cxn ang="0">
                      <a:pos x="632" y="108"/>
                    </a:cxn>
                    <a:cxn ang="0">
                      <a:pos x="566" y="172"/>
                    </a:cxn>
                    <a:cxn ang="0">
                      <a:pos x="455" y="204"/>
                    </a:cxn>
                    <a:cxn ang="0">
                      <a:pos x="375" y="252"/>
                    </a:cxn>
                    <a:cxn ang="0">
                      <a:pos x="377" y="204"/>
                    </a:cxn>
                    <a:cxn ang="0">
                      <a:pos x="230" y="227"/>
                    </a:cxn>
                    <a:cxn ang="0">
                      <a:pos x="184" y="274"/>
                    </a:cxn>
                    <a:cxn ang="0">
                      <a:pos x="234" y="336"/>
                    </a:cxn>
                    <a:cxn ang="0">
                      <a:pos x="299" y="239"/>
                    </a:cxn>
                    <a:cxn ang="0">
                      <a:pos x="258" y="346"/>
                    </a:cxn>
                    <a:cxn ang="0">
                      <a:pos x="219" y="348"/>
                    </a:cxn>
                    <a:cxn ang="0">
                      <a:pos x="119" y="404"/>
                    </a:cxn>
                    <a:cxn ang="0">
                      <a:pos x="82" y="450"/>
                    </a:cxn>
                    <a:cxn ang="0">
                      <a:pos x="138" y="489"/>
                    </a:cxn>
                    <a:cxn ang="0">
                      <a:pos x="217" y="474"/>
                    </a:cxn>
                    <a:cxn ang="0">
                      <a:pos x="261" y="491"/>
                    </a:cxn>
                    <a:cxn ang="0">
                      <a:pos x="227" y="442"/>
                    </a:cxn>
                    <a:cxn ang="0">
                      <a:pos x="346" y="458"/>
                    </a:cxn>
                    <a:cxn ang="0">
                      <a:pos x="432" y="438"/>
                    </a:cxn>
                    <a:cxn ang="0">
                      <a:pos x="356" y="481"/>
                    </a:cxn>
                    <a:cxn ang="0">
                      <a:pos x="432" y="522"/>
                    </a:cxn>
                    <a:cxn ang="0">
                      <a:pos x="299" y="534"/>
                    </a:cxn>
                    <a:cxn ang="0">
                      <a:pos x="82" y="520"/>
                    </a:cxn>
                    <a:cxn ang="0">
                      <a:pos x="21" y="597"/>
                    </a:cxn>
                    <a:cxn ang="0">
                      <a:pos x="109" y="739"/>
                    </a:cxn>
                    <a:cxn ang="0">
                      <a:pos x="217" y="756"/>
                    </a:cxn>
                    <a:cxn ang="0">
                      <a:pos x="276" y="998"/>
                    </a:cxn>
                    <a:cxn ang="0">
                      <a:pos x="379" y="974"/>
                    </a:cxn>
                    <a:cxn ang="0">
                      <a:pos x="426" y="904"/>
                    </a:cxn>
                    <a:cxn ang="0">
                      <a:pos x="446" y="828"/>
                    </a:cxn>
                    <a:cxn ang="0">
                      <a:pos x="477" y="638"/>
                    </a:cxn>
                    <a:cxn ang="0">
                      <a:pos x="423" y="563"/>
                    </a:cxn>
                    <a:cxn ang="0">
                      <a:pos x="571" y="657"/>
                    </a:cxn>
                    <a:cxn ang="0">
                      <a:pos x="563" y="587"/>
                    </a:cxn>
                    <a:cxn ang="0">
                      <a:pos x="554" y="539"/>
                    </a:cxn>
                    <a:cxn ang="0">
                      <a:pos x="722" y="652"/>
                    </a:cxn>
                    <a:cxn ang="0">
                      <a:pos x="841" y="601"/>
                    </a:cxn>
                    <a:cxn ang="0">
                      <a:pos x="941" y="703"/>
                    </a:cxn>
                    <a:cxn ang="0">
                      <a:pos x="998" y="730"/>
                    </a:cxn>
                    <a:cxn ang="0">
                      <a:pos x="995" y="695"/>
                    </a:cxn>
                    <a:cxn ang="0">
                      <a:pos x="1027" y="650"/>
                    </a:cxn>
                    <a:cxn ang="0">
                      <a:pos x="980" y="602"/>
                    </a:cxn>
                    <a:cxn ang="0">
                      <a:pos x="1099" y="495"/>
                    </a:cxn>
                    <a:cxn ang="0">
                      <a:pos x="1062" y="444"/>
                    </a:cxn>
                    <a:cxn ang="0">
                      <a:pos x="1029" y="423"/>
                    </a:cxn>
                  </a:cxnLst>
                  <a:rect l="0" t="0" r="r" b="b"/>
                  <a:pathLst>
                    <a:path w="1373" h="1015">
                      <a:moveTo>
                        <a:pt x="1066" y="397"/>
                      </a:moveTo>
                      <a:lnTo>
                        <a:pt x="1125" y="450"/>
                      </a:lnTo>
                      <a:lnTo>
                        <a:pt x="1113" y="466"/>
                      </a:lnTo>
                      <a:lnTo>
                        <a:pt x="1125" y="471"/>
                      </a:lnTo>
                      <a:lnTo>
                        <a:pt x="1147" y="450"/>
                      </a:lnTo>
                      <a:lnTo>
                        <a:pt x="1119" y="425"/>
                      </a:lnTo>
                      <a:lnTo>
                        <a:pt x="1117" y="384"/>
                      </a:lnTo>
                      <a:lnTo>
                        <a:pt x="1145" y="382"/>
                      </a:lnTo>
                      <a:lnTo>
                        <a:pt x="1147" y="348"/>
                      </a:lnTo>
                      <a:lnTo>
                        <a:pt x="1129" y="334"/>
                      </a:lnTo>
                      <a:lnTo>
                        <a:pt x="1129" y="276"/>
                      </a:lnTo>
                      <a:lnTo>
                        <a:pt x="1111" y="261"/>
                      </a:lnTo>
                      <a:lnTo>
                        <a:pt x="1111" y="201"/>
                      </a:lnTo>
                      <a:lnTo>
                        <a:pt x="1145" y="180"/>
                      </a:lnTo>
                      <a:lnTo>
                        <a:pt x="1168" y="189"/>
                      </a:lnTo>
                      <a:lnTo>
                        <a:pt x="1191" y="174"/>
                      </a:lnTo>
                      <a:lnTo>
                        <a:pt x="1189" y="151"/>
                      </a:lnTo>
                      <a:lnTo>
                        <a:pt x="1205" y="148"/>
                      </a:lnTo>
                      <a:lnTo>
                        <a:pt x="1209" y="108"/>
                      </a:lnTo>
                      <a:lnTo>
                        <a:pt x="1237" y="107"/>
                      </a:lnTo>
                      <a:lnTo>
                        <a:pt x="1237" y="168"/>
                      </a:lnTo>
                      <a:lnTo>
                        <a:pt x="1223" y="172"/>
                      </a:lnTo>
                      <a:lnTo>
                        <a:pt x="1221" y="202"/>
                      </a:lnTo>
                      <a:lnTo>
                        <a:pt x="1237" y="220"/>
                      </a:lnTo>
                      <a:lnTo>
                        <a:pt x="1250" y="220"/>
                      </a:lnTo>
                      <a:lnTo>
                        <a:pt x="1250" y="247"/>
                      </a:lnTo>
                      <a:lnTo>
                        <a:pt x="1266" y="256"/>
                      </a:lnTo>
                      <a:lnTo>
                        <a:pt x="1266" y="202"/>
                      </a:lnTo>
                      <a:lnTo>
                        <a:pt x="1250" y="190"/>
                      </a:lnTo>
                      <a:lnTo>
                        <a:pt x="1249" y="141"/>
                      </a:lnTo>
                      <a:lnTo>
                        <a:pt x="1266" y="127"/>
                      </a:lnTo>
                      <a:lnTo>
                        <a:pt x="1322" y="81"/>
                      </a:lnTo>
                      <a:lnTo>
                        <a:pt x="1295" y="78"/>
                      </a:lnTo>
                      <a:lnTo>
                        <a:pt x="1291" y="66"/>
                      </a:lnTo>
                      <a:lnTo>
                        <a:pt x="1305" y="59"/>
                      </a:lnTo>
                      <a:lnTo>
                        <a:pt x="1291" y="47"/>
                      </a:lnTo>
                      <a:lnTo>
                        <a:pt x="1295" y="39"/>
                      </a:lnTo>
                      <a:lnTo>
                        <a:pt x="1307" y="25"/>
                      </a:lnTo>
                      <a:lnTo>
                        <a:pt x="1322" y="23"/>
                      </a:lnTo>
                      <a:lnTo>
                        <a:pt x="1341" y="41"/>
                      </a:lnTo>
                      <a:lnTo>
                        <a:pt x="1352" y="34"/>
                      </a:lnTo>
                      <a:lnTo>
                        <a:pt x="1360" y="37"/>
                      </a:lnTo>
                      <a:lnTo>
                        <a:pt x="1373" y="23"/>
                      </a:lnTo>
                      <a:lnTo>
                        <a:pt x="1344" y="0"/>
                      </a:lnTo>
                      <a:lnTo>
                        <a:pt x="1215" y="0"/>
                      </a:lnTo>
                      <a:lnTo>
                        <a:pt x="1205" y="13"/>
                      </a:lnTo>
                      <a:lnTo>
                        <a:pt x="1217" y="28"/>
                      </a:lnTo>
                      <a:lnTo>
                        <a:pt x="1213" y="35"/>
                      </a:lnTo>
                      <a:lnTo>
                        <a:pt x="1147" y="37"/>
                      </a:lnTo>
                      <a:lnTo>
                        <a:pt x="1129" y="22"/>
                      </a:lnTo>
                      <a:lnTo>
                        <a:pt x="1119" y="22"/>
                      </a:lnTo>
                      <a:lnTo>
                        <a:pt x="1109" y="14"/>
                      </a:lnTo>
                      <a:lnTo>
                        <a:pt x="1096" y="30"/>
                      </a:lnTo>
                      <a:lnTo>
                        <a:pt x="995" y="32"/>
                      </a:lnTo>
                      <a:lnTo>
                        <a:pt x="956" y="67"/>
                      </a:lnTo>
                      <a:lnTo>
                        <a:pt x="910" y="65"/>
                      </a:lnTo>
                      <a:lnTo>
                        <a:pt x="908" y="44"/>
                      </a:lnTo>
                      <a:lnTo>
                        <a:pt x="882" y="42"/>
                      </a:lnTo>
                      <a:lnTo>
                        <a:pt x="874" y="51"/>
                      </a:lnTo>
                      <a:lnTo>
                        <a:pt x="864" y="49"/>
                      </a:lnTo>
                      <a:lnTo>
                        <a:pt x="862" y="55"/>
                      </a:lnTo>
                      <a:lnTo>
                        <a:pt x="818" y="55"/>
                      </a:lnTo>
                      <a:lnTo>
                        <a:pt x="765" y="104"/>
                      </a:lnTo>
                      <a:lnTo>
                        <a:pt x="733" y="81"/>
                      </a:lnTo>
                      <a:lnTo>
                        <a:pt x="751" y="66"/>
                      </a:lnTo>
                      <a:lnTo>
                        <a:pt x="759" y="66"/>
                      </a:lnTo>
                      <a:lnTo>
                        <a:pt x="784" y="41"/>
                      </a:lnTo>
                      <a:lnTo>
                        <a:pt x="749" y="41"/>
                      </a:lnTo>
                      <a:lnTo>
                        <a:pt x="729" y="30"/>
                      </a:lnTo>
                      <a:lnTo>
                        <a:pt x="665" y="86"/>
                      </a:lnTo>
                      <a:lnTo>
                        <a:pt x="655" y="83"/>
                      </a:lnTo>
                      <a:lnTo>
                        <a:pt x="632" y="108"/>
                      </a:lnTo>
                      <a:lnTo>
                        <a:pt x="630" y="143"/>
                      </a:lnTo>
                      <a:lnTo>
                        <a:pt x="569" y="145"/>
                      </a:lnTo>
                      <a:lnTo>
                        <a:pt x="554" y="160"/>
                      </a:lnTo>
                      <a:lnTo>
                        <a:pt x="566" y="172"/>
                      </a:lnTo>
                      <a:lnTo>
                        <a:pt x="563" y="178"/>
                      </a:lnTo>
                      <a:lnTo>
                        <a:pt x="528" y="180"/>
                      </a:lnTo>
                      <a:lnTo>
                        <a:pt x="501" y="199"/>
                      </a:lnTo>
                      <a:lnTo>
                        <a:pt x="455" y="204"/>
                      </a:lnTo>
                      <a:lnTo>
                        <a:pt x="452" y="227"/>
                      </a:lnTo>
                      <a:lnTo>
                        <a:pt x="421" y="227"/>
                      </a:lnTo>
                      <a:lnTo>
                        <a:pt x="389" y="254"/>
                      </a:lnTo>
                      <a:lnTo>
                        <a:pt x="375" y="252"/>
                      </a:lnTo>
                      <a:lnTo>
                        <a:pt x="348" y="229"/>
                      </a:lnTo>
                      <a:lnTo>
                        <a:pt x="372" y="225"/>
                      </a:lnTo>
                      <a:lnTo>
                        <a:pt x="385" y="215"/>
                      </a:lnTo>
                      <a:lnTo>
                        <a:pt x="377" y="204"/>
                      </a:lnTo>
                      <a:lnTo>
                        <a:pt x="342" y="208"/>
                      </a:lnTo>
                      <a:lnTo>
                        <a:pt x="326" y="190"/>
                      </a:lnTo>
                      <a:lnTo>
                        <a:pt x="270" y="190"/>
                      </a:lnTo>
                      <a:lnTo>
                        <a:pt x="230" y="227"/>
                      </a:lnTo>
                      <a:lnTo>
                        <a:pt x="229" y="230"/>
                      </a:lnTo>
                      <a:lnTo>
                        <a:pt x="203" y="252"/>
                      </a:lnTo>
                      <a:lnTo>
                        <a:pt x="203" y="272"/>
                      </a:lnTo>
                      <a:lnTo>
                        <a:pt x="184" y="274"/>
                      </a:lnTo>
                      <a:lnTo>
                        <a:pt x="179" y="313"/>
                      </a:lnTo>
                      <a:lnTo>
                        <a:pt x="207" y="317"/>
                      </a:lnTo>
                      <a:lnTo>
                        <a:pt x="217" y="319"/>
                      </a:lnTo>
                      <a:lnTo>
                        <a:pt x="234" y="336"/>
                      </a:lnTo>
                      <a:lnTo>
                        <a:pt x="250" y="323"/>
                      </a:lnTo>
                      <a:lnTo>
                        <a:pt x="248" y="271"/>
                      </a:lnTo>
                      <a:lnTo>
                        <a:pt x="291" y="239"/>
                      </a:lnTo>
                      <a:lnTo>
                        <a:pt x="299" y="239"/>
                      </a:lnTo>
                      <a:lnTo>
                        <a:pt x="317" y="251"/>
                      </a:lnTo>
                      <a:lnTo>
                        <a:pt x="293" y="272"/>
                      </a:lnTo>
                      <a:lnTo>
                        <a:pt x="293" y="346"/>
                      </a:lnTo>
                      <a:lnTo>
                        <a:pt x="258" y="346"/>
                      </a:lnTo>
                      <a:lnTo>
                        <a:pt x="237" y="370"/>
                      </a:lnTo>
                      <a:lnTo>
                        <a:pt x="226" y="370"/>
                      </a:lnTo>
                      <a:lnTo>
                        <a:pt x="223" y="348"/>
                      </a:lnTo>
                      <a:lnTo>
                        <a:pt x="219" y="348"/>
                      </a:lnTo>
                      <a:lnTo>
                        <a:pt x="216" y="371"/>
                      </a:lnTo>
                      <a:lnTo>
                        <a:pt x="186" y="372"/>
                      </a:lnTo>
                      <a:lnTo>
                        <a:pt x="152" y="401"/>
                      </a:lnTo>
                      <a:lnTo>
                        <a:pt x="119" y="404"/>
                      </a:lnTo>
                      <a:lnTo>
                        <a:pt x="135" y="417"/>
                      </a:lnTo>
                      <a:lnTo>
                        <a:pt x="128" y="430"/>
                      </a:lnTo>
                      <a:lnTo>
                        <a:pt x="133" y="448"/>
                      </a:lnTo>
                      <a:lnTo>
                        <a:pt x="82" y="450"/>
                      </a:lnTo>
                      <a:lnTo>
                        <a:pt x="77" y="483"/>
                      </a:lnTo>
                      <a:lnTo>
                        <a:pt x="92" y="493"/>
                      </a:lnTo>
                      <a:lnTo>
                        <a:pt x="107" y="495"/>
                      </a:lnTo>
                      <a:lnTo>
                        <a:pt x="138" y="489"/>
                      </a:lnTo>
                      <a:lnTo>
                        <a:pt x="137" y="474"/>
                      </a:lnTo>
                      <a:lnTo>
                        <a:pt x="164" y="452"/>
                      </a:lnTo>
                      <a:lnTo>
                        <a:pt x="201" y="452"/>
                      </a:lnTo>
                      <a:lnTo>
                        <a:pt x="217" y="474"/>
                      </a:lnTo>
                      <a:lnTo>
                        <a:pt x="237" y="474"/>
                      </a:lnTo>
                      <a:lnTo>
                        <a:pt x="250" y="488"/>
                      </a:lnTo>
                      <a:lnTo>
                        <a:pt x="246" y="501"/>
                      </a:lnTo>
                      <a:lnTo>
                        <a:pt x="261" y="491"/>
                      </a:lnTo>
                      <a:lnTo>
                        <a:pt x="259" y="480"/>
                      </a:lnTo>
                      <a:lnTo>
                        <a:pt x="269" y="481"/>
                      </a:lnTo>
                      <a:lnTo>
                        <a:pt x="239" y="454"/>
                      </a:lnTo>
                      <a:lnTo>
                        <a:pt x="227" y="442"/>
                      </a:lnTo>
                      <a:lnTo>
                        <a:pt x="230" y="430"/>
                      </a:lnTo>
                      <a:lnTo>
                        <a:pt x="240" y="430"/>
                      </a:lnTo>
                      <a:lnTo>
                        <a:pt x="309" y="486"/>
                      </a:lnTo>
                      <a:lnTo>
                        <a:pt x="346" y="458"/>
                      </a:lnTo>
                      <a:lnTo>
                        <a:pt x="344" y="444"/>
                      </a:lnTo>
                      <a:lnTo>
                        <a:pt x="382" y="411"/>
                      </a:lnTo>
                      <a:lnTo>
                        <a:pt x="387" y="437"/>
                      </a:lnTo>
                      <a:lnTo>
                        <a:pt x="432" y="438"/>
                      </a:lnTo>
                      <a:lnTo>
                        <a:pt x="453" y="457"/>
                      </a:lnTo>
                      <a:lnTo>
                        <a:pt x="453" y="466"/>
                      </a:lnTo>
                      <a:lnTo>
                        <a:pt x="372" y="469"/>
                      </a:lnTo>
                      <a:lnTo>
                        <a:pt x="356" y="481"/>
                      </a:lnTo>
                      <a:lnTo>
                        <a:pt x="370" y="498"/>
                      </a:lnTo>
                      <a:lnTo>
                        <a:pt x="421" y="497"/>
                      </a:lnTo>
                      <a:lnTo>
                        <a:pt x="442" y="517"/>
                      </a:lnTo>
                      <a:lnTo>
                        <a:pt x="432" y="522"/>
                      </a:lnTo>
                      <a:lnTo>
                        <a:pt x="411" y="546"/>
                      </a:lnTo>
                      <a:lnTo>
                        <a:pt x="346" y="544"/>
                      </a:lnTo>
                      <a:lnTo>
                        <a:pt x="338" y="534"/>
                      </a:lnTo>
                      <a:lnTo>
                        <a:pt x="299" y="534"/>
                      </a:lnTo>
                      <a:lnTo>
                        <a:pt x="293" y="544"/>
                      </a:lnTo>
                      <a:lnTo>
                        <a:pt x="240" y="546"/>
                      </a:lnTo>
                      <a:lnTo>
                        <a:pt x="211" y="519"/>
                      </a:lnTo>
                      <a:lnTo>
                        <a:pt x="82" y="520"/>
                      </a:lnTo>
                      <a:lnTo>
                        <a:pt x="55" y="544"/>
                      </a:lnTo>
                      <a:lnTo>
                        <a:pt x="55" y="585"/>
                      </a:lnTo>
                      <a:lnTo>
                        <a:pt x="27" y="604"/>
                      </a:lnTo>
                      <a:lnTo>
                        <a:pt x="21" y="597"/>
                      </a:lnTo>
                      <a:lnTo>
                        <a:pt x="7" y="619"/>
                      </a:lnTo>
                      <a:lnTo>
                        <a:pt x="0" y="673"/>
                      </a:lnTo>
                      <a:lnTo>
                        <a:pt x="82" y="737"/>
                      </a:lnTo>
                      <a:lnTo>
                        <a:pt x="109" y="739"/>
                      </a:lnTo>
                      <a:lnTo>
                        <a:pt x="131" y="726"/>
                      </a:lnTo>
                      <a:lnTo>
                        <a:pt x="207" y="726"/>
                      </a:lnTo>
                      <a:lnTo>
                        <a:pt x="219" y="732"/>
                      </a:lnTo>
                      <a:lnTo>
                        <a:pt x="217" y="756"/>
                      </a:lnTo>
                      <a:lnTo>
                        <a:pt x="244" y="787"/>
                      </a:lnTo>
                      <a:lnTo>
                        <a:pt x="246" y="889"/>
                      </a:lnTo>
                      <a:lnTo>
                        <a:pt x="276" y="916"/>
                      </a:lnTo>
                      <a:lnTo>
                        <a:pt x="276" y="998"/>
                      </a:lnTo>
                      <a:lnTo>
                        <a:pt x="299" y="1015"/>
                      </a:lnTo>
                      <a:lnTo>
                        <a:pt x="312" y="1005"/>
                      </a:lnTo>
                      <a:lnTo>
                        <a:pt x="344" y="1005"/>
                      </a:lnTo>
                      <a:lnTo>
                        <a:pt x="379" y="974"/>
                      </a:lnTo>
                      <a:lnTo>
                        <a:pt x="397" y="973"/>
                      </a:lnTo>
                      <a:lnTo>
                        <a:pt x="399" y="943"/>
                      </a:lnTo>
                      <a:lnTo>
                        <a:pt x="428" y="941"/>
                      </a:lnTo>
                      <a:lnTo>
                        <a:pt x="426" y="904"/>
                      </a:lnTo>
                      <a:lnTo>
                        <a:pt x="438" y="906"/>
                      </a:lnTo>
                      <a:lnTo>
                        <a:pt x="463" y="882"/>
                      </a:lnTo>
                      <a:lnTo>
                        <a:pt x="465" y="843"/>
                      </a:lnTo>
                      <a:lnTo>
                        <a:pt x="446" y="828"/>
                      </a:lnTo>
                      <a:lnTo>
                        <a:pt x="448" y="790"/>
                      </a:lnTo>
                      <a:lnTo>
                        <a:pt x="557" y="689"/>
                      </a:lnTo>
                      <a:lnTo>
                        <a:pt x="481" y="689"/>
                      </a:lnTo>
                      <a:lnTo>
                        <a:pt x="477" y="638"/>
                      </a:lnTo>
                      <a:lnTo>
                        <a:pt x="467" y="626"/>
                      </a:lnTo>
                      <a:lnTo>
                        <a:pt x="457" y="630"/>
                      </a:lnTo>
                      <a:lnTo>
                        <a:pt x="391" y="566"/>
                      </a:lnTo>
                      <a:lnTo>
                        <a:pt x="423" y="563"/>
                      </a:lnTo>
                      <a:lnTo>
                        <a:pt x="463" y="599"/>
                      </a:lnTo>
                      <a:lnTo>
                        <a:pt x="513" y="638"/>
                      </a:lnTo>
                      <a:lnTo>
                        <a:pt x="515" y="657"/>
                      </a:lnTo>
                      <a:lnTo>
                        <a:pt x="571" y="657"/>
                      </a:lnTo>
                      <a:lnTo>
                        <a:pt x="569" y="642"/>
                      </a:lnTo>
                      <a:lnTo>
                        <a:pt x="620" y="597"/>
                      </a:lnTo>
                      <a:lnTo>
                        <a:pt x="575" y="593"/>
                      </a:lnTo>
                      <a:lnTo>
                        <a:pt x="563" y="587"/>
                      </a:lnTo>
                      <a:lnTo>
                        <a:pt x="554" y="587"/>
                      </a:lnTo>
                      <a:lnTo>
                        <a:pt x="515" y="551"/>
                      </a:lnTo>
                      <a:lnTo>
                        <a:pt x="532" y="532"/>
                      </a:lnTo>
                      <a:lnTo>
                        <a:pt x="554" y="539"/>
                      </a:lnTo>
                      <a:lnTo>
                        <a:pt x="585" y="568"/>
                      </a:lnTo>
                      <a:lnTo>
                        <a:pt x="688" y="568"/>
                      </a:lnTo>
                      <a:lnTo>
                        <a:pt x="718" y="595"/>
                      </a:lnTo>
                      <a:lnTo>
                        <a:pt x="722" y="652"/>
                      </a:lnTo>
                      <a:lnTo>
                        <a:pt x="769" y="687"/>
                      </a:lnTo>
                      <a:lnTo>
                        <a:pt x="804" y="662"/>
                      </a:lnTo>
                      <a:lnTo>
                        <a:pt x="802" y="634"/>
                      </a:lnTo>
                      <a:lnTo>
                        <a:pt x="841" y="601"/>
                      </a:lnTo>
                      <a:lnTo>
                        <a:pt x="872" y="601"/>
                      </a:lnTo>
                      <a:lnTo>
                        <a:pt x="908" y="630"/>
                      </a:lnTo>
                      <a:lnTo>
                        <a:pt x="941" y="632"/>
                      </a:lnTo>
                      <a:lnTo>
                        <a:pt x="941" y="703"/>
                      </a:lnTo>
                      <a:lnTo>
                        <a:pt x="973" y="728"/>
                      </a:lnTo>
                      <a:lnTo>
                        <a:pt x="980" y="726"/>
                      </a:lnTo>
                      <a:lnTo>
                        <a:pt x="992" y="736"/>
                      </a:lnTo>
                      <a:lnTo>
                        <a:pt x="998" y="730"/>
                      </a:lnTo>
                      <a:lnTo>
                        <a:pt x="954" y="693"/>
                      </a:lnTo>
                      <a:lnTo>
                        <a:pt x="954" y="664"/>
                      </a:lnTo>
                      <a:lnTo>
                        <a:pt x="961" y="664"/>
                      </a:lnTo>
                      <a:lnTo>
                        <a:pt x="995" y="695"/>
                      </a:lnTo>
                      <a:lnTo>
                        <a:pt x="1005" y="693"/>
                      </a:lnTo>
                      <a:lnTo>
                        <a:pt x="1017" y="685"/>
                      </a:lnTo>
                      <a:lnTo>
                        <a:pt x="1029" y="685"/>
                      </a:lnTo>
                      <a:lnTo>
                        <a:pt x="1027" y="650"/>
                      </a:lnTo>
                      <a:lnTo>
                        <a:pt x="1004" y="626"/>
                      </a:lnTo>
                      <a:lnTo>
                        <a:pt x="998" y="626"/>
                      </a:lnTo>
                      <a:lnTo>
                        <a:pt x="984" y="612"/>
                      </a:lnTo>
                      <a:lnTo>
                        <a:pt x="980" y="602"/>
                      </a:lnTo>
                      <a:lnTo>
                        <a:pt x="1007" y="580"/>
                      </a:lnTo>
                      <a:lnTo>
                        <a:pt x="1053" y="579"/>
                      </a:lnTo>
                      <a:lnTo>
                        <a:pt x="1099" y="530"/>
                      </a:lnTo>
                      <a:lnTo>
                        <a:pt x="1099" y="495"/>
                      </a:lnTo>
                      <a:lnTo>
                        <a:pt x="1086" y="481"/>
                      </a:lnTo>
                      <a:lnTo>
                        <a:pt x="1058" y="460"/>
                      </a:lnTo>
                      <a:lnTo>
                        <a:pt x="1068" y="448"/>
                      </a:lnTo>
                      <a:lnTo>
                        <a:pt x="1062" y="444"/>
                      </a:lnTo>
                      <a:lnTo>
                        <a:pt x="1055" y="450"/>
                      </a:lnTo>
                      <a:lnTo>
                        <a:pt x="1037" y="435"/>
                      </a:lnTo>
                      <a:lnTo>
                        <a:pt x="1031" y="435"/>
                      </a:lnTo>
                      <a:lnTo>
                        <a:pt x="1029" y="423"/>
                      </a:lnTo>
                      <a:lnTo>
                        <a:pt x="1066" y="397"/>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7" name="Freeform 12"/>
                <p:cNvSpPr>
                  <a:spLocks/>
                </p:cNvSpPr>
                <p:nvPr userDrawn="1"/>
              </p:nvSpPr>
              <p:spPr bwMode="auto">
                <a:xfrm>
                  <a:off x="8747126" y="4297363"/>
                  <a:ext cx="101600" cy="130175"/>
                </a:xfrm>
                <a:custGeom>
                  <a:avLst/>
                  <a:gdLst/>
                  <a:ahLst/>
                  <a:cxnLst>
                    <a:cxn ang="0">
                      <a:pos x="0" y="45"/>
                    </a:cxn>
                    <a:cxn ang="0">
                      <a:pos x="27" y="44"/>
                    </a:cxn>
                    <a:cxn ang="0">
                      <a:pos x="31" y="0"/>
                    </a:cxn>
                    <a:cxn ang="0">
                      <a:pos x="62" y="0"/>
                    </a:cxn>
                    <a:cxn ang="0">
                      <a:pos x="64" y="28"/>
                    </a:cxn>
                    <a:cxn ang="0">
                      <a:pos x="51" y="38"/>
                    </a:cxn>
                    <a:cxn ang="0">
                      <a:pos x="52" y="47"/>
                    </a:cxn>
                    <a:cxn ang="0">
                      <a:pos x="60" y="47"/>
                    </a:cxn>
                    <a:cxn ang="0">
                      <a:pos x="27" y="80"/>
                    </a:cxn>
                    <a:cxn ang="0">
                      <a:pos x="0" y="82"/>
                    </a:cxn>
                    <a:cxn ang="0">
                      <a:pos x="0" y="45"/>
                    </a:cxn>
                  </a:cxnLst>
                  <a:rect l="0" t="0" r="r" b="b"/>
                  <a:pathLst>
                    <a:path w="64" h="82">
                      <a:moveTo>
                        <a:pt x="0" y="45"/>
                      </a:moveTo>
                      <a:lnTo>
                        <a:pt x="27" y="44"/>
                      </a:lnTo>
                      <a:lnTo>
                        <a:pt x="31" y="0"/>
                      </a:lnTo>
                      <a:lnTo>
                        <a:pt x="62" y="0"/>
                      </a:lnTo>
                      <a:lnTo>
                        <a:pt x="64" y="28"/>
                      </a:lnTo>
                      <a:lnTo>
                        <a:pt x="51" y="38"/>
                      </a:lnTo>
                      <a:lnTo>
                        <a:pt x="52" y="47"/>
                      </a:lnTo>
                      <a:lnTo>
                        <a:pt x="60" y="47"/>
                      </a:lnTo>
                      <a:lnTo>
                        <a:pt x="27" y="80"/>
                      </a:lnTo>
                      <a:lnTo>
                        <a:pt x="0" y="82"/>
                      </a:lnTo>
                      <a:lnTo>
                        <a:pt x="0" y="45"/>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Freeform 13"/>
                <p:cNvSpPr>
                  <a:spLocks/>
                </p:cNvSpPr>
                <p:nvPr userDrawn="1"/>
              </p:nvSpPr>
              <p:spPr bwMode="auto">
                <a:xfrm>
                  <a:off x="8537576" y="4337051"/>
                  <a:ext cx="220663" cy="206375"/>
                </a:xfrm>
                <a:custGeom>
                  <a:avLst/>
                  <a:gdLst/>
                  <a:ahLst/>
                  <a:cxnLst>
                    <a:cxn ang="0">
                      <a:pos x="0" y="0"/>
                    </a:cxn>
                    <a:cxn ang="0">
                      <a:pos x="70" y="63"/>
                    </a:cxn>
                    <a:cxn ang="0">
                      <a:pos x="69" y="90"/>
                    </a:cxn>
                    <a:cxn ang="0">
                      <a:pos x="111" y="92"/>
                    </a:cxn>
                    <a:cxn ang="0">
                      <a:pos x="139" y="119"/>
                    </a:cxn>
                    <a:cxn ang="0">
                      <a:pos x="134" y="130"/>
                    </a:cxn>
                    <a:cxn ang="0">
                      <a:pos x="111" y="110"/>
                    </a:cxn>
                    <a:cxn ang="0">
                      <a:pos x="69" y="109"/>
                    </a:cxn>
                    <a:cxn ang="0">
                      <a:pos x="26" y="69"/>
                    </a:cxn>
                    <a:cxn ang="0">
                      <a:pos x="24" y="48"/>
                    </a:cxn>
                    <a:cxn ang="0">
                      <a:pos x="0" y="24"/>
                    </a:cxn>
                    <a:cxn ang="0">
                      <a:pos x="0" y="0"/>
                    </a:cxn>
                  </a:cxnLst>
                  <a:rect l="0" t="0" r="r" b="b"/>
                  <a:pathLst>
                    <a:path w="139" h="130">
                      <a:moveTo>
                        <a:pt x="0" y="0"/>
                      </a:moveTo>
                      <a:lnTo>
                        <a:pt x="70" y="63"/>
                      </a:lnTo>
                      <a:lnTo>
                        <a:pt x="69" y="90"/>
                      </a:lnTo>
                      <a:lnTo>
                        <a:pt x="111" y="92"/>
                      </a:lnTo>
                      <a:lnTo>
                        <a:pt x="139" y="119"/>
                      </a:lnTo>
                      <a:lnTo>
                        <a:pt x="134" y="130"/>
                      </a:lnTo>
                      <a:lnTo>
                        <a:pt x="111" y="110"/>
                      </a:lnTo>
                      <a:lnTo>
                        <a:pt x="69" y="109"/>
                      </a:lnTo>
                      <a:lnTo>
                        <a:pt x="26" y="69"/>
                      </a:lnTo>
                      <a:lnTo>
                        <a:pt x="24" y="48"/>
                      </a:lnTo>
                      <a:lnTo>
                        <a:pt x="0" y="24"/>
                      </a:lnTo>
                      <a:lnTo>
                        <a:pt x="0" y="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Freeform 14"/>
                <p:cNvSpPr>
                  <a:spLocks/>
                </p:cNvSpPr>
                <p:nvPr userDrawn="1"/>
              </p:nvSpPr>
              <p:spPr bwMode="auto">
                <a:xfrm>
                  <a:off x="9028113" y="4403726"/>
                  <a:ext cx="198438" cy="130175"/>
                </a:xfrm>
                <a:custGeom>
                  <a:avLst/>
                  <a:gdLst/>
                  <a:ahLst/>
                  <a:cxnLst>
                    <a:cxn ang="0">
                      <a:pos x="2" y="2"/>
                    </a:cxn>
                    <a:cxn ang="0">
                      <a:pos x="21" y="0"/>
                    </a:cxn>
                    <a:cxn ang="0">
                      <a:pos x="22" y="19"/>
                    </a:cxn>
                    <a:cxn ang="0">
                      <a:pos x="58" y="19"/>
                    </a:cxn>
                    <a:cxn ang="0">
                      <a:pos x="69" y="12"/>
                    </a:cxn>
                    <a:cxn ang="0">
                      <a:pos x="125" y="60"/>
                    </a:cxn>
                    <a:cxn ang="0">
                      <a:pos x="118" y="82"/>
                    </a:cxn>
                    <a:cxn ang="0">
                      <a:pos x="92" y="57"/>
                    </a:cxn>
                    <a:cxn ang="0">
                      <a:pos x="75" y="72"/>
                    </a:cxn>
                    <a:cxn ang="0">
                      <a:pos x="50" y="48"/>
                    </a:cxn>
                    <a:cxn ang="0">
                      <a:pos x="51" y="35"/>
                    </a:cxn>
                    <a:cxn ang="0">
                      <a:pos x="37" y="37"/>
                    </a:cxn>
                    <a:cxn ang="0">
                      <a:pos x="0" y="13"/>
                    </a:cxn>
                    <a:cxn ang="0">
                      <a:pos x="2" y="2"/>
                    </a:cxn>
                  </a:cxnLst>
                  <a:rect l="0" t="0" r="r" b="b"/>
                  <a:pathLst>
                    <a:path w="125" h="82">
                      <a:moveTo>
                        <a:pt x="2" y="2"/>
                      </a:moveTo>
                      <a:lnTo>
                        <a:pt x="21" y="0"/>
                      </a:lnTo>
                      <a:lnTo>
                        <a:pt x="22" y="19"/>
                      </a:lnTo>
                      <a:lnTo>
                        <a:pt x="58" y="19"/>
                      </a:lnTo>
                      <a:lnTo>
                        <a:pt x="69" y="12"/>
                      </a:lnTo>
                      <a:lnTo>
                        <a:pt x="125" y="60"/>
                      </a:lnTo>
                      <a:lnTo>
                        <a:pt x="118" y="82"/>
                      </a:lnTo>
                      <a:lnTo>
                        <a:pt x="92" y="57"/>
                      </a:lnTo>
                      <a:lnTo>
                        <a:pt x="75" y="72"/>
                      </a:lnTo>
                      <a:lnTo>
                        <a:pt x="50" y="48"/>
                      </a:lnTo>
                      <a:lnTo>
                        <a:pt x="51" y="35"/>
                      </a:lnTo>
                      <a:lnTo>
                        <a:pt x="37" y="37"/>
                      </a:lnTo>
                      <a:lnTo>
                        <a:pt x="0" y="13"/>
                      </a:lnTo>
                      <a:lnTo>
                        <a:pt x="2" y="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Freeform 15"/>
                <p:cNvSpPr>
                  <a:spLocks/>
                </p:cNvSpPr>
                <p:nvPr userDrawn="1"/>
              </p:nvSpPr>
              <p:spPr bwMode="auto">
                <a:xfrm>
                  <a:off x="8688388" y="4570413"/>
                  <a:ext cx="557213" cy="382588"/>
                </a:xfrm>
                <a:custGeom>
                  <a:avLst/>
                  <a:gdLst/>
                  <a:ahLst/>
                  <a:cxnLst>
                    <a:cxn ang="0">
                      <a:pos x="49" y="60"/>
                    </a:cxn>
                    <a:cxn ang="0">
                      <a:pos x="94" y="60"/>
                    </a:cxn>
                    <a:cxn ang="0">
                      <a:pos x="151" y="12"/>
                    </a:cxn>
                    <a:cxn ang="0">
                      <a:pos x="174" y="30"/>
                    </a:cxn>
                    <a:cxn ang="0">
                      <a:pos x="211" y="0"/>
                    </a:cxn>
                    <a:cxn ang="0">
                      <a:pos x="236" y="0"/>
                    </a:cxn>
                    <a:cxn ang="0">
                      <a:pos x="223" y="17"/>
                    </a:cxn>
                    <a:cxn ang="0">
                      <a:pos x="264" y="45"/>
                    </a:cxn>
                    <a:cxn ang="0">
                      <a:pos x="301" y="21"/>
                    </a:cxn>
                    <a:cxn ang="0">
                      <a:pos x="303" y="65"/>
                    </a:cxn>
                    <a:cxn ang="0">
                      <a:pos x="325" y="85"/>
                    </a:cxn>
                    <a:cxn ang="0">
                      <a:pos x="325" y="103"/>
                    </a:cxn>
                    <a:cxn ang="0">
                      <a:pos x="349" y="119"/>
                    </a:cxn>
                    <a:cxn ang="0">
                      <a:pos x="351" y="167"/>
                    </a:cxn>
                    <a:cxn ang="0">
                      <a:pos x="284" y="224"/>
                    </a:cxn>
                    <a:cxn ang="0">
                      <a:pos x="272" y="226"/>
                    </a:cxn>
                    <a:cxn ang="0">
                      <a:pos x="258" y="240"/>
                    </a:cxn>
                    <a:cxn ang="0">
                      <a:pos x="233" y="241"/>
                    </a:cxn>
                    <a:cxn ang="0">
                      <a:pos x="231" y="236"/>
                    </a:cxn>
                    <a:cxn ang="0">
                      <a:pos x="179" y="234"/>
                    </a:cxn>
                    <a:cxn ang="0">
                      <a:pos x="180" y="221"/>
                    </a:cxn>
                    <a:cxn ang="0">
                      <a:pos x="144" y="195"/>
                    </a:cxn>
                    <a:cxn ang="0">
                      <a:pos x="152" y="180"/>
                    </a:cxn>
                    <a:cxn ang="0">
                      <a:pos x="152" y="172"/>
                    </a:cxn>
                    <a:cxn ang="0">
                      <a:pos x="138" y="164"/>
                    </a:cxn>
                    <a:cxn ang="0">
                      <a:pos x="125" y="164"/>
                    </a:cxn>
                    <a:cxn ang="0">
                      <a:pos x="106" y="183"/>
                    </a:cxn>
                    <a:cxn ang="0">
                      <a:pos x="17" y="186"/>
                    </a:cxn>
                    <a:cxn ang="0">
                      <a:pos x="0" y="166"/>
                    </a:cxn>
                    <a:cxn ang="0">
                      <a:pos x="8" y="154"/>
                    </a:cxn>
                    <a:cxn ang="0">
                      <a:pos x="13" y="94"/>
                    </a:cxn>
                    <a:cxn ang="0">
                      <a:pos x="49" y="60"/>
                    </a:cxn>
                  </a:cxnLst>
                  <a:rect l="0" t="0" r="r" b="b"/>
                  <a:pathLst>
                    <a:path w="351" h="241">
                      <a:moveTo>
                        <a:pt x="49" y="60"/>
                      </a:moveTo>
                      <a:lnTo>
                        <a:pt x="94" y="60"/>
                      </a:lnTo>
                      <a:lnTo>
                        <a:pt x="151" y="12"/>
                      </a:lnTo>
                      <a:lnTo>
                        <a:pt x="174" y="30"/>
                      </a:lnTo>
                      <a:lnTo>
                        <a:pt x="211" y="0"/>
                      </a:lnTo>
                      <a:lnTo>
                        <a:pt x="236" y="0"/>
                      </a:lnTo>
                      <a:lnTo>
                        <a:pt x="223" y="17"/>
                      </a:lnTo>
                      <a:lnTo>
                        <a:pt x="264" y="45"/>
                      </a:lnTo>
                      <a:lnTo>
                        <a:pt x="301" y="21"/>
                      </a:lnTo>
                      <a:lnTo>
                        <a:pt x="303" y="65"/>
                      </a:lnTo>
                      <a:lnTo>
                        <a:pt x="325" y="85"/>
                      </a:lnTo>
                      <a:lnTo>
                        <a:pt x="325" y="103"/>
                      </a:lnTo>
                      <a:lnTo>
                        <a:pt x="349" y="119"/>
                      </a:lnTo>
                      <a:lnTo>
                        <a:pt x="351" y="167"/>
                      </a:lnTo>
                      <a:lnTo>
                        <a:pt x="284" y="224"/>
                      </a:lnTo>
                      <a:lnTo>
                        <a:pt x="272" y="226"/>
                      </a:lnTo>
                      <a:lnTo>
                        <a:pt x="258" y="240"/>
                      </a:lnTo>
                      <a:lnTo>
                        <a:pt x="233" y="241"/>
                      </a:lnTo>
                      <a:lnTo>
                        <a:pt x="231" y="236"/>
                      </a:lnTo>
                      <a:lnTo>
                        <a:pt x="179" y="234"/>
                      </a:lnTo>
                      <a:lnTo>
                        <a:pt x="180" y="221"/>
                      </a:lnTo>
                      <a:lnTo>
                        <a:pt x="144" y="195"/>
                      </a:lnTo>
                      <a:lnTo>
                        <a:pt x="152" y="180"/>
                      </a:lnTo>
                      <a:lnTo>
                        <a:pt x="152" y="172"/>
                      </a:lnTo>
                      <a:lnTo>
                        <a:pt x="138" y="164"/>
                      </a:lnTo>
                      <a:lnTo>
                        <a:pt x="125" y="164"/>
                      </a:lnTo>
                      <a:lnTo>
                        <a:pt x="106" y="183"/>
                      </a:lnTo>
                      <a:lnTo>
                        <a:pt x="17" y="186"/>
                      </a:lnTo>
                      <a:lnTo>
                        <a:pt x="0" y="166"/>
                      </a:lnTo>
                      <a:lnTo>
                        <a:pt x="8" y="154"/>
                      </a:lnTo>
                      <a:lnTo>
                        <a:pt x="13" y="94"/>
                      </a:lnTo>
                      <a:lnTo>
                        <a:pt x="49" y="6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Freeform 20"/>
                <p:cNvSpPr>
                  <a:spLocks/>
                </p:cNvSpPr>
                <p:nvPr userDrawn="1"/>
              </p:nvSpPr>
              <p:spPr bwMode="auto">
                <a:xfrm>
                  <a:off x="8956676" y="3713163"/>
                  <a:ext cx="122238" cy="157163"/>
                </a:xfrm>
                <a:custGeom>
                  <a:avLst/>
                  <a:gdLst/>
                  <a:ahLst/>
                  <a:cxnLst>
                    <a:cxn ang="0">
                      <a:pos x="0" y="91"/>
                    </a:cxn>
                    <a:cxn ang="0">
                      <a:pos x="3" y="99"/>
                    </a:cxn>
                    <a:cxn ang="0">
                      <a:pos x="28" y="84"/>
                    </a:cxn>
                    <a:cxn ang="0">
                      <a:pos x="31" y="96"/>
                    </a:cxn>
                    <a:cxn ang="0">
                      <a:pos x="69" y="68"/>
                    </a:cxn>
                    <a:cxn ang="0">
                      <a:pos x="70" y="40"/>
                    </a:cxn>
                    <a:cxn ang="0">
                      <a:pos x="77" y="19"/>
                    </a:cxn>
                    <a:cxn ang="0">
                      <a:pos x="67" y="0"/>
                    </a:cxn>
                    <a:cxn ang="0">
                      <a:pos x="59" y="1"/>
                    </a:cxn>
                    <a:cxn ang="0">
                      <a:pos x="55" y="37"/>
                    </a:cxn>
                    <a:cxn ang="0">
                      <a:pos x="40" y="48"/>
                    </a:cxn>
                    <a:cxn ang="0">
                      <a:pos x="32" y="68"/>
                    </a:cxn>
                    <a:cxn ang="0">
                      <a:pos x="11" y="75"/>
                    </a:cxn>
                    <a:cxn ang="0">
                      <a:pos x="1" y="87"/>
                    </a:cxn>
                  </a:cxnLst>
                  <a:rect l="0" t="0" r="r" b="b"/>
                  <a:pathLst>
                    <a:path w="77" h="99">
                      <a:moveTo>
                        <a:pt x="0" y="91"/>
                      </a:moveTo>
                      <a:lnTo>
                        <a:pt x="3" y="99"/>
                      </a:lnTo>
                      <a:lnTo>
                        <a:pt x="28" y="84"/>
                      </a:lnTo>
                      <a:lnTo>
                        <a:pt x="31" y="96"/>
                      </a:lnTo>
                      <a:lnTo>
                        <a:pt x="69" y="68"/>
                      </a:lnTo>
                      <a:lnTo>
                        <a:pt x="70" y="40"/>
                      </a:lnTo>
                      <a:lnTo>
                        <a:pt x="77" y="19"/>
                      </a:lnTo>
                      <a:lnTo>
                        <a:pt x="67" y="0"/>
                      </a:lnTo>
                      <a:lnTo>
                        <a:pt x="59" y="1"/>
                      </a:lnTo>
                      <a:lnTo>
                        <a:pt x="55" y="37"/>
                      </a:lnTo>
                      <a:lnTo>
                        <a:pt x="40" y="48"/>
                      </a:lnTo>
                      <a:lnTo>
                        <a:pt x="32" y="68"/>
                      </a:lnTo>
                      <a:lnTo>
                        <a:pt x="11" y="75"/>
                      </a:lnTo>
                      <a:lnTo>
                        <a:pt x="1" y="87"/>
                      </a:lnTo>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Freeform 22"/>
                <p:cNvSpPr>
                  <a:spLocks/>
                </p:cNvSpPr>
                <p:nvPr userDrawn="1"/>
              </p:nvSpPr>
              <p:spPr bwMode="auto">
                <a:xfrm>
                  <a:off x="9040813" y="3621088"/>
                  <a:ext cx="73025" cy="79375"/>
                </a:xfrm>
                <a:custGeom>
                  <a:avLst/>
                  <a:gdLst/>
                  <a:ahLst/>
                  <a:cxnLst>
                    <a:cxn ang="0">
                      <a:pos x="5" y="50"/>
                    </a:cxn>
                    <a:cxn ang="0">
                      <a:pos x="12" y="47"/>
                    </a:cxn>
                    <a:cxn ang="0">
                      <a:pos x="17" y="36"/>
                    </a:cxn>
                    <a:cxn ang="0">
                      <a:pos x="29" y="45"/>
                    </a:cxn>
                    <a:cxn ang="0">
                      <a:pos x="33" y="34"/>
                    </a:cxn>
                    <a:cxn ang="0">
                      <a:pos x="46" y="30"/>
                    </a:cxn>
                    <a:cxn ang="0">
                      <a:pos x="42" y="15"/>
                    </a:cxn>
                    <a:cxn ang="0">
                      <a:pos x="33" y="16"/>
                    </a:cxn>
                    <a:cxn ang="0">
                      <a:pos x="13" y="0"/>
                    </a:cxn>
                    <a:cxn ang="0">
                      <a:pos x="13" y="26"/>
                    </a:cxn>
                    <a:cxn ang="0">
                      <a:pos x="7" y="34"/>
                    </a:cxn>
                    <a:cxn ang="0">
                      <a:pos x="0" y="43"/>
                    </a:cxn>
                    <a:cxn ang="0">
                      <a:pos x="5" y="50"/>
                    </a:cxn>
                  </a:cxnLst>
                  <a:rect l="0" t="0" r="r" b="b"/>
                  <a:pathLst>
                    <a:path w="46" h="50">
                      <a:moveTo>
                        <a:pt x="5" y="50"/>
                      </a:moveTo>
                      <a:lnTo>
                        <a:pt x="12" y="47"/>
                      </a:lnTo>
                      <a:lnTo>
                        <a:pt x="17" y="36"/>
                      </a:lnTo>
                      <a:lnTo>
                        <a:pt x="29" y="45"/>
                      </a:lnTo>
                      <a:lnTo>
                        <a:pt x="33" y="34"/>
                      </a:lnTo>
                      <a:lnTo>
                        <a:pt x="46" y="30"/>
                      </a:lnTo>
                      <a:lnTo>
                        <a:pt x="42" y="15"/>
                      </a:lnTo>
                      <a:lnTo>
                        <a:pt x="33" y="16"/>
                      </a:lnTo>
                      <a:lnTo>
                        <a:pt x="13" y="0"/>
                      </a:lnTo>
                      <a:lnTo>
                        <a:pt x="13" y="26"/>
                      </a:lnTo>
                      <a:lnTo>
                        <a:pt x="7" y="34"/>
                      </a:lnTo>
                      <a:lnTo>
                        <a:pt x="0" y="43"/>
                      </a:lnTo>
                      <a:lnTo>
                        <a:pt x="5" y="50"/>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Freeform 24"/>
                <p:cNvSpPr>
                  <a:spLocks/>
                </p:cNvSpPr>
                <p:nvPr userDrawn="1"/>
              </p:nvSpPr>
              <p:spPr bwMode="auto">
                <a:xfrm>
                  <a:off x="9383713" y="4995863"/>
                  <a:ext cx="115888" cy="122238"/>
                </a:xfrm>
                <a:custGeom>
                  <a:avLst/>
                  <a:gdLst/>
                  <a:ahLst/>
                  <a:cxnLst>
                    <a:cxn ang="0">
                      <a:pos x="0" y="74"/>
                    </a:cxn>
                    <a:cxn ang="0">
                      <a:pos x="24" y="77"/>
                    </a:cxn>
                    <a:cxn ang="0">
                      <a:pos x="31" y="70"/>
                    </a:cxn>
                    <a:cxn ang="0">
                      <a:pos x="48" y="41"/>
                    </a:cxn>
                    <a:cxn ang="0">
                      <a:pos x="61" y="41"/>
                    </a:cxn>
                    <a:cxn ang="0">
                      <a:pos x="61" y="34"/>
                    </a:cxn>
                    <a:cxn ang="0">
                      <a:pos x="73" y="20"/>
                    </a:cxn>
                    <a:cxn ang="0">
                      <a:pos x="70" y="8"/>
                    </a:cxn>
                    <a:cxn ang="0">
                      <a:pos x="62" y="7"/>
                    </a:cxn>
                    <a:cxn ang="0">
                      <a:pos x="58" y="0"/>
                    </a:cxn>
                    <a:cxn ang="0">
                      <a:pos x="54" y="2"/>
                    </a:cxn>
                    <a:cxn ang="0">
                      <a:pos x="50" y="16"/>
                    </a:cxn>
                    <a:cxn ang="0">
                      <a:pos x="34" y="35"/>
                    </a:cxn>
                    <a:cxn ang="0">
                      <a:pos x="21" y="39"/>
                    </a:cxn>
                    <a:cxn ang="0">
                      <a:pos x="1" y="57"/>
                    </a:cxn>
                    <a:cxn ang="0">
                      <a:pos x="0" y="74"/>
                    </a:cxn>
                  </a:cxnLst>
                  <a:rect l="0" t="0" r="r" b="b"/>
                  <a:pathLst>
                    <a:path w="73" h="77">
                      <a:moveTo>
                        <a:pt x="0" y="74"/>
                      </a:moveTo>
                      <a:lnTo>
                        <a:pt x="24" y="77"/>
                      </a:lnTo>
                      <a:lnTo>
                        <a:pt x="31" y="70"/>
                      </a:lnTo>
                      <a:lnTo>
                        <a:pt x="48" y="41"/>
                      </a:lnTo>
                      <a:lnTo>
                        <a:pt x="61" y="41"/>
                      </a:lnTo>
                      <a:lnTo>
                        <a:pt x="61" y="34"/>
                      </a:lnTo>
                      <a:lnTo>
                        <a:pt x="73" y="20"/>
                      </a:lnTo>
                      <a:lnTo>
                        <a:pt x="70" y="8"/>
                      </a:lnTo>
                      <a:lnTo>
                        <a:pt x="62" y="7"/>
                      </a:lnTo>
                      <a:lnTo>
                        <a:pt x="58" y="0"/>
                      </a:lnTo>
                      <a:lnTo>
                        <a:pt x="54" y="2"/>
                      </a:lnTo>
                      <a:lnTo>
                        <a:pt x="50" y="16"/>
                      </a:lnTo>
                      <a:lnTo>
                        <a:pt x="34" y="35"/>
                      </a:lnTo>
                      <a:lnTo>
                        <a:pt x="21" y="39"/>
                      </a:lnTo>
                      <a:lnTo>
                        <a:pt x="1" y="57"/>
                      </a:lnTo>
                      <a:lnTo>
                        <a:pt x="0" y="7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Freeform 25"/>
                <p:cNvSpPr>
                  <a:spLocks/>
                </p:cNvSpPr>
                <p:nvPr userDrawn="1"/>
              </p:nvSpPr>
              <p:spPr bwMode="auto">
                <a:xfrm>
                  <a:off x="9490076" y="4900613"/>
                  <a:ext cx="73025" cy="119063"/>
                </a:xfrm>
                <a:custGeom>
                  <a:avLst/>
                  <a:gdLst/>
                  <a:ahLst/>
                  <a:cxnLst>
                    <a:cxn ang="0">
                      <a:pos x="3" y="56"/>
                    </a:cxn>
                    <a:cxn ang="0">
                      <a:pos x="12" y="58"/>
                    </a:cxn>
                    <a:cxn ang="0">
                      <a:pos x="13" y="72"/>
                    </a:cxn>
                    <a:cxn ang="0">
                      <a:pos x="18" y="75"/>
                    </a:cxn>
                    <a:cxn ang="0">
                      <a:pos x="46" y="45"/>
                    </a:cxn>
                    <a:cxn ang="0">
                      <a:pos x="41" y="32"/>
                    </a:cxn>
                    <a:cxn ang="0">
                      <a:pos x="32" y="35"/>
                    </a:cxn>
                    <a:cxn ang="0">
                      <a:pos x="23" y="22"/>
                    </a:cxn>
                    <a:cxn ang="0">
                      <a:pos x="17" y="22"/>
                    </a:cxn>
                    <a:cxn ang="0">
                      <a:pos x="14" y="11"/>
                    </a:cxn>
                    <a:cxn ang="0">
                      <a:pos x="2" y="0"/>
                    </a:cxn>
                    <a:cxn ang="0">
                      <a:pos x="0" y="12"/>
                    </a:cxn>
                    <a:cxn ang="0">
                      <a:pos x="9" y="22"/>
                    </a:cxn>
                    <a:cxn ang="0">
                      <a:pos x="14" y="36"/>
                    </a:cxn>
                    <a:cxn ang="0">
                      <a:pos x="12" y="43"/>
                    </a:cxn>
                    <a:cxn ang="0">
                      <a:pos x="3" y="45"/>
                    </a:cxn>
                    <a:cxn ang="0">
                      <a:pos x="3" y="56"/>
                    </a:cxn>
                  </a:cxnLst>
                  <a:rect l="0" t="0" r="r" b="b"/>
                  <a:pathLst>
                    <a:path w="46" h="75">
                      <a:moveTo>
                        <a:pt x="3" y="56"/>
                      </a:moveTo>
                      <a:lnTo>
                        <a:pt x="12" y="58"/>
                      </a:lnTo>
                      <a:lnTo>
                        <a:pt x="13" y="72"/>
                      </a:lnTo>
                      <a:lnTo>
                        <a:pt x="18" y="75"/>
                      </a:lnTo>
                      <a:lnTo>
                        <a:pt x="46" y="45"/>
                      </a:lnTo>
                      <a:lnTo>
                        <a:pt x="41" y="32"/>
                      </a:lnTo>
                      <a:lnTo>
                        <a:pt x="32" y="35"/>
                      </a:lnTo>
                      <a:lnTo>
                        <a:pt x="23" y="22"/>
                      </a:lnTo>
                      <a:lnTo>
                        <a:pt x="17" y="22"/>
                      </a:lnTo>
                      <a:lnTo>
                        <a:pt x="14" y="11"/>
                      </a:lnTo>
                      <a:lnTo>
                        <a:pt x="2" y="0"/>
                      </a:lnTo>
                      <a:lnTo>
                        <a:pt x="0" y="12"/>
                      </a:lnTo>
                      <a:lnTo>
                        <a:pt x="9" y="22"/>
                      </a:lnTo>
                      <a:lnTo>
                        <a:pt x="14" y="36"/>
                      </a:lnTo>
                      <a:lnTo>
                        <a:pt x="12" y="43"/>
                      </a:lnTo>
                      <a:lnTo>
                        <a:pt x="3" y="45"/>
                      </a:lnTo>
                      <a:lnTo>
                        <a:pt x="3" y="56"/>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Freeform 11"/>
                <p:cNvSpPr>
                  <a:spLocks/>
                </p:cNvSpPr>
                <p:nvPr userDrawn="1"/>
              </p:nvSpPr>
              <p:spPr bwMode="auto">
                <a:xfrm>
                  <a:off x="7856538" y="4543426"/>
                  <a:ext cx="95250" cy="146050"/>
                </a:xfrm>
                <a:custGeom>
                  <a:avLst/>
                  <a:gdLst/>
                  <a:ahLst/>
                  <a:cxnLst>
                    <a:cxn ang="0">
                      <a:pos x="1" y="92"/>
                    </a:cxn>
                    <a:cxn ang="0">
                      <a:pos x="0" y="70"/>
                    </a:cxn>
                    <a:cxn ang="0">
                      <a:pos x="11" y="61"/>
                    </a:cxn>
                    <a:cxn ang="0">
                      <a:pos x="13" y="21"/>
                    </a:cxn>
                    <a:cxn ang="0">
                      <a:pos x="29" y="22"/>
                    </a:cxn>
                    <a:cxn ang="0">
                      <a:pos x="57" y="0"/>
                    </a:cxn>
                    <a:cxn ang="0">
                      <a:pos x="60" y="17"/>
                    </a:cxn>
                    <a:cxn ang="0">
                      <a:pos x="40" y="39"/>
                    </a:cxn>
                    <a:cxn ang="0">
                      <a:pos x="36" y="63"/>
                    </a:cxn>
                    <a:cxn ang="0">
                      <a:pos x="26" y="66"/>
                    </a:cxn>
                    <a:cxn ang="0">
                      <a:pos x="17" y="73"/>
                    </a:cxn>
                    <a:cxn ang="0">
                      <a:pos x="16" y="90"/>
                    </a:cxn>
                    <a:cxn ang="0">
                      <a:pos x="1" y="92"/>
                    </a:cxn>
                  </a:cxnLst>
                  <a:rect l="0" t="0" r="r" b="b"/>
                  <a:pathLst>
                    <a:path w="60" h="92">
                      <a:moveTo>
                        <a:pt x="1" y="92"/>
                      </a:moveTo>
                      <a:lnTo>
                        <a:pt x="0" y="70"/>
                      </a:lnTo>
                      <a:lnTo>
                        <a:pt x="11" y="61"/>
                      </a:lnTo>
                      <a:lnTo>
                        <a:pt x="13" y="21"/>
                      </a:lnTo>
                      <a:lnTo>
                        <a:pt x="29" y="22"/>
                      </a:lnTo>
                      <a:lnTo>
                        <a:pt x="57" y="0"/>
                      </a:lnTo>
                      <a:lnTo>
                        <a:pt x="60" y="17"/>
                      </a:lnTo>
                      <a:lnTo>
                        <a:pt x="40" y="39"/>
                      </a:lnTo>
                      <a:lnTo>
                        <a:pt x="36" y="63"/>
                      </a:lnTo>
                      <a:lnTo>
                        <a:pt x="26" y="66"/>
                      </a:lnTo>
                      <a:lnTo>
                        <a:pt x="17" y="73"/>
                      </a:lnTo>
                      <a:lnTo>
                        <a:pt x="16" y="90"/>
                      </a:lnTo>
                      <a:lnTo>
                        <a:pt x="1" y="9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Freeform 16"/>
                <p:cNvSpPr>
                  <a:spLocks/>
                </p:cNvSpPr>
                <p:nvPr userDrawn="1"/>
              </p:nvSpPr>
              <p:spPr bwMode="auto">
                <a:xfrm>
                  <a:off x="7258051" y="3683001"/>
                  <a:ext cx="60325" cy="114300"/>
                </a:xfrm>
                <a:custGeom>
                  <a:avLst/>
                  <a:gdLst/>
                  <a:ahLst/>
                  <a:cxnLst>
                    <a:cxn ang="0">
                      <a:pos x="14" y="72"/>
                    </a:cxn>
                    <a:cxn ang="0">
                      <a:pos x="38" y="65"/>
                    </a:cxn>
                    <a:cxn ang="0">
                      <a:pos x="22" y="21"/>
                    </a:cxn>
                    <a:cxn ang="0">
                      <a:pos x="30" y="7"/>
                    </a:cxn>
                    <a:cxn ang="0">
                      <a:pos x="19" y="10"/>
                    </a:cxn>
                    <a:cxn ang="0">
                      <a:pos x="22" y="1"/>
                    </a:cxn>
                    <a:cxn ang="0">
                      <a:pos x="9" y="0"/>
                    </a:cxn>
                    <a:cxn ang="0">
                      <a:pos x="9" y="25"/>
                    </a:cxn>
                    <a:cxn ang="0">
                      <a:pos x="14" y="36"/>
                    </a:cxn>
                    <a:cxn ang="0">
                      <a:pos x="4" y="54"/>
                    </a:cxn>
                    <a:cxn ang="0">
                      <a:pos x="12" y="57"/>
                    </a:cxn>
                    <a:cxn ang="0">
                      <a:pos x="0" y="72"/>
                    </a:cxn>
                    <a:cxn ang="0">
                      <a:pos x="14" y="72"/>
                    </a:cxn>
                  </a:cxnLst>
                  <a:rect l="0" t="0" r="r" b="b"/>
                  <a:pathLst>
                    <a:path w="38" h="72">
                      <a:moveTo>
                        <a:pt x="14" y="72"/>
                      </a:moveTo>
                      <a:lnTo>
                        <a:pt x="38" y="65"/>
                      </a:lnTo>
                      <a:lnTo>
                        <a:pt x="22" y="21"/>
                      </a:lnTo>
                      <a:lnTo>
                        <a:pt x="30" y="7"/>
                      </a:lnTo>
                      <a:lnTo>
                        <a:pt x="19" y="10"/>
                      </a:lnTo>
                      <a:lnTo>
                        <a:pt x="22" y="1"/>
                      </a:lnTo>
                      <a:lnTo>
                        <a:pt x="9" y="0"/>
                      </a:lnTo>
                      <a:lnTo>
                        <a:pt x="9" y="25"/>
                      </a:lnTo>
                      <a:lnTo>
                        <a:pt x="14" y="36"/>
                      </a:lnTo>
                      <a:lnTo>
                        <a:pt x="4" y="54"/>
                      </a:lnTo>
                      <a:lnTo>
                        <a:pt x="12" y="57"/>
                      </a:lnTo>
                      <a:lnTo>
                        <a:pt x="0" y="72"/>
                      </a:lnTo>
                      <a:lnTo>
                        <a:pt x="14" y="72"/>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Freeform 23"/>
                <p:cNvSpPr>
                  <a:spLocks/>
                </p:cNvSpPr>
                <p:nvPr userDrawn="1"/>
              </p:nvSpPr>
              <p:spPr bwMode="auto">
                <a:xfrm>
                  <a:off x="9393238" y="5130801"/>
                  <a:ext cx="20638" cy="22225"/>
                </a:xfrm>
                <a:custGeom>
                  <a:avLst/>
                  <a:gdLst/>
                  <a:ahLst/>
                  <a:cxnLst>
                    <a:cxn ang="0">
                      <a:pos x="7" y="14"/>
                    </a:cxn>
                    <a:cxn ang="0">
                      <a:pos x="13" y="10"/>
                    </a:cxn>
                    <a:cxn ang="0">
                      <a:pos x="10" y="1"/>
                    </a:cxn>
                    <a:cxn ang="0">
                      <a:pos x="0" y="0"/>
                    </a:cxn>
                    <a:cxn ang="0">
                      <a:pos x="2" y="9"/>
                    </a:cxn>
                    <a:cxn ang="0">
                      <a:pos x="1" y="13"/>
                    </a:cxn>
                    <a:cxn ang="0">
                      <a:pos x="7" y="14"/>
                    </a:cxn>
                  </a:cxnLst>
                  <a:rect l="0" t="0" r="r" b="b"/>
                  <a:pathLst>
                    <a:path w="13" h="14">
                      <a:moveTo>
                        <a:pt x="7" y="14"/>
                      </a:moveTo>
                      <a:lnTo>
                        <a:pt x="13" y="10"/>
                      </a:lnTo>
                      <a:lnTo>
                        <a:pt x="10" y="1"/>
                      </a:lnTo>
                      <a:lnTo>
                        <a:pt x="0" y="0"/>
                      </a:lnTo>
                      <a:lnTo>
                        <a:pt x="2" y="9"/>
                      </a:lnTo>
                      <a:lnTo>
                        <a:pt x="1" y="13"/>
                      </a:lnTo>
                      <a:lnTo>
                        <a:pt x="7" y="14"/>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noFill/>
                  </a:endParaRPr>
                </a:p>
              </p:txBody>
            </p:sp>
            <p:sp>
              <p:nvSpPr>
                <p:cNvPr id="209" name="Freeform 17"/>
                <p:cNvSpPr>
                  <a:spLocks/>
                </p:cNvSpPr>
                <p:nvPr userDrawn="1"/>
              </p:nvSpPr>
              <p:spPr bwMode="auto">
                <a:xfrm>
                  <a:off x="7213601" y="3740151"/>
                  <a:ext cx="44450" cy="41275"/>
                </a:xfrm>
                <a:custGeom>
                  <a:avLst/>
                  <a:gdLst/>
                  <a:ahLst/>
                  <a:cxnLst>
                    <a:cxn ang="0">
                      <a:pos x="20" y="3"/>
                    </a:cxn>
                    <a:cxn ang="0">
                      <a:pos x="28" y="9"/>
                    </a:cxn>
                    <a:cxn ang="0">
                      <a:pos x="22" y="23"/>
                    </a:cxn>
                    <a:cxn ang="0">
                      <a:pos x="3" y="26"/>
                    </a:cxn>
                    <a:cxn ang="0">
                      <a:pos x="1" y="19"/>
                    </a:cxn>
                    <a:cxn ang="0">
                      <a:pos x="5" y="16"/>
                    </a:cxn>
                    <a:cxn ang="0">
                      <a:pos x="0" y="13"/>
                    </a:cxn>
                    <a:cxn ang="0">
                      <a:pos x="1" y="6"/>
                    </a:cxn>
                    <a:cxn ang="0">
                      <a:pos x="7" y="6"/>
                    </a:cxn>
                    <a:cxn ang="0">
                      <a:pos x="11" y="0"/>
                    </a:cxn>
                    <a:cxn ang="0">
                      <a:pos x="17" y="0"/>
                    </a:cxn>
                    <a:cxn ang="0">
                      <a:pos x="20" y="3"/>
                    </a:cxn>
                  </a:cxnLst>
                  <a:rect l="0" t="0" r="r" b="b"/>
                  <a:pathLst>
                    <a:path w="28" h="26">
                      <a:moveTo>
                        <a:pt x="20" y="3"/>
                      </a:moveTo>
                      <a:lnTo>
                        <a:pt x="28" y="9"/>
                      </a:lnTo>
                      <a:lnTo>
                        <a:pt x="22" y="23"/>
                      </a:lnTo>
                      <a:lnTo>
                        <a:pt x="3" y="26"/>
                      </a:lnTo>
                      <a:lnTo>
                        <a:pt x="1" y="19"/>
                      </a:lnTo>
                      <a:lnTo>
                        <a:pt x="5" y="16"/>
                      </a:lnTo>
                      <a:lnTo>
                        <a:pt x="0" y="13"/>
                      </a:lnTo>
                      <a:lnTo>
                        <a:pt x="1" y="6"/>
                      </a:lnTo>
                      <a:lnTo>
                        <a:pt x="7" y="6"/>
                      </a:lnTo>
                      <a:lnTo>
                        <a:pt x="11" y="0"/>
                      </a:lnTo>
                      <a:lnTo>
                        <a:pt x="17" y="0"/>
                      </a:lnTo>
                      <a:lnTo>
                        <a:pt x="20" y="3"/>
                      </a:lnTo>
                      <a:close/>
                    </a:path>
                  </a:pathLst>
                </a:custGeom>
                <a:grp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88" name="Freeform 19"/>
              <p:cNvSpPr>
                <a:spLocks/>
              </p:cNvSpPr>
              <p:nvPr userDrawn="1"/>
            </p:nvSpPr>
            <p:spPr bwMode="auto">
              <a:xfrm>
                <a:off x="8873856" y="4479060"/>
                <a:ext cx="51328" cy="74792"/>
              </a:xfrm>
              <a:custGeom>
                <a:avLst/>
                <a:gdLst/>
                <a:ahLst/>
                <a:cxnLst>
                  <a:cxn ang="0">
                    <a:pos x="0" y="0"/>
                  </a:cxn>
                  <a:cxn ang="0">
                    <a:pos x="17" y="0"/>
                  </a:cxn>
                  <a:cxn ang="0">
                    <a:pos x="18" y="14"/>
                  </a:cxn>
                  <a:cxn ang="0">
                    <a:pos x="18" y="25"/>
                  </a:cxn>
                  <a:cxn ang="0">
                    <a:pos x="30" y="31"/>
                  </a:cxn>
                  <a:cxn ang="0">
                    <a:pos x="35" y="40"/>
                  </a:cxn>
                  <a:cxn ang="0">
                    <a:pos x="29" y="51"/>
                  </a:cxn>
                  <a:cxn ang="0">
                    <a:pos x="15" y="50"/>
                  </a:cxn>
                  <a:cxn ang="0">
                    <a:pos x="6" y="40"/>
                  </a:cxn>
                  <a:cxn ang="0">
                    <a:pos x="15" y="37"/>
                  </a:cxn>
                  <a:cxn ang="0">
                    <a:pos x="14" y="27"/>
                  </a:cxn>
                  <a:cxn ang="0">
                    <a:pos x="5" y="20"/>
                  </a:cxn>
                  <a:cxn ang="0">
                    <a:pos x="0" y="0"/>
                  </a:cxn>
                </a:cxnLst>
                <a:rect l="0" t="0" r="r" b="b"/>
                <a:pathLst>
                  <a:path w="35" h="51">
                    <a:moveTo>
                      <a:pt x="0" y="0"/>
                    </a:moveTo>
                    <a:lnTo>
                      <a:pt x="17" y="0"/>
                    </a:lnTo>
                    <a:lnTo>
                      <a:pt x="18" y="14"/>
                    </a:lnTo>
                    <a:lnTo>
                      <a:pt x="18" y="25"/>
                    </a:lnTo>
                    <a:lnTo>
                      <a:pt x="30" y="31"/>
                    </a:lnTo>
                    <a:lnTo>
                      <a:pt x="35" y="40"/>
                    </a:lnTo>
                    <a:lnTo>
                      <a:pt x="29" y="51"/>
                    </a:lnTo>
                    <a:lnTo>
                      <a:pt x="15" y="50"/>
                    </a:lnTo>
                    <a:lnTo>
                      <a:pt x="6" y="40"/>
                    </a:lnTo>
                    <a:lnTo>
                      <a:pt x="15" y="37"/>
                    </a:lnTo>
                    <a:lnTo>
                      <a:pt x="14" y="27"/>
                    </a:lnTo>
                    <a:lnTo>
                      <a:pt x="5" y="20"/>
                    </a:lnTo>
                    <a:lnTo>
                      <a:pt x="0"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9" name="Freeform 21"/>
              <p:cNvSpPr>
                <a:spLocks/>
              </p:cNvSpPr>
              <p:nvPr userDrawn="1"/>
            </p:nvSpPr>
            <p:spPr bwMode="auto">
              <a:xfrm>
                <a:off x="8966245" y="4218023"/>
                <a:ext cx="24931" cy="43995"/>
              </a:xfrm>
              <a:custGeom>
                <a:avLst/>
                <a:gdLst/>
                <a:ahLst/>
                <a:cxnLst>
                  <a:cxn ang="0">
                    <a:pos x="15" y="30"/>
                  </a:cxn>
                  <a:cxn ang="0">
                    <a:pos x="6" y="16"/>
                  </a:cxn>
                  <a:cxn ang="0">
                    <a:pos x="0" y="7"/>
                  </a:cxn>
                  <a:cxn ang="0">
                    <a:pos x="7" y="0"/>
                  </a:cxn>
                  <a:cxn ang="0">
                    <a:pos x="17" y="8"/>
                  </a:cxn>
                  <a:cxn ang="0">
                    <a:pos x="15" y="30"/>
                  </a:cxn>
                </a:cxnLst>
                <a:rect l="0" t="0" r="r" b="b"/>
                <a:pathLst>
                  <a:path w="17" h="30">
                    <a:moveTo>
                      <a:pt x="15" y="30"/>
                    </a:moveTo>
                    <a:lnTo>
                      <a:pt x="6" y="16"/>
                    </a:lnTo>
                    <a:lnTo>
                      <a:pt x="0" y="7"/>
                    </a:lnTo>
                    <a:lnTo>
                      <a:pt x="7" y="0"/>
                    </a:lnTo>
                    <a:lnTo>
                      <a:pt x="17" y="8"/>
                    </a:lnTo>
                    <a:lnTo>
                      <a:pt x="15" y="3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0" name="Oval 68"/>
              <p:cNvSpPr>
                <a:spLocks noChangeArrowheads="1"/>
              </p:cNvSpPr>
              <p:nvPr userDrawn="1"/>
            </p:nvSpPr>
            <p:spPr bwMode="auto">
              <a:xfrm>
                <a:off x="8848925" y="4398402"/>
                <a:ext cx="29330" cy="30797"/>
              </a:xfrm>
              <a:prstGeom prst="ellipse">
                <a:avLst/>
              </a:prstGeom>
              <a:noFill/>
              <a:ln w="9525">
                <a:solidFill>
                  <a:schemeClr val="bg1">
                    <a:lumMod val="85000"/>
                  </a:schemeClr>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1" name="Freeform 18"/>
              <p:cNvSpPr>
                <a:spLocks/>
              </p:cNvSpPr>
              <p:nvPr userDrawn="1"/>
            </p:nvSpPr>
            <p:spPr bwMode="auto">
              <a:xfrm>
                <a:off x="8841593" y="4394003"/>
                <a:ext cx="32263" cy="27864"/>
              </a:xfrm>
              <a:custGeom>
                <a:avLst/>
                <a:gdLst/>
                <a:ahLst/>
                <a:cxnLst>
                  <a:cxn ang="0">
                    <a:pos x="9" y="0"/>
                  </a:cxn>
                  <a:cxn ang="0">
                    <a:pos x="0" y="15"/>
                  </a:cxn>
                  <a:cxn ang="0">
                    <a:pos x="11" y="19"/>
                  </a:cxn>
                  <a:cxn ang="0">
                    <a:pos x="22" y="17"/>
                  </a:cxn>
                  <a:cxn ang="0">
                    <a:pos x="9" y="0"/>
                  </a:cxn>
                </a:cxnLst>
                <a:rect l="0" t="0" r="r" b="b"/>
                <a:pathLst>
                  <a:path w="22" h="19">
                    <a:moveTo>
                      <a:pt x="9" y="0"/>
                    </a:moveTo>
                    <a:lnTo>
                      <a:pt x="0" y="15"/>
                    </a:lnTo>
                    <a:lnTo>
                      <a:pt x="11" y="19"/>
                    </a:lnTo>
                    <a:lnTo>
                      <a:pt x="22" y="17"/>
                    </a:lnTo>
                    <a:lnTo>
                      <a:pt x="9" y="0"/>
                    </a:lnTo>
                    <a:close/>
                  </a:path>
                </a:pathLst>
              </a:custGeom>
              <a:noFill/>
              <a:ln w="4763" cap="rnd">
                <a:solidFill>
                  <a:schemeClr val="bg1">
                    <a:lumMod val="8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77"/>
            <p:cNvGrpSpPr/>
            <p:nvPr userDrawn="1"/>
          </p:nvGrpSpPr>
          <p:grpSpPr>
            <a:xfrm>
              <a:off x="6087506" y="3983383"/>
              <a:ext cx="3425744" cy="1287587"/>
              <a:chOff x="6087506" y="3983383"/>
              <a:chExt cx="3425744" cy="1287587"/>
            </a:xfrm>
            <a:solidFill>
              <a:schemeClr val="accent6"/>
            </a:solidFill>
          </p:grpSpPr>
          <p:sp>
            <p:nvSpPr>
              <p:cNvPr id="79" name="Oval 26"/>
              <p:cNvSpPr>
                <a:spLocks noChangeArrowheads="1"/>
              </p:cNvSpPr>
              <p:nvPr userDrawn="1"/>
            </p:nvSpPr>
            <p:spPr bwMode="auto">
              <a:xfrm>
                <a:off x="6496659" y="4839819"/>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27"/>
              <p:cNvSpPr>
                <a:spLocks noChangeArrowheads="1"/>
              </p:cNvSpPr>
              <p:nvPr userDrawn="1"/>
            </p:nvSpPr>
            <p:spPr bwMode="auto">
              <a:xfrm>
                <a:off x="6437999" y="460224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 name="Oval 28"/>
              <p:cNvSpPr>
                <a:spLocks noChangeArrowheads="1"/>
              </p:cNvSpPr>
              <p:nvPr userDrawn="1"/>
            </p:nvSpPr>
            <p:spPr bwMode="auto">
              <a:xfrm>
                <a:off x="9114362" y="503779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29"/>
              <p:cNvSpPr>
                <a:spLocks noChangeArrowheads="1"/>
              </p:cNvSpPr>
              <p:nvPr userDrawn="1"/>
            </p:nvSpPr>
            <p:spPr bwMode="auto">
              <a:xfrm>
                <a:off x="9483920" y="524017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 name="Oval 30"/>
              <p:cNvSpPr>
                <a:spLocks noChangeArrowheads="1"/>
              </p:cNvSpPr>
              <p:nvPr userDrawn="1"/>
            </p:nvSpPr>
            <p:spPr bwMode="auto">
              <a:xfrm>
                <a:off x="8816662" y="466090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31"/>
              <p:cNvSpPr>
                <a:spLocks noChangeArrowheads="1"/>
              </p:cNvSpPr>
              <p:nvPr userDrawn="1"/>
            </p:nvSpPr>
            <p:spPr bwMode="auto">
              <a:xfrm>
                <a:off x="8643615" y="425028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 name="Oval 32"/>
              <p:cNvSpPr>
                <a:spLocks noChangeArrowheads="1"/>
              </p:cNvSpPr>
              <p:nvPr userDrawn="1"/>
            </p:nvSpPr>
            <p:spPr bwMode="auto">
              <a:xfrm>
                <a:off x="8894387" y="4499591"/>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33"/>
              <p:cNvSpPr>
                <a:spLocks noChangeArrowheads="1"/>
              </p:cNvSpPr>
              <p:nvPr userDrawn="1"/>
            </p:nvSpPr>
            <p:spPr bwMode="auto">
              <a:xfrm>
                <a:off x="9061568" y="41564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 name="Oval 34"/>
              <p:cNvSpPr>
                <a:spLocks noChangeArrowheads="1"/>
              </p:cNvSpPr>
              <p:nvPr userDrawn="1"/>
            </p:nvSpPr>
            <p:spPr bwMode="auto">
              <a:xfrm>
                <a:off x="8351782" y="4437998"/>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35"/>
              <p:cNvSpPr>
                <a:spLocks noChangeArrowheads="1"/>
              </p:cNvSpPr>
              <p:nvPr userDrawn="1"/>
            </p:nvSpPr>
            <p:spPr bwMode="auto">
              <a:xfrm>
                <a:off x="8086345" y="4451196"/>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9" name="Oval 36"/>
              <p:cNvSpPr>
                <a:spLocks noChangeArrowheads="1"/>
              </p:cNvSpPr>
              <p:nvPr userDrawn="1"/>
            </p:nvSpPr>
            <p:spPr bwMode="auto">
              <a:xfrm>
                <a:off x="7666926" y="503339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37"/>
              <p:cNvSpPr>
                <a:spLocks noChangeArrowheads="1"/>
              </p:cNvSpPr>
              <p:nvPr userDrawn="1"/>
            </p:nvSpPr>
            <p:spPr bwMode="auto">
              <a:xfrm>
                <a:off x="7436686" y="4118301"/>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1" name="Oval 38"/>
              <p:cNvSpPr>
                <a:spLocks noChangeArrowheads="1"/>
              </p:cNvSpPr>
              <p:nvPr userDrawn="1"/>
            </p:nvSpPr>
            <p:spPr bwMode="auto">
              <a:xfrm>
                <a:off x="7376559" y="410363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39"/>
              <p:cNvSpPr>
                <a:spLocks noChangeArrowheads="1"/>
              </p:cNvSpPr>
              <p:nvPr userDrawn="1"/>
            </p:nvSpPr>
            <p:spPr bwMode="auto">
              <a:xfrm>
                <a:off x="7556939" y="407723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3" name="Oval 40"/>
              <p:cNvSpPr>
                <a:spLocks noChangeArrowheads="1"/>
              </p:cNvSpPr>
              <p:nvPr userDrawn="1"/>
            </p:nvSpPr>
            <p:spPr bwMode="auto">
              <a:xfrm>
                <a:off x="7457217" y="417549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 name="Oval 41"/>
              <p:cNvSpPr>
                <a:spLocks noChangeArrowheads="1"/>
              </p:cNvSpPr>
              <p:nvPr userDrawn="1"/>
            </p:nvSpPr>
            <p:spPr bwMode="auto">
              <a:xfrm>
                <a:off x="7549606" y="416962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 name="Oval 42"/>
              <p:cNvSpPr>
                <a:spLocks noChangeArrowheads="1"/>
              </p:cNvSpPr>
              <p:nvPr userDrawn="1"/>
            </p:nvSpPr>
            <p:spPr bwMode="auto">
              <a:xfrm>
                <a:off x="7568671" y="413589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 name="Oval 43"/>
              <p:cNvSpPr>
                <a:spLocks noChangeArrowheads="1"/>
              </p:cNvSpPr>
              <p:nvPr userDrawn="1"/>
            </p:nvSpPr>
            <p:spPr bwMode="auto">
              <a:xfrm>
                <a:off x="7405889" y="4247353"/>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 name="Oval 44"/>
              <p:cNvSpPr>
                <a:spLocks noChangeArrowheads="1"/>
              </p:cNvSpPr>
              <p:nvPr userDrawn="1"/>
            </p:nvSpPr>
            <p:spPr bwMode="auto">
              <a:xfrm>
                <a:off x="7351629" y="4357340"/>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 name="Oval 45"/>
              <p:cNvSpPr>
                <a:spLocks noChangeArrowheads="1"/>
              </p:cNvSpPr>
              <p:nvPr userDrawn="1"/>
            </p:nvSpPr>
            <p:spPr bwMode="auto">
              <a:xfrm>
                <a:off x="7561338" y="423415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 name="Oval 46"/>
              <p:cNvSpPr>
                <a:spLocks noChangeArrowheads="1"/>
              </p:cNvSpPr>
              <p:nvPr userDrawn="1"/>
            </p:nvSpPr>
            <p:spPr bwMode="auto">
              <a:xfrm>
                <a:off x="7592135" y="4171095"/>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 name="Oval 47"/>
              <p:cNvSpPr>
                <a:spLocks noChangeArrowheads="1"/>
              </p:cNvSpPr>
              <p:nvPr userDrawn="1"/>
            </p:nvSpPr>
            <p:spPr bwMode="auto">
              <a:xfrm>
                <a:off x="7627331" y="4152030"/>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 name="Oval 48"/>
              <p:cNvSpPr>
                <a:spLocks noChangeArrowheads="1"/>
              </p:cNvSpPr>
              <p:nvPr userDrawn="1"/>
            </p:nvSpPr>
            <p:spPr bwMode="auto">
              <a:xfrm>
                <a:off x="7627331" y="4190159"/>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 name="Oval 49"/>
              <p:cNvSpPr>
                <a:spLocks noChangeArrowheads="1"/>
              </p:cNvSpPr>
              <p:nvPr userDrawn="1"/>
            </p:nvSpPr>
            <p:spPr bwMode="auto">
              <a:xfrm>
                <a:off x="7707988" y="423268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 name="Oval 50"/>
              <p:cNvSpPr>
                <a:spLocks noChangeArrowheads="1"/>
              </p:cNvSpPr>
              <p:nvPr userDrawn="1"/>
            </p:nvSpPr>
            <p:spPr bwMode="auto">
              <a:xfrm>
                <a:off x="7669859" y="4209224"/>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 name="Oval 51"/>
              <p:cNvSpPr>
                <a:spLocks noChangeArrowheads="1"/>
              </p:cNvSpPr>
              <p:nvPr userDrawn="1"/>
            </p:nvSpPr>
            <p:spPr bwMode="auto">
              <a:xfrm>
                <a:off x="7659594" y="411243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 name="Oval 52"/>
              <p:cNvSpPr>
                <a:spLocks noChangeArrowheads="1"/>
              </p:cNvSpPr>
              <p:nvPr userDrawn="1"/>
            </p:nvSpPr>
            <p:spPr bwMode="auto">
              <a:xfrm>
                <a:off x="7707988" y="4191626"/>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 name="Oval 53"/>
              <p:cNvSpPr>
                <a:spLocks noChangeArrowheads="1"/>
              </p:cNvSpPr>
              <p:nvPr userDrawn="1"/>
            </p:nvSpPr>
            <p:spPr bwMode="auto">
              <a:xfrm>
                <a:off x="7665460" y="4157896"/>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 name="Oval 54"/>
              <p:cNvSpPr>
                <a:spLocks noChangeArrowheads="1"/>
              </p:cNvSpPr>
              <p:nvPr userDrawn="1"/>
            </p:nvSpPr>
            <p:spPr bwMode="auto">
              <a:xfrm>
                <a:off x="7360428" y="4253219"/>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 name="Oval 55"/>
              <p:cNvSpPr>
                <a:spLocks noChangeArrowheads="1"/>
              </p:cNvSpPr>
              <p:nvPr userDrawn="1"/>
            </p:nvSpPr>
            <p:spPr bwMode="auto">
              <a:xfrm>
                <a:off x="6597848" y="3983383"/>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 name="Oval 56"/>
              <p:cNvSpPr>
                <a:spLocks noChangeArrowheads="1"/>
              </p:cNvSpPr>
              <p:nvPr userDrawn="1"/>
            </p:nvSpPr>
            <p:spPr bwMode="auto">
              <a:xfrm>
                <a:off x="6143233" y="4068440"/>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 name="Oval 57"/>
              <p:cNvSpPr>
                <a:spLocks noChangeArrowheads="1"/>
              </p:cNvSpPr>
              <p:nvPr userDrawn="1"/>
            </p:nvSpPr>
            <p:spPr bwMode="auto">
              <a:xfrm>
                <a:off x="6087506" y="4358807"/>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 name="Oval 58"/>
              <p:cNvSpPr>
                <a:spLocks noChangeArrowheads="1"/>
              </p:cNvSpPr>
              <p:nvPr userDrawn="1"/>
            </p:nvSpPr>
            <p:spPr bwMode="auto">
              <a:xfrm>
                <a:off x="6251754" y="4467328"/>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 name="Oval 59"/>
              <p:cNvSpPr>
                <a:spLocks noChangeArrowheads="1"/>
              </p:cNvSpPr>
              <p:nvPr userDrawn="1"/>
            </p:nvSpPr>
            <p:spPr bwMode="auto">
              <a:xfrm>
                <a:off x="6709302" y="4745963"/>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 name="Oval 60"/>
              <p:cNvSpPr>
                <a:spLocks noChangeArrowheads="1"/>
              </p:cNvSpPr>
              <p:nvPr userDrawn="1"/>
            </p:nvSpPr>
            <p:spPr bwMode="auto">
              <a:xfrm>
                <a:off x="6565585" y="5001134"/>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4" name="Oval 61"/>
              <p:cNvSpPr>
                <a:spLocks noChangeArrowheads="1"/>
              </p:cNvSpPr>
              <p:nvPr userDrawn="1"/>
            </p:nvSpPr>
            <p:spPr bwMode="auto">
              <a:xfrm>
                <a:off x="7537874" y="4128566"/>
                <a:ext cx="30797"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5" name="Oval 62"/>
              <p:cNvSpPr>
                <a:spLocks noChangeArrowheads="1"/>
              </p:cNvSpPr>
              <p:nvPr userDrawn="1"/>
            </p:nvSpPr>
            <p:spPr bwMode="auto">
              <a:xfrm>
                <a:off x="7520276" y="398778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6" name="Oval 63"/>
              <p:cNvSpPr>
                <a:spLocks noChangeArrowheads="1"/>
              </p:cNvSpPr>
              <p:nvPr userDrawn="1"/>
            </p:nvSpPr>
            <p:spPr bwMode="auto">
              <a:xfrm>
                <a:off x="7574537" y="4002447"/>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7" name="Oval 64"/>
              <p:cNvSpPr>
                <a:spLocks noChangeArrowheads="1"/>
              </p:cNvSpPr>
              <p:nvPr userDrawn="1"/>
            </p:nvSpPr>
            <p:spPr bwMode="auto">
              <a:xfrm>
                <a:off x="7688924" y="3990715"/>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8" name="Oval 65"/>
              <p:cNvSpPr>
                <a:spLocks noChangeArrowheads="1"/>
              </p:cNvSpPr>
              <p:nvPr userDrawn="1"/>
            </p:nvSpPr>
            <p:spPr bwMode="auto">
              <a:xfrm>
                <a:off x="7595068" y="411830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9" name="Oval 66"/>
              <p:cNvSpPr>
                <a:spLocks noChangeArrowheads="1"/>
              </p:cNvSpPr>
              <p:nvPr userDrawn="1"/>
            </p:nvSpPr>
            <p:spPr bwMode="auto">
              <a:xfrm>
                <a:off x="8692010" y="4637442"/>
                <a:ext cx="29330"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5" name="Oval 67"/>
              <p:cNvSpPr>
                <a:spLocks noChangeArrowheads="1"/>
              </p:cNvSpPr>
              <p:nvPr userDrawn="1"/>
            </p:nvSpPr>
            <p:spPr bwMode="auto">
              <a:xfrm>
                <a:off x="8724273" y="4525988"/>
                <a:ext cx="30797" cy="30797"/>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6" name="Oval 69"/>
              <p:cNvSpPr>
                <a:spLocks noChangeArrowheads="1"/>
              </p:cNvSpPr>
              <p:nvPr userDrawn="1"/>
            </p:nvSpPr>
            <p:spPr bwMode="auto">
              <a:xfrm>
                <a:off x="8001288" y="4436531"/>
                <a:ext cx="29330" cy="2933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74" name="Rectangle 73">
            <a:hlinkClick r:id="rId8"/>
          </p:cNvPr>
          <p:cNvSpPr/>
          <p:nvPr userDrawn="1"/>
        </p:nvSpPr>
        <p:spPr>
          <a:xfrm>
            <a:off x="1447800" y="51085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Rectangle 75">
            <a:hlinkClick r:id="rId8"/>
          </p:cNvPr>
          <p:cNvSpPr/>
          <p:nvPr userDrawn="1"/>
        </p:nvSpPr>
        <p:spPr>
          <a:xfrm>
            <a:off x="4962525" y="49815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1" name="Rectangle 120">
            <a:hlinkClick r:id="rId9"/>
          </p:cNvPr>
          <p:cNvSpPr/>
          <p:nvPr userDrawn="1"/>
        </p:nvSpPr>
        <p:spPr>
          <a:xfrm>
            <a:off x="4419599" y="51339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hlinkClick r:id="rId10"/>
          </p:cNvPr>
          <p:cNvSpPr/>
          <p:nvPr userDrawn="1"/>
        </p:nvSpPr>
        <p:spPr>
          <a:xfrm>
            <a:off x="2800350" y="54991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9311882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47061" cy="143985"/>
        </p:xfrm>
        <a:graphic>
          <a:graphicData uri="http://schemas.openxmlformats.org/presentationml/2006/ole">
            <mc:AlternateContent xmlns:mc="http://schemas.openxmlformats.org/markup-compatibility/2006">
              <mc:Choice xmlns:v="urn:schemas-microsoft-com:vml" Requires="v">
                <p:oleObj spid="_x0000_s632858" name="think-cell Slide" r:id="rId5" imgW="360" imgH="360" progId="">
                  <p:embed/>
                </p:oleObj>
              </mc:Choice>
              <mc:Fallback>
                <p:oleObj name="think-cell Slide" r:id="rId5" imgW="360" imgH="360" progId="">
                  <p:embed/>
                  <p:pic>
                    <p:nvPicPr>
                      <p:cNvPr id="0" name="Picture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7061"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9"/>
          <p:cNvSpPr>
            <a:spLocks noChangeArrowheads="1"/>
          </p:cNvSpPr>
          <p:nvPr userDrawn="1">
            <p:custDataLst>
              <p:tags r:id="rId3"/>
            </p:custDataLst>
          </p:nvPr>
        </p:nvSpPr>
        <p:spPr bwMode="gray">
          <a:xfrm>
            <a:off x="5309494" y="2912466"/>
            <a:ext cx="4259840" cy="2376667"/>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rnd" cmpd="sng" algn="ctr">
            <a:gradFill flip="none" rotWithShape="1">
              <a:gsLst>
                <a:gs pos="0">
                  <a:schemeClr val="tx1">
                    <a:lumMod val="40000"/>
                    <a:lumOff val="60000"/>
                  </a:schemeClr>
                </a:gs>
                <a:gs pos="50000">
                  <a:schemeClr val="accent2">
                    <a:lumMod val="20000"/>
                    <a:lumOff val="80000"/>
                  </a:schemeClr>
                </a:gs>
                <a:gs pos="100000">
                  <a:schemeClr val="accent2">
                    <a:lumMod val="60000"/>
                    <a:lumOff val="40000"/>
                  </a:schemeClr>
                </a:gs>
              </a:gsLst>
              <a:lin ang="0" scaled="1"/>
              <a:tileRect/>
            </a:gradFill>
            <a:prstDash val="solid"/>
            <a:round/>
          </a:ln>
          <a:effectLst/>
        </p:spPr>
        <p:txBody>
          <a:bodyPr wrap="square" lIns="360000" tIns="50951" rIns="216000" bIns="144000" rtlCol="0" anchor="b"/>
          <a:lstStyle/>
          <a:p>
            <a:pPr marL="0" marR="0" indent="0" algn="just" defTabSz="1042966" rtl="0" eaLnBrk="1" fontAlgn="auto" latinLnBrk="0" hangingPunct="1">
              <a:lnSpc>
                <a:spcPct val="100000"/>
              </a:lnSpc>
              <a:spcBef>
                <a:spcPts val="0"/>
              </a:spcBef>
              <a:spcAft>
                <a:spcPts val="600"/>
              </a:spcAft>
              <a:buClrTx/>
              <a:buSzTx/>
              <a:buFontTx/>
              <a:buNone/>
              <a:tabLst/>
              <a:defRPr/>
            </a:pPr>
            <a:r>
              <a:rPr lang="en-US" sz="1800" b="1" dirty="0" smtClean="0">
                <a:solidFill>
                  <a:schemeClr val="bg1"/>
                </a:solidFill>
                <a:latin typeface="Arial"/>
                <a:cs typeface="Arial"/>
              </a:rPr>
              <a:t>About Capgemini</a:t>
            </a:r>
            <a:endParaRPr lang="en-US" sz="1000" dirty="0" smtClean="0">
              <a:solidFill>
                <a:schemeClr val="bg1"/>
              </a:solidFill>
              <a:latin typeface="Arial" pitchFamily="34" charset="0"/>
              <a:cs typeface="Arial" pitchFamily="34" charset="0"/>
            </a:endParaRPr>
          </a:p>
          <a:p>
            <a:pPr marL="0" indent="0" algn="just">
              <a:spcBef>
                <a:spcPts val="600"/>
              </a:spcBef>
            </a:pPr>
            <a:r>
              <a:rPr lang="en-US" sz="1000" dirty="0" smtClean="0">
                <a:solidFill>
                  <a:schemeClr val="bg1"/>
                </a:solidFill>
                <a:latin typeface="Arial" pitchFamily="34" charset="0"/>
                <a:cs typeface="Arial" pitchFamily="34" charset="0"/>
              </a:rPr>
              <a:t>With almost 145,000 people in over 40 countries, </a:t>
            </a:r>
            <a:r>
              <a:rPr lang="en-US" sz="1000" dirty="0" err="1" smtClean="0">
                <a:solidFill>
                  <a:schemeClr val="bg1"/>
                </a:solidFill>
                <a:latin typeface="Arial" pitchFamily="34" charset="0"/>
                <a:cs typeface="Arial" pitchFamily="34" charset="0"/>
              </a:rPr>
              <a:t>Capgemini</a:t>
            </a:r>
            <a:r>
              <a:rPr lang="en-US" sz="1000" dirty="0" smtClean="0">
                <a:solidFill>
                  <a:schemeClr val="bg1"/>
                </a:solidFill>
                <a:latin typeface="Arial" pitchFamily="34" charset="0"/>
                <a:cs typeface="Arial" pitchFamily="34" charset="0"/>
              </a:rPr>
              <a:t> is one of the world's foremost providers of consulting, technology and outsourcing services. The Group reported 2014 global revenues of EUR 10.573 billion.</a:t>
            </a:r>
          </a:p>
          <a:p>
            <a:pPr marL="0" indent="0" algn="just">
              <a:spcBef>
                <a:spcPts val="600"/>
              </a:spcBef>
            </a:pPr>
            <a:r>
              <a:rPr lang="en-US" sz="1000" dirty="0" smtClean="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a:t>
            </a:r>
            <a:r>
              <a:rPr lang="en-US" sz="1000" u="sng" dirty="0" smtClean="0">
                <a:solidFill>
                  <a:schemeClr val="bg1"/>
                </a:solidFill>
                <a:latin typeface="Arial" pitchFamily="34" charset="0"/>
                <a:cs typeface="Arial" pitchFamily="34" charset="0"/>
              </a:rPr>
              <a:t>the Collaborative Business Experience™</a:t>
            </a:r>
            <a:r>
              <a:rPr lang="en-US" sz="1000" dirty="0" smtClean="0">
                <a:solidFill>
                  <a:schemeClr val="bg1"/>
                </a:solidFill>
                <a:latin typeface="Arial" pitchFamily="34" charset="0"/>
                <a:cs typeface="Arial" pitchFamily="34" charset="0"/>
              </a:rPr>
              <a:t>, and draws on </a:t>
            </a:r>
            <a:r>
              <a:rPr lang="en-US" sz="1000" u="sng" dirty="0" err="1" smtClean="0">
                <a:solidFill>
                  <a:schemeClr val="bg1"/>
                </a:solidFill>
                <a:latin typeface="Arial" pitchFamily="34" charset="0"/>
                <a:cs typeface="Arial" pitchFamily="34" charset="0"/>
              </a:rPr>
              <a:t>Rightshore</a:t>
            </a:r>
            <a:r>
              <a:rPr lang="en-US" sz="1000" u="sng" baseline="30000" dirty="0" smtClean="0">
                <a:solidFill>
                  <a:schemeClr val="bg1"/>
                </a:solidFill>
                <a:latin typeface="Arial" pitchFamily="34" charset="0"/>
                <a:cs typeface="Arial" pitchFamily="34" charset="0"/>
              </a:rPr>
              <a:t>®</a:t>
            </a:r>
            <a:r>
              <a:rPr lang="en-US" sz="1000" dirty="0" smtClean="0">
                <a:solidFill>
                  <a:schemeClr val="bg1"/>
                </a:solidFill>
                <a:latin typeface="Arial" pitchFamily="34" charset="0"/>
                <a:cs typeface="Arial" pitchFamily="34" charset="0"/>
              </a:rPr>
              <a:t>, its worldwide delivery model.</a:t>
            </a:r>
          </a:p>
          <a:p>
            <a:pPr marL="0" indent="0" algn="just">
              <a:spcBef>
                <a:spcPts val="600"/>
              </a:spcBef>
            </a:pPr>
            <a:r>
              <a:rPr lang="en-US" sz="1000" dirty="0" smtClean="0">
                <a:solidFill>
                  <a:schemeClr val="bg1"/>
                </a:solidFill>
                <a:latin typeface="Arial" pitchFamily="34" charset="0"/>
                <a:cs typeface="Arial" pitchFamily="34" charset="0"/>
              </a:rPr>
              <a:t>Learn more about us at </a:t>
            </a:r>
            <a:r>
              <a:rPr lang="en-US" sz="1000" b="1" u="sng" dirty="0" smtClean="0">
                <a:solidFill>
                  <a:schemeClr val="bg1"/>
                </a:solidFill>
                <a:latin typeface="Arial" pitchFamily="34" charset="0"/>
                <a:cs typeface="Arial" pitchFamily="34" charset="0"/>
              </a:rPr>
              <a:t>www.capgemini.com</a:t>
            </a:r>
            <a:r>
              <a:rPr lang="en-US" sz="1000" dirty="0" smtClean="0">
                <a:solidFill>
                  <a:schemeClr val="bg1"/>
                </a:solidFill>
                <a:latin typeface="Arial" pitchFamily="34" charset="0"/>
                <a:cs typeface="Arial" pitchFamily="34" charset="0"/>
              </a:rPr>
              <a:t>.</a:t>
            </a:r>
            <a:endParaRPr lang="en-US" sz="1000" dirty="0">
              <a:solidFill>
                <a:schemeClr val="bg1"/>
              </a:solidFill>
              <a:latin typeface="Arial" pitchFamily="34" charset="0"/>
              <a:cs typeface="Arial" pitchFamily="34" charset="0"/>
            </a:endParaRPr>
          </a:p>
        </p:txBody>
      </p:sp>
      <p:pic>
        <p:nvPicPr>
          <p:cNvPr id="15" name="Image 337" descr="CBE_Label_ppt.png"/>
          <p:cNvPicPr>
            <a:picLocks noChangeAspect="1"/>
          </p:cNvPicPr>
          <p:nvPr userDrawn="1"/>
        </p:nvPicPr>
        <p:blipFill>
          <a:blip r:embed="rId7" cstate="screen"/>
          <a:stretch>
            <a:fillRect/>
          </a:stretch>
        </p:blipFill>
        <p:spPr>
          <a:xfrm>
            <a:off x="5059256" y="2763611"/>
            <a:ext cx="519572" cy="522508"/>
          </a:xfrm>
          <a:prstGeom prst="rect">
            <a:avLst/>
          </a:prstGeom>
        </p:spPr>
      </p:pic>
      <p:sp>
        <p:nvSpPr>
          <p:cNvPr id="16" name="Rectangle 15">
            <a:hlinkClick r:id="rId8"/>
          </p:cNvPr>
          <p:cNvSpPr/>
          <p:nvPr userDrawn="1"/>
        </p:nvSpPr>
        <p:spPr>
          <a:xfrm>
            <a:off x="5639331" y="4588375"/>
            <a:ext cx="2133600" cy="2088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hlinkClick r:id="rId8"/>
          </p:cNvPr>
          <p:cNvSpPr/>
          <p:nvPr userDrawn="1"/>
        </p:nvSpPr>
        <p:spPr>
          <a:xfrm>
            <a:off x="9154056" y="4461375"/>
            <a:ext cx="228600" cy="168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hlinkClick r:id="rId9"/>
          </p:cNvPr>
          <p:cNvSpPr/>
          <p:nvPr userDrawn="1"/>
        </p:nvSpPr>
        <p:spPr>
          <a:xfrm>
            <a:off x="8611130" y="4613775"/>
            <a:ext cx="7080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hlinkClick r:id="rId10"/>
          </p:cNvPr>
          <p:cNvSpPr/>
          <p:nvPr userDrawn="1"/>
        </p:nvSpPr>
        <p:spPr>
          <a:xfrm>
            <a:off x="6991881" y="4978900"/>
            <a:ext cx="1266825" cy="183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6636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3882" name="think-cell Slide" r:id="rId4" imgW="360" imgH="360" progId="">
                  <p:embed/>
                </p:oleObj>
              </mc:Choice>
              <mc:Fallback>
                <p:oleObj name="think-cell Slide" r:id="rId4" imgW="360" imgH="360" progId="">
                  <p:embed/>
                  <p:pic>
                    <p:nvPicPr>
                      <p:cNvPr id="0" name="Picture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35025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a:ext>
            </a:extLst>
          </a:blip>
          <a:srcRect r="2413"/>
          <a:stretch/>
        </p:blipFill>
        <p:spPr>
          <a:xfrm>
            <a:off x="-2052" y="1348661"/>
            <a:ext cx="9908052" cy="5513714"/>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6952" name="think-cell Slide" r:id="rId6" imgW="360" imgH="360" progId="">
                  <p:embed/>
                </p:oleObj>
              </mc:Choice>
              <mc:Fallback>
                <p:oleObj name="think-cell Slide" r:id="rId6" imgW="360" imgH="360" progId="">
                  <p:embed/>
                  <p:pic>
                    <p:nvPicPr>
                      <p:cNvPr id="0"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1" name="Rectangle 10"/>
          <p:cNvSpPr/>
          <p:nvPr userDrawn="1"/>
        </p:nvSpPr>
        <p:spPr>
          <a:xfrm>
            <a:off x="1776792" y="4601752"/>
            <a:ext cx="1242328" cy="436017"/>
          </a:xfrm>
          <a:prstGeom prst="rect">
            <a:avLst/>
          </a:prstGeom>
          <a:effectLst>
            <a:outerShdw blurRad="38100" dist="25400" dir="2700000" algn="tl" rotWithShape="0">
              <a:schemeClr val="bg1">
                <a:alpha val="65000"/>
              </a:schemeClr>
            </a:outerShdw>
          </a:effectLst>
        </p:spPr>
        <p:txBody>
          <a:bodyPr wrap="none" lIns="0" tIns="0" rIns="0" bIns="0">
            <a:spAutoFit/>
          </a:bodyPr>
          <a:lstStyle/>
          <a:p>
            <a:pPr algn="l">
              <a:lnSpc>
                <a:spcPts val="1700"/>
              </a:lnSpc>
            </a:pPr>
            <a:r>
              <a:rPr lang="en-US" sz="1800" b="1" kern="1100" spc="0" baseline="0" dirty="0" smtClean="0">
                <a:solidFill>
                  <a:schemeClr val="accent6"/>
                </a:solidFill>
                <a:latin typeface="Arial Narrow" pitchFamily="34" charset="0"/>
                <a:ea typeface="+mn-ea"/>
                <a:cs typeface="+mn-cs"/>
              </a:rPr>
              <a:t>Learning and </a:t>
            </a:r>
            <a:br>
              <a:rPr lang="en-US" sz="1800" b="1" kern="1100" spc="0" baseline="0" dirty="0" smtClean="0">
                <a:solidFill>
                  <a:schemeClr val="accent6"/>
                </a:solidFill>
                <a:latin typeface="Arial Narrow" pitchFamily="34" charset="0"/>
                <a:ea typeface="+mn-ea"/>
                <a:cs typeface="+mn-cs"/>
              </a:rPr>
            </a:br>
            <a:r>
              <a:rPr lang="en-US" sz="1800" b="1" kern="1100" spc="0" baseline="0" dirty="0" smtClean="0">
                <a:solidFill>
                  <a:schemeClr val="accent6"/>
                </a:solidFill>
                <a:latin typeface="Arial Narrow" pitchFamily="34" charset="0"/>
              </a:rPr>
              <a:t>Development</a:t>
            </a:r>
            <a:endParaRPr lang="en-US" sz="1800" b="1" kern="1100" spc="0" baseline="0" dirty="0">
              <a:solidFill>
                <a:schemeClr val="accent6"/>
              </a:solidFill>
              <a:latin typeface="Arial Narrow" pitchFamily="34" charset="0"/>
            </a:endParaRPr>
          </a:p>
        </p:txBody>
      </p:sp>
      <p:sp>
        <p:nvSpPr>
          <p:cNvPr id="13" name="Rectangle 12"/>
          <p:cNvSpPr/>
          <p:nvPr userDrawn="1"/>
        </p:nvSpPr>
        <p:spPr>
          <a:xfrm>
            <a:off x="1776792" y="5023940"/>
            <a:ext cx="1173398" cy="338554"/>
          </a:xfrm>
          <a:prstGeom prst="rect">
            <a:avLst/>
          </a:prstGeom>
          <a:effectLst/>
        </p:spPr>
        <p:txBody>
          <a:bodyPr wrap="none" lIns="0" tIns="0" rIns="0" bIns="0">
            <a:spAutoFit/>
          </a:bodyPr>
          <a:lstStyle/>
          <a:p>
            <a:pPr algn="l"/>
            <a:r>
              <a:rPr lang="en-US" sz="1100" b="0" kern="1100" spc="0" baseline="0" dirty="0" smtClean="0">
                <a:solidFill>
                  <a:schemeClr val="accent1">
                    <a:lumMod val="50000"/>
                  </a:schemeClr>
                </a:solidFill>
                <a:latin typeface="Arial Narrow" pitchFamily="34" charset="0"/>
                <a:ea typeface="+mn-ea"/>
                <a:cs typeface="+mn-cs"/>
              </a:rPr>
              <a:t>Enabling development,</a:t>
            </a:r>
          </a:p>
          <a:p>
            <a:pPr algn="l"/>
            <a:r>
              <a:rPr lang="en-US" sz="1100" b="0" kern="1100" spc="0" baseline="0" dirty="0" smtClean="0">
                <a:solidFill>
                  <a:schemeClr val="accent1">
                    <a:lumMod val="50000"/>
                  </a:schemeClr>
                </a:solidFill>
                <a:latin typeface="Arial Narrow" pitchFamily="34" charset="0"/>
                <a:ea typeface="+mn-ea"/>
                <a:cs typeface="+mn-cs"/>
              </a:rPr>
              <a:t>Impacting growth…</a:t>
            </a:r>
            <a:endParaRPr lang="en-US" sz="1100" b="0" kern="1100" spc="0" baseline="0" dirty="0">
              <a:solidFill>
                <a:schemeClr val="accent1">
                  <a:lumMod val="50000"/>
                </a:schemeClr>
              </a:solidFill>
              <a:latin typeface="Arial Narrow" pitchFamily="34" charset="0"/>
            </a:endParaRPr>
          </a:p>
        </p:txBody>
      </p:sp>
    </p:spTree>
    <p:extLst>
      <p:ext uri="{BB962C8B-B14F-4D97-AF65-F5344CB8AC3E}">
        <p14:creationId xmlns:p14="http://schemas.microsoft.com/office/powerpoint/2010/main" val="2727275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7"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2054" y="237618"/>
            <a:ext cx="9908054" cy="6620382"/>
          </a:xfrm>
          <a:prstGeom prst="rect">
            <a:avLst/>
          </a:prstGeom>
          <a:noFill/>
          <a:ln>
            <a:noFill/>
          </a:ln>
        </p:spPr>
      </p:pic>
      <p:sp>
        <p:nvSpPr>
          <p:cNvPr id="8" name="Rectangle 7"/>
          <p:cNvSpPr/>
          <p:nvPr userDrawn="1">
            <p:custDataLst>
              <p:tags r:id="rId2"/>
            </p:custDataLst>
          </p:nvPr>
        </p:nvSpPr>
        <p:spPr bwMode="auto">
          <a:xfrm>
            <a:off x="-2054" y="711"/>
            <a:ext cx="9910493" cy="2919582"/>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8 w 10562411"/>
              <a:gd name="connsiteY0" fmla="*/ 0 h 3670551"/>
              <a:gd name="connsiteX1" fmla="*/ 10561655 w 10562411"/>
              <a:gd name="connsiteY1" fmla="*/ 712383 h 3670551"/>
              <a:gd name="connsiteX2" fmla="*/ 10561157 w 10562411"/>
              <a:gd name="connsiteY2" fmla="*/ 2188721 h 3670551"/>
              <a:gd name="connsiteX3" fmla="*/ 9288594 w 10562411"/>
              <a:gd name="connsiteY3" fmla="*/ 2865486 h 3670551"/>
              <a:gd name="connsiteX4" fmla="*/ 2317558 w 10562411"/>
              <a:gd name="connsiteY4" fmla="*/ 2871895 h 3670551"/>
              <a:gd name="connsiteX5" fmla="*/ 1180889 w 10562411"/>
              <a:gd name="connsiteY5" fmla="*/ 3670551 h 3670551"/>
              <a:gd name="connsiteX6" fmla="*/ 0 w 10562411"/>
              <a:gd name="connsiteY6" fmla="*/ 2886448 h 3670551"/>
              <a:gd name="connsiteX7" fmla="*/ 2188 w 10562411"/>
              <a:gd name="connsiteY7" fmla="*/ 0 h 3670551"/>
              <a:gd name="connsiteX0" fmla="*/ 2188 w 10562585"/>
              <a:gd name="connsiteY0" fmla="*/ 0 h 3670551"/>
              <a:gd name="connsiteX1" fmla="*/ 10562072 w 10562585"/>
              <a:gd name="connsiteY1" fmla="*/ 1 h 3670551"/>
              <a:gd name="connsiteX2" fmla="*/ 10561157 w 10562585"/>
              <a:gd name="connsiteY2" fmla="*/ 2188721 h 3670551"/>
              <a:gd name="connsiteX3" fmla="*/ 9288594 w 10562585"/>
              <a:gd name="connsiteY3" fmla="*/ 2865486 h 3670551"/>
              <a:gd name="connsiteX4" fmla="*/ 2317558 w 10562585"/>
              <a:gd name="connsiteY4" fmla="*/ 2871895 h 3670551"/>
              <a:gd name="connsiteX5" fmla="*/ 1180889 w 10562585"/>
              <a:gd name="connsiteY5" fmla="*/ 3670551 h 3670551"/>
              <a:gd name="connsiteX6" fmla="*/ 0 w 10562585"/>
              <a:gd name="connsiteY6" fmla="*/ 2886448 h 3670551"/>
              <a:gd name="connsiteX7" fmla="*/ 2188 w 10562585"/>
              <a:gd name="connsiteY7" fmla="*/ 0 h 3670551"/>
              <a:gd name="connsiteX0" fmla="*/ 212879 w 10562341"/>
              <a:gd name="connsiteY0" fmla="*/ 517211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2879 w 10562341"/>
              <a:gd name="connsiteY7" fmla="*/ 517211 h 3670550"/>
              <a:gd name="connsiteX0" fmla="*/ 2189 w 10562341"/>
              <a:gd name="connsiteY0" fmla="*/ 451575 h 3670550"/>
              <a:gd name="connsiteX1" fmla="*/ 10562072 w 10562341"/>
              <a:gd name="connsiteY1" fmla="*/ 0 h 3670550"/>
              <a:gd name="connsiteX2" fmla="*/ 10561157 w 10562341"/>
              <a:gd name="connsiteY2" fmla="*/ 2188720 h 3670550"/>
              <a:gd name="connsiteX3" fmla="*/ 9288594 w 10562341"/>
              <a:gd name="connsiteY3" fmla="*/ 2865485 h 3670550"/>
              <a:gd name="connsiteX4" fmla="*/ 2317558 w 10562341"/>
              <a:gd name="connsiteY4" fmla="*/ 2871894 h 3670550"/>
              <a:gd name="connsiteX5" fmla="*/ 1180889 w 10562341"/>
              <a:gd name="connsiteY5" fmla="*/ 3670550 h 3670550"/>
              <a:gd name="connsiteX6" fmla="*/ 0 w 10562341"/>
              <a:gd name="connsiteY6" fmla="*/ 2886447 h 3670550"/>
              <a:gd name="connsiteX7" fmla="*/ 2189 w 10562341"/>
              <a:gd name="connsiteY7" fmla="*/ 451575 h 3670550"/>
              <a:gd name="connsiteX0" fmla="*/ 2189 w 10561158"/>
              <a:gd name="connsiteY0" fmla="*/ 0 h 3218975"/>
              <a:gd name="connsiteX1" fmla="*/ 9838619 w 10561158"/>
              <a:gd name="connsiteY1" fmla="*/ 674738 h 3218975"/>
              <a:gd name="connsiteX2" fmla="*/ 10561157 w 10561158"/>
              <a:gd name="connsiteY2" fmla="*/ 1737145 h 3218975"/>
              <a:gd name="connsiteX3" fmla="*/ 9288594 w 10561158"/>
              <a:gd name="connsiteY3" fmla="*/ 2413910 h 3218975"/>
              <a:gd name="connsiteX4" fmla="*/ 2317558 w 10561158"/>
              <a:gd name="connsiteY4" fmla="*/ 2420319 h 3218975"/>
              <a:gd name="connsiteX5" fmla="*/ 1180889 w 10561158"/>
              <a:gd name="connsiteY5" fmla="*/ 3218975 h 3218975"/>
              <a:gd name="connsiteX6" fmla="*/ 0 w 10561158"/>
              <a:gd name="connsiteY6" fmla="*/ 2434872 h 3218975"/>
              <a:gd name="connsiteX7" fmla="*/ 2189 w 10561158"/>
              <a:gd name="connsiteY7" fmla="*/ 0 h 3218975"/>
              <a:gd name="connsiteX0" fmla="*/ 2189 w 10564674"/>
              <a:gd name="connsiteY0" fmla="*/ 0 h 3218975"/>
              <a:gd name="connsiteX1" fmla="*/ 10564611 w 10564674"/>
              <a:gd name="connsiteY1" fmla="*/ 0 h 3218975"/>
              <a:gd name="connsiteX2" fmla="*/ 10561157 w 10564674"/>
              <a:gd name="connsiteY2" fmla="*/ 1737145 h 3218975"/>
              <a:gd name="connsiteX3" fmla="*/ 9288594 w 10564674"/>
              <a:gd name="connsiteY3" fmla="*/ 2413910 h 3218975"/>
              <a:gd name="connsiteX4" fmla="*/ 2317558 w 10564674"/>
              <a:gd name="connsiteY4" fmla="*/ 2420319 h 3218975"/>
              <a:gd name="connsiteX5" fmla="*/ 1180889 w 10564674"/>
              <a:gd name="connsiteY5" fmla="*/ 3218975 h 3218975"/>
              <a:gd name="connsiteX6" fmla="*/ 0 w 10564674"/>
              <a:gd name="connsiteY6" fmla="*/ 2434872 h 3218975"/>
              <a:gd name="connsiteX7" fmla="*/ 2189 w 10564674"/>
              <a:gd name="connsiteY7" fmla="*/ 0 h 321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4674" h="3218975">
                <a:moveTo>
                  <a:pt x="2189" y="0"/>
                </a:moveTo>
                <a:lnTo>
                  <a:pt x="10564611" y="0"/>
                </a:lnTo>
                <a:cubicBezTo>
                  <a:pt x="10565124" y="67600"/>
                  <a:pt x="10562411" y="1693730"/>
                  <a:pt x="10561157" y="1737145"/>
                </a:cubicBezTo>
                <a:cubicBezTo>
                  <a:pt x="10083761" y="2409154"/>
                  <a:pt x="9705180" y="2419230"/>
                  <a:pt x="9288594" y="2413910"/>
                </a:cubicBezTo>
                <a:lnTo>
                  <a:pt x="2317558" y="2420319"/>
                </a:lnTo>
                <a:cubicBezTo>
                  <a:pt x="1740344" y="2453461"/>
                  <a:pt x="1372498" y="2756153"/>
                  <a:pt x="1180889" y="3218975"/>
                </a:cubicBezTo>
                <a:cubicBezTo>
                  <a:pt x="882535" y="2515198"/>
                  <a:pt x="278640" y="2433994"/>
                  <a:pt x="0" y="2434872"/>
                </a:cubicBezTo>
                <a:cubicBezTo>
                  <a:pt x="2067" y="2399359"/>
                  <a:pt x="3461" y="95582"/>
                  <a:pt x="2189" y="0"/>
                </a:cubicBezTo>
                <a:close/>
              </a:path>
            </a:pathLst>
          </a:custGeom>
          <a:solidFill>
            <a:schemeClr val="bg1"/>
          </a:soli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24696" name="think-cell Slide" r:id="rId6" imgW="360" imgH="360" progId="">
                  <p:embed/>
                </p:oleObj>
              </mc:Choice>
              <mc:Fallback>
                <p:oleObj name="think-cell Slide" r:id="rId6" imgW="360" imgH="360"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33400"/>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10" name="Rectangle 9"/>
          <p:cNvSpPr/>
          <p:nvPr userDrawn="1"/>
        </p:nvSpPr>
        <p:spPr>
          <a:xfrm>
            <a:off x="666750" y="5486400"/>
            <a:ext cx="1189428" cy="436017"/>
          </a:xfrm>
          <a:prstGeom prst="rect">
            <a:avLst/>
          </a:prstGeom>
          <a:effectLst>
            <a:outerShdw blurRad="38100" dist="12700" dir="2700000" algn="tl" rotWithShape="0">
              <a:srgbClr val="000000">
                <a:alpha val="50000"/>
              </a:srgbClr>
            </a:outerShdw>
          </a:effectLst>
        </p:spPr>
        <p:txBody>
          <a:bodyPr wrap="none" lIns="0" tIns="0" rIns="0" bIns="0">
            <a:spAutoFit/>
          </a:bodyPr>
          <a:lstStyle/>
          <a:p>
            <a:pPr algn="l">
              <a:lnSpc>
                <a:spcPts val="1700"/>
              </a:lnSpc>
            </a:pPr>
            <a:r>
              <a:rPr lang="en-US" sz="1800" b="1" kern="1100" spc="0" baseline="0" dirty="0" smtClean="0">
                <a:solidFill>
                  <a:schemeClr val="accent2">
                    <a:lumMod val="60000"/>
                    <a:lumOff val="40000"/>
                  </a:schemeClr>
                </a:solidFill>
                <a:latin typeface="Arial Narrow" pitchFamily="34" charset="0"/>
                <a:ea typeface="+mn-ea"/>
                <a:cs typeface="+mn-cs"/>
              </a:rPr>
              <a:t>Learning and</a:t>
            </a:r>
            <a:br>
              <a:rPr lang="en-US" sz="1800" b="1" kern="1100" spc="0" baseline="0" dirty="0" smtClean="0">
                <a:solidFill>
                  <a:schemeClr val="accent2">
                    <a:lumMod val="60000"/>
                    <a:lumOff val="40000"/>
                  </a:schemeClr>
                </a:solidFill>
                <a:latin typeface="Arial Narrow" pitchFamily="34" charset="0"/>
                <a:ea typeface="+mn-ea"/>
                <a:cs typeface="+mn-cs"/>
              </a:rPr>
            </a:br>
            <a:r>
              <a:rPr lang="en-US" sz="1800" b="1" kern="1100" spc="0" baseline="0" dirty="0" smtClean="0">
                <a:solidFill>
                  <a:schemeClr val="accent2">
                    <a:lumMod val="60000"/>
                    <a:lumOff val="40000"/>
                  </a:schemeClr>
                </a:solidFill>
                <a:latin typeface="Arial Narrow" pitchFamily="34" charset="0"/>
              </a:rPr>
              <a:t>Development</a:t>
            </a:r>
            <a:endParaRPr lang="en-US" sz="1800" b="1" kern="1100" spc="0" baseline="0" dirty="0">
              <a:solidFill>
                <a:schemeClr val="accent2">
                  <a:lumMod val="60000"/>
                  <a:lumOff val="40000"/>
                </a:schemeClr>
              </a:solidFill>
              <a:latin typeface="Arial Narrow" pitchFamily="34" charset="0"/>
            </a:endParaRPr>
          </a:p>
        </p:txBody>
      </p:sp>
      <p:sp>
        <p:nvSpPr>
          <p:cNvPr id="11" name="Rectangle 10"/>
          <p:cNvSpPr/>
          <p:nvPr userDrawn="1"/>
        </p:nvSpPr>
        <p:spPr>
          <a:xfrm>
            <a:off x="666750" y="5922417"/>
            <a:ext cx="1173398" cy="338554"/>
          </a:xfrm>
          <a:prstGeom prst="rect">
            <a:avLst/>
          </a:prstGeom>
          <a:effectLst>
            <a:outerShdw blurRad="25400" dist="12700" dir="2700000" algn="tl" rotWithShape="0">
              <a:prstClr val="black">
                <a:alpha val="70000"/>
              </a:prstClr>
            </a:outerShdw>
          </a:effectLst>
        </p:spPr>
        <p:txBody>
          <a:bodyPr wrap="non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a:t>
            </a:r>
          </a:p>
          <a:p>
            <a:pPr algn="l"/>
            <a:r>
              <a:rPr lang="en-US" sz="1100" b="0" kern="1100" spc="0" baseline="0" dirty="0" smtClean="0">
                <a:solidFill>
                  <a:schemeClr val="bg1"/>
                </a:solidFill>
                <a:latin typeface="Arial Narrow" pitchFamily="34" charset="0"/>
                <a:ea typeface="+mn-ea"/>
                <a:cs typeface="+mn-cs"/>
              </a:rPr>
              <a:t>Impacting growth…</a:t>
            </a:r>
            <a:endParaRPr lang="en-US" sz="1100" b="0" kern="1100" spc="0" baseline="0" dirty="0">
              <a:solidFill>
                <a:schemeClr val="bg1"/>
              </a:solidFill>
              <a:latin typeface="Arial Narrow" pitchFamily="34" charset="0"/>
            </a:endParaRPr>
          </a:p>
        </p:txBody>
      </p:sp>
    </p:spTree>
    <p:extLst>
      <p:ext uri="{BB962C8B-B14F-4D97-AF65-F5344CB8AC3E}">
        <p14:creationId xmlns:p14="http://schemas.microsoft.com/office/powerpoint/2010/main" val="721729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8" name="Image 5"/>
          <p:cNvPicPr>
            <a:picLocks noChangeAspect="1"/>
          </p:cNvPicPr>
          <p:nvPr userDrawn="1"/>
        </p:nvPicPr>
        <p:blipFill rotWithShape="1">
          <a:blip r:embed="rId5" cstate="screen">
            <a:extLst>
              <a:ext uri="{28A0092B-C50C-407E-A947-70E740481C1C}">
                <a14:useLocalDpi xmlns:a14="http://schemas.microsoft.com/office/drawing/2010/main" val="0"/>
              </a:ext>
            </a:extLst>
          </a:blip>
          <a:stretch/>
        </p:blipFill>
        <p:spPr>
          <a:xfrm>
            <a:off x="-1175" y="2649"/>
            <a:ext cx="9907176" cy="5665103"/>
          </a:xfrm>
          <a:prstGeom prst="rect">
            <a:avLst/>
          </a:prstGeom>
          <a:noFill/>
          <a:ln>
            <a:noFill/>
          </a:ln>
        </p:spPr>
      </p:pic>
      <p:sp>
        <p:nvSpPr>
          <p:cNvPr id="7" name="Rectangle 7"/>
          <p:cNvSpPr/>
          <p:nvPr userDrawn="1">
            <p:custDataLst>
              <p:tags r:id="rId2"/>
            </p:custDataLst>
          </p:nvPr>
        </p:nvSpPr>
        <p:spPr bwMode="auto">
          <a:xfrm flipV="1">
            <a:off x="-1175" y="3384911"/>
            <a:ext cx="9907176" cy="3473089"/>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1864314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30995 w 10564100"/>
              <a:gd name="connsiteY6" fmla="*/ 0 h 3793347"/>
              <a:gd name="connsiteX0" fmla="*/ 10562333 w 10564100"/>
              <a:gd name="connsiteY0" fmla="*/ 0 h 3793347"/>
              <a:gd name="connsiteX1" fmla="*/ 10562846 w 10564100"/>
              <a:gd name="connsiteY1" fmla="*/ 3793347 h 3793347"/>
              <a:gd name="connsiteX2" fmla="*/ 9024256 w 10564100"/>
              <a:gd name="connsiteY2" fmla="*/ 2944606 h 3793347"/>
              <a:gd name="connsiteX3" fmla="*/ 2294717 w 10564100"/>
              <a:gd name="connsiteY3" fmla="*/ 2929750 h 3793347"/>
              <a:gd name="connsiteX4" fmla="*/ 1200045 w 10564100"/>
              <a:gd name="connsiteY4" fmla="*/ 2207950 h 3793347"/>
              <a:gd name="connsiteX5" fmla="*/ 0 w 10564100"/>
              <a:gd name="connsiteY5" fmla="*/ 2933771 h 3793347"/>
              <a:gd name="connsiteX6" fmla="*/ 1254 w 10564100"/>
              <a:gd name="connsiteY6" fmla="*/ 0 h 379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100" h="3793347">
                <a:moveTo>
                  <a:pt x="10562333" y="0"/>
                </a:moveTo>
                <a:cubicBezTo>
                  <a:pt x="10562846" y="67600"/>
                  <a:pt x="10564100" y="3749932"/>
                  <a:pt x="10562846" y="3793347"/>
                </a:cubicBezTo>
                <a:cubicBezTo>
                  <a:pt x="10190427" y="3056010"/>
                  <a:pt x="9461842" y="2928661"/>
                  <a:pt x="9024256" y="2944606"/>
                </a:cubicBezTo>
                <a:lnTo>
                  <a:pt x="2294717" y="2929750"/>
                </a:lnTo>
                <a:cubicBezTo>
                  <a:pt x="1854084" y="2930298"/>
                  <a:pt x="1423155" y="2679996"/>
                  <a:pt x="1200045" y="2207950"/>
                </a:cubicBezTo>
                <a:cubicBezTo>
                  <a:pt x="964689" y="2886404"/>
                  <a:pt x="278640" y="2932893"/>
                  <a:pt x="0" y="2933771"/>
                </a:cubicBezTo>
                <a:cubicBezTo>
                  <a:pt x="2067" y="2898258"/>
                  <a:pt x="2526" y="95582"/>
                  <a:pt x="1254" y="0"/>
                </a:cubicBezTo>
              </a:path>
            </a:pathLst>
          </a:custGeom>
          <a:solidFill>
            <a:schemeClr val="bg1"/>
          </a:solidFill>
          <a:ln w="12700" cmpd="sng" algn="ctr">
            <a:noFill/>
            <a:miter lim="800000"/>
            <a:headEnd/>
            <a:tailEnd/>
          </a:ln>
          <a:effectLst/>
        </p:spPr>
        <p:txBody>
          <a:bodyPr wrap="square" lIns="33059" tIns="42976" rIns="33059" bIns="42976" rtlCol="0" anchor="ctr"/>
          <a:lstStyle/>
          <a:p>
            <a:pPr algn="ctr" fontAlgn="auto">
              <a:spcBef>
                <a:spcPts val="0"/>
              </a:spcBef>
              <a:spcAft>
                <a:spcPts val="0"/>
              </a:spcAft>
            </a:pPr>
            <a:endParaRPr lang="en-US" sz="1000" dirty="0" smtClean="0">
              <a:solidFill>
                <a:schemeClr val="bg1"/>
              </a:solidFill>
              <a:latin typeface="Arial"/>
              <a:cs typeface="Arial"/>
            </a:endParaRPr>
          </a:p>
        </p:txBody>
      </p:sp>
      <p:graphicFrame>
        <p:nvGraphicFramePr>
          <p:cNvPr id="5" name="Object 4" hidden="1"/>
          <p:cNvGraphicFramePr>
            <a:graphicFrameLocks noChangeAspect="1"/>
          </p:cNvGraphicFramePr>
          <p:nvPr>
            <p:custDataLst>
              <p:tags r:id="rId3"/>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32547" name="think-cell Slide" r:id="rId6" imgW="360" imgH="360" progId="">
                  <p:embed/>
                </p:oleObj>
              </mc:Choice>
              <mc:Fallback>
                <p:oleObj name="think-cell Slide" r:id="rId6" imgW="360" imgH="360" progId="">
                  <p:embed/>
                  <p:pic>
                    <p:nvPicPr>
                      <p:cNvPr id="0" name="Picture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Placeholder 10"/>
          <p:cNvSpPr>
            <a:spLocks noGrp="1"/>
          </p:cNvSpPr>
          <p:nvPr>
            <p:ph type="body" sz="quarter" idx="10"/>
          </p:nvPr>
        </p:nvSpPr>
        <p:spPr>
          <a:xfrm>
            <a:off x="0" y="5194192"/>
            <a:ext cx="9906000" cy="1143000"/>
          </a:xfrm>
          <a:prstGeom prst="rect">
            <a:avLst/>
          </a:prstGeom>
        </p:spPr>
        <p:txBody>
          <a:bodyPr lIns="329184" tIns="36576" rIns="36576" bIns="36576" anchor="ctr"/>
          <a:lstStyle>
            <a:lvl1pPr>
              <a:buFontTx/>
              <a:buNone/>
              <a:defRPr sz="4000">
                <a:solidFill>
                  <a:schemeClr val="tx1"/>
                </a:solidFill>
              </a:defRPr>
            </a:lvl1pPr>
          </a:lstStyle>
          <a:p>
            <a:pPr lvl="0"/>
            <a:r>
              <a:rPr lang="en-US" dirty="0" smtClean="0"/>
              <a:t>Click to edit Master text style</a:t>
            </a:r>
          </a:p>
        </p:txBody>
      </p:sp>
      <p:sp>
        <p:nvSpPr>
          <p:cNvPr id="9" name="Rectangle 8"/>
          <p:cNvSpPr/>
          <p:nvPr userDrawn="1"/>
        </p:nvSpPr>
        <p:spPr>
          <a:xfrm>
            <a:off x="698392" y="3539645"/>
            <a:ext cx="2585072" cy="218008"/>
          </a:xfrm>
          <a:prstGeom prst="rect">
            <a:avLst/>
          </a:prstGeom>
          <a:effectLst>
            <a:outerShdw blurRad="38100" dist="12700" dir="2700000" algn="tl" rotWithShape="0">
              <a:srgbClr val="000000">
                <a:alpha val="63000"/>
              </a:srgbClr>
            </a:outerShdw>
          </a:effectLst>
        </p:spPr>
        <p:txBody>
          <a:bodyPr wrap="square" lIns="0" tIns="0" rIns="0" bIns="0">
            <a:spAutoFit/>
          </a:bodyPr>
          <a:lstStyle/>
          <a:p>
            <a:pPr algn="l">
              <a:lnSpc>
                <a:spcPts val="1700"/>
              </a:lnSpc>
            </a:pPr>
            <a:r>
              <a:rPr lang="en-US" sz="1800" b="1" kern="1100" spc="0" baseline="0" dirty="0" smtClean="0">
                <a:solidFill>
                  <a:schemeClr val="bg1"/>
                </a:solidFill>
                <a:latin typeface="Arial Narrow" pitchFamily="34" charset="0"/>
                <a:ea typeface="+mn-ea"/>
                <a:cs typeface="+mn-cs"/>
              </a:rPr>
              <a:t>Learning and </a:t>
            </a:r>
            <a:r>
              <a:rPr lang="en-US" sz="1800" b="1" kern="1100" spc="0" baseline="0" dirty="0" smtClean="0">
                <a:solidFill>
                  <a:schemeClr val="bg1"/>
                </a:solidFill>
                <a:latin typeface="Arial Narrow" pitchFamily="34" charset="0"/>
              </a:rPr>
              <a:t>Development</a:t>
            </a:r>
            <a:endParaRPr lang="en-US" sz="1800" b="1" kern="1100" spc="0" baseline="0" dirty="0">
              <a:solidFill>
                <a:schemeClr val="bg1"/>
              </a:solidFill>
              <a:latin typeface="Arial Narrow" pitchFamily="34" charset="0"/>
            </a:endParaRPr>
          </a:p>
        </p:txBody>
      </p:sp>
      <p:sp>
        <p:nvSpPr>
          <p:cNvPr id="13" name="Rectangle 12"/>
          <p:cNvSpPr/>
          <p:nvPr userDrawn="1"/>
        </p:nvSpPr>
        <p:spPr>
          <a:xfrm>
            <a:off x="698392" y="3755063"/>
            <a:ext cx="2432672" cy="169277"/>
          </a:xfrm>
          <a:prstGeom prst="rect">
            <a:avLst/>
          </a:prstGeom>
          <a:effectLst>
            <a:outerShdw blurRad="25400" dist="12700" dir="2700000" algn="tl" rotWithShape="0">
              <a:prstClr val="black">
                <a:alpha val="70000"/>
              </a:prstClr>
            </a:outerShdw>
          </a:effectLst>
        </p:spPr>
        <p:txBody>
          <a:bodyPr wrap="square" lIns="0" tIns="0" rIns="0" bIns="0">
            <a:spAutoFit/>
          </a:bodyPr>
          <a:lstStyle/>
          <a:p>
            <a:pPr algn="l"/>
            <a:r>
              <a:rPr lang="en-US" sz="1100" b="0" kern="1100" spc="0" baseline="0" dirty="0" smtClean="0">
                <a:solidFill>
                  <a:schemeClr val="bg1"/>
                </a:solidFill>
                <a:latin typeface="Arial Narrow" pitchFamily="34" charset="0"/>
                <a:ea typeface="+mn-ea"/>
                <a:cs typeface="+mn-cs"/>
              </a:rPr>
              <a:t>Enabling development, Impacting growth…</a:t>
            </a:r>
            <a:endParaRPr lang="en-US" sz="1100" b="0" kern="1100" spc="0" baseline="0" dirty="0">
              <a:solidFill>
                <a:schemeClr val="bg1"/>
              </a:solidFill>
              <a:latin typeface="Arial Narrow"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21" Type="http://schemas.openxmlformats.org/officeDocument/2006/relationships/tags" Target="../tags/tag8.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tags" Target="../tags/tag3.xml"/><Relationship Id="rId20" Type="http://schemas.openxmlformats.org/officeDocument/2006/relationships/tags" Target="../tags/tag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tags" Target="../tags/tag2.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tags" Target="../tags/tag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hyperlink" Target="http://www.facebook.com/Capgemini" TargetMode="External"/><Relationship Id="rId26" Type="http://schemas.openxmlformats.org/officeDocument/2006/relationships/hyperlink" Target="http://www.slideshare.net/capgemini" TargetMode="External"/><Relationship Id="rId3" Type="http://schemas.openxmlformats.org/officeDocument/2006/relationships/slideLayout" Target="../slideLayouts/slideLayout15.xml"/><Relationship Id="rId21" Type="http://schemas.openxmlformats.org/officeDocument/2006/relationships/image" Target="../media/image9.png"/><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hyperlink" Target="http://www.capgemini.com/" TargetMode="External"/><Relationship Id="rId25" Type="http://schemas.openxmlformats.org/officeDocument/2006/relationships/image" Target="../media/image11.png"/><Relationship Id="rId2" Type="http://schemas.openxmlformats.org/officeDocument/2006/relationships/slideLayout" Target="../slideLayouts/slideLayout14.xml"/><Relationship Id="rId16" Type="http://schemas.openxmlformats.org/officeDocument/2006/relationships/image" Target="../media/image1.emf"/><Relationship Id="rId20" Type="http://schemas.openxmlformats.org/officeDocument/2006/relationships/hyperlink" Target="http://www.linkedin.com/company/capgemini" TargetMode="External"/><Relationship Id="rId29"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hyperlink" Target="http://www.youtube.com/capgemini" TargetMode="External"/><Relationship Id="rId5" Type="http://schemas.openxmlformats.org/officeDocument/2006/relationships/vmlDrawing" Target="../drawings/vmlDrawing13.vml"/><Relationship Id="rId15" Type="http://schemas.openxmlformats.org/officeDocument/2006/relationships/oleObject" Target="../embeddings/oleObject13.bin"/><Relationship Id="rId23" Type="http://schemas.openxmlformats.org/officeDocument/2006/relationships/image" Target="../media/image10.png"/><Relationship Id="rId28" Type="http://schemas.openxmlformats.org/officeDocument/2006/relationships/image" Target="../media/image2.png"/><Relationship Id="rId10" Type="http://schemas.openxmlformats.org/officeDocument/2006/relationships/tags" Target="../tags/tag52.xml"/><Relationship Id="rId19" Type="http://schemas.openxmlformats.org/officeDocument/2006/relationships/image" Target="../media/image8.png"/><Relationship Id="rId4" Type="http://schemas.openxmlformats.org/officeDocument/2006/relationships/theme" Target="../theme/theme2.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hyperlink" Target="http://www.twitter.com/capgemini" TargetMode="External"/><Relationship Id="rId27" Type="http://schemas.openxmlformats.org/officeDocument/2006/relationships/image" Target="../media/image12.gi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18.xml"/><Relationship Id="rId7"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ags" Target="../tags/tag62.xml"/><Relationship Id="rId5" Type="http://schemas.openxmlformats.org/officeDocument/2006/relationships/vmlDrawing" Target="../drawings/vmlDrawing17.v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5"/>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2156" name="think-cell Slide" r:id="rId23" imgW="360" imgH="360" progId="">
                  <p:embed/>
                </p:oleObj>
              </mc:Choice>
              <mc:Fallback>
                <p:oleObj name="think-cell Slide" r:id="rId23" imgW="360" imgH="360" progId="">
                  <p:embed/>
                  <p:pic>
                    <p:nvPicPr>
                      <p:cNvPr id="0" name="Picture 10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6"/>
            </p:custDataLst>
          </p:nvPr>
        </p:nvSpPr>
        <p:spPr>
          <a:xfrm>
            <a:off x="1" y="1"/>
            <a:ext cx="9905999" cy="914400"/>
          </a:xfrm>
          <a:prstGeom prst="rect">
            <a:avLst/>
          </a:prstGeom>
        </p:spPr>
        <p:txBody>
          <a:bodyPr vert="horz" lIns="457200" tIns="0" rIns="0" bIns="0" rtlCol="0" anchor="ctr">
            <a:noAutofit/>
          </a:bodyPr>
          <a:lstStyle/>
          <a:p>
            <a:r>
              <a:rPr lang="en-US" noProof="0" dirty="0" smtClean="0"/>
              <a:t>Click to edit Master title style</a:t>
            </a:r>
            <a:endParaRPr lang="en-US" noProof="0" dirty="0"/>
          </a:p>
        </p:txBody>
      </p:sp>
      <p:sp>
        <p:nvSpPr>
          <p:cNvPr id="3" name="Text Placeholder 2"/>
          <p:cNvSpPr>
            <a:spLocks noGrp="1"/>
          </p:cNvSpPr>
          <p:nvPr>
            <p:ph type="body" idx="1"/>
            <p:custDataLst>
              <p:tags r:id="rId17"/>
            </p:custDataLst>
          </p:nvPr>
        </p:nvSpPr>
        <p:spPr>
          <a:xfrm>
            <a:off x="341313" y="1255714"/>
            <a:ext cx="9223375" cy="5011736"/>
          </a:xfrm>
          <a:prstGeom prst="rect">
            <a:avLst/>
          </a:prstGeom>
        </p:spPr>
        <p:txBody>
          <a:bodyPr vert="horz" lIns="0" tIns="33059" rIns="33059" bIns="33059"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18"/>
            </p:custDataLst>
          </p:nvPr>
        </p:nvSpPr>
        <p:spPr>
          <a:xfrm>
            <a:off x="4648200" y="6553200"/>
            <a:ext cx="141065" cy="138499"/>
          </a:xfrm>
          <a:prstGeom prst="rect">
            <a:avLst/>
          </a:prstGeom>
          <a:noFill/>
        </p:spPr>
        <p:txBody>
          <a:bodyPr wrap="none" lIns="0" tIns="0" rIns="0" bIns="0" rtlCol="0" anchor="ctr">
            <a:spAutoFit/>
          </a:bodyPr>
          <a:lstStyle/>
          <a:p>
            <a:pPr algn="ctr"/>
            <a:fld id="{6A895693-0027-4F28-9367-92E39A51F51C}" type="slidenum">
              <a:rPr lang="en-US" sz="900" smtClean="0">
                <a:solidFill>
                  <a:schemeClr val="tx2"/>
                </a:solidFill>
              </a:rPr>
              <a:pPr algn="ctr"/>
              <a:t>‹#›</a:t>
            </a:fld>
            <a:endParaRPr lang="en-US" sz="900" dirty="0">
              <a:solidFill>
                <a:schemeClr val="tx2"/>
              </a:solidFill>
            </a:endParaRPr>
          </a:p>
        </p:txBody>
      </p:sp>
      <p:sp>
        <p:nvSpPr>
          <p:cNvPr id="9" name="Freeform 4"/>
          <p:cNvSpPr>
            <a:spLocks/>
          </p:cNvSpPr>
          <p:nvPr>
            <p:custDataLst>
              <p:tags r:id="rId19"/>
            </p:custDataLst>
          </p:nvPr>
        </p:nvSpPr>
        <p:spPr bwMode="auto">
          <a:xfrm>
            <a:off x="2" y="437863"/>
            <a:ext cx="9905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2"/>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dirty="0">
              <a:solidFill>
                <a:schemeClr val="accent3"/>
              </a:solidFill>
            </a:endParaRPr>
          </a:p>
        </p:txBody>
      </p:sp>
      <p:sp>
        <p:nvSpPr>
          <p:cNvPr id="12" name="Rectangle 11"/>
          <p:cNvSpPr>
            <a:spLocks noChangeArrowheads="1"/>
          </p:cNvSpPr>
          <p:nvPr>
            <p:custDataLst>
              <p:tags r:id="rId20"/>
            </p:custDataLst>
          </p:nvPr>
        </p:nvSpPr>
        <p:spPr bwMode="auto">
          <a:xfrm>
            <a:off x="6546850" y="6623403"/>
            <a:ext cx="2855624"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smtClean="0">
                <a:solidFill>
                  <a:schemeClr val="tx2"/>
                </a:solidFill>
                <a:latin typeface="+mj-lt"/>
                <a:cs typeface="Helvetica Light"/>
              </a:rPr>
              <a:t>Copyright © </a:t>
            </a:r>
            <a:r>
              <a:rPr lang="en-US" altLang="en-US" sz="700" b="0" i="0" noProof="0" dirty="0" err="1" smtClean="0">
                <a:solidFill>
                  <a:schemeClr val="tx2"/>
                </a:solidFill>
                <a:latin typeface="+mj-lt"/>
                <a:cs typeface="Helvetica Light"/>
              </a:rPr>
              <a:t>Capgemini</a:t>
            </a:r>
            <a:r>
              <a:rPr lang="en-US" altLang="en-US" sz="700" b="0" i="0" noProof="0" dirty="0" smtClean="0">
                <a:solidFill>
                  <a:schemeClr val="tx2"/>
                </a:solidFill>
                <a:latin typeface="+mj-lt"/>
                <a:cs typeface="Helvetica Light"/>
              </a:rPr>
              <a:t> 2016. All Rights Reserved</a:t>
            </a:r>
          </a:p>
        </p:txBody>
      </p:sp>
      <p:sp>
        <p:nvSpPr>
          <p:cNvPr id="13" name="Rectangle 12"/>
          <p:cNvSpPr/>
          <p:nvPr>
            <p:custDataLst>
              <p:tags r:id="rId21"/>
            </p:custDataLst>
          </p:nvPr>
        </p:nvSpPr>
        <p:spPr>
          <a:xfrm>
            <a:off x="6362700" y="6427223"/>
            <a:ext cx="3200400" cy="182880"/>
          </a:xfrm>
          <a:prstGeom prst="rect">
            <a:avLst/>
          </a:prstGeom>
        </p:spPr>
        <p:txBody>
          <a:bodyPr wrap="none" lIns="35997" tIns="35997" rIns="35997" bIns="35997" anchor="b" anchorCtr="0">
            <a:noAutofit/>
          </a:bodyPr>
          <a:lstStyle/>
          <a:p>
            <a:pPr marL="0" marR="0" lvl="0" indent="0" algn="r" defTabSz="957756" rtl="0" eaLnBrk="1" fontAlgn="auto" latinLnBrk="0" hangingPunct="1">
              <a:lnSpc>
                <a:spcPct val="100000"/>
              </a:lnSpc>
              <a:spcBef>
                <a:spcPts val="0"/>
              </a:spcBef>
              <a:spcAft>
                <a:spcPts val="0"/>
              </a:spcAft>
              <a:buClrTx/>
              <a:buSzTx/>
              <a:buFontTx/>
              <a:buNone/>
              <a:tabLst/>
              <a:defRPr/>
            </a:pPr>
            <a:r>
              <a:rPr lang="en-US" sz="800" dirty="0" smtClean="0">
                <a:solidFill>
                  <a:schemeClr val="tx2"/>
                </a:solidFill>
              </a:rPr>
              <a:t>IBM </a:t>
            </a:r>
            <a:r>
              <a:rPr lang="en-US" sz="800" dirty="0" err="1" smtClean="0">
                <a:solidFill>
                  <a:schemeClr val="tx2"/>
                </a:solidFill>
              </a:rPr>
              <a:t>Cognos</a:t>
            </a:r>
            <a:r>
              <a:rPr lang="en-US" sz="800" dirty="0" smtClean="0">
                <a:solidFill>
                  <a:schemeClr val="tx2"/>
                </a:solidFill>
              </a:rPr>
              <a:t>  Analytics  </a:t>
            </a:r>
            <a:r>
              <a:rPr lang="en-US" sz="800" dirty="0" err="1" smtClean="0">
                <a:solidFill>
                  <a:schemeClr val="tx2"/>
                </a:solidFill>
              </a:rPr>
              <a:t>BI_Slides_Training_V</a:t>
            </a:r>
            <a:r>
              <a:rPr lang="en-US" sz="800" dirty="0" smtClean="0">
                <a:solidFill>
                  <a:schemeClr val="tx2"/>
                </a:solidFill>
              </a:rPr>
              <a:t> 1 0</a:t>
            </a:r>
          </a:p>
        </p:txBody>
      </p:sp>
      <p:cxnSp>
        <p:nvCxnSpPr>
          <p:cNvPr id="14" name="Straight Connector 5"/>
          <p:cNvCxnSpPr/>
          <p:nvPr>
            <p:custDataLst>
              <p:tags r:id="rId22"/>
            </p:custDataLst>
          </p:nvPr>
        </p:nvCxnSpPr>
        <p:spPr>
          <a:xfrm flipH="1">
            <a:off x="2" y="6362700"/>
            <a:ext cx="9905999" cy="0"/>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16" name="Picture 26" descr="D:\Users\bkp\My Work\TEMPLATES\LOGO Library\Capgemini_Logo_Set\Capgemini Logo Set\ppt\Logo_Capgemini_RGB.png"/>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49250" y="6456451"/>
            <a:ext cx="1362456" cy="31575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998" r:id="rId1"/>
    <p:sldLayoutId id="2147483990" r:id="rId2"/>
    <p:sldLayoutId id="2147483991" r:id="rId3"/>
    <p:sldLayoutId id="2147483997" r:id="rId4"/>
    <p:sldLayoutId id="2147483965" r:id="rId5"/>
    <p:sldLayoutId id="2147483966" r:id="rId6"/>
    <p:sldLayoutId id="2147483962" r:id="rId7"/>
    <p:sldLayoutId id="2147483963" r:id="rId8"/>
    <p:sldLayoutId id="2147483964" r:id="rId9"/>
    <p:sldLayoutId id="2147483934" r:id="rId10"/>
    <p:sldLayoutId id="2147484003" r:id="rId11"/>
    <p:sldLayoutId id="2147484004" r:id="rId12"/>
  </p:sldLayoutIdLst>
  <p:timing>
    <p:tnLst>
      <p:par>
        <p:cTn id="1" dur="indefinite" restart="never" nodeType="tmRoot"/>
      </p:par>
    </p:tnLst>
  </p:timing>
  <p:hf sldNum="0" hdr="0" dt="0"/>
  <p:txStyles>
    <p:titleStyle>
      <a:lvl1pPr algn="l" defTabSz="914342" rtl="0" eaLnBrk="1" latinLnBrk="0" hangingPunct="1">
        <a:lnSpc>
          <a:spcPct val="85000"/>
        </a:lnSpc>
        <a:spcBef>
          <a:spcPct val="0"/>
        </a:spcBef>
        <a:buNone/>
        <a:defRPr sz="2800" b="0" kern="1200">
          <a:solidFill>
            <a:schemeClr val="tx1"/>
          </a:solidFill>
          <a:latin typeface="Arial Narrow" pitchFamily="34" charset="0"/>
          <a:ea typeface="+mj-ea"/>
          <a:cs typeface="+mj-cs"/>
        </a:defRPr>
      </a:lvl1pPr>
    </p:titleStyle>
    <p:bodyStyle>
      <a:lvl1pPr marL="228600" indent="-228600" algn="l" defTabSz="914342" rtl="0" eaLnBrk="1" latinLnBrk="0" hangingPunct="1">
        <a:spcBef>
          <a:spcPts val="0"/>
        </a:spcBef>
        <a:spcAft>
          <a:spcPts val="600"/>
        </a:spcAft>
        <a:buClr>
          <a:schemeClr val="accent2"/>
        </a:buClr>
        <a:buFont typeface="Wingdings" pitchFamily="2" charset="2"/>
        <a:buChar char="§"/>
        <a:defRPr sz="2000" b="0" kern="1200">
          <a:solidFill>
            <a:schemeClr val="tx1"/>
          </a:solidFill>
          <a:latin typeface="+mn-lt"/>
          <a:ea typeface="+mn-ea"/>
          <a:cs typeface="+mn-cs"/>
        </a:defRPr>
      </a:lvl1pPr>
      <a:lvl2pPr marL="457200" indent="-228600" algn="l" defTabSz="914342" rtl="0" eaLnBrk="1" latinLnBrk="0" hangingPunct="1">
        <a:spcBef>
          <a:spcPts val="0"/>
        </a:spcBef>
        <a:spcAft>
          <a:spcPts val="600"/>
        </a:spcAft>
        <a:buClr>
          <a:schemeClr val="accent2"/>
        </a:buClr>
        <a:buFont typeface="Arial" pitchFamily="34" charset="0"/>
        <a:buChar char="•"/>
        <a:defRPr sz="1800" b="0" kern="1200">
          <a:solidFill>
            <a:schemeClr val="tx1"/>
          </a:solidFill>
          <a:latin typeface="+mn-lt"/>
          <a:ea typeface="+mn-ea"/>
          <a:cs typeface="+mn-cs"/>
        </a:defRPr>
      </a:lvl2pPr>
      <a:lvl3pPr marL="685800" indent="-228600" algn="l" defTabSz="914342" rtl="0" eaLnBrk="1" latinLnBrk="0" hangingPunct="1">
        <a:spcBef>
          <a:spcPts val="0"/>
        </a:spcBef>
        <a:spcAft>
          <a:spcPts val="600"/>
        </a:spcAft>
        <a:buClr>
          <a:schemeClr val="accent2"/>
        </a:buClr>
        <a:buFont typeface="Arial" pitchFamily="34" charset="0"/>
        <a:buChar char="–"/>
        <a:defRPr sz="1600" kern="1200">
          <a:solidFill>
            <a:schemeClr val="tx1"/>
          </a:solidFill>
          <a:latin typeface="+mn-lt"/>
          <a:ea typeface="+mn-ea"/>
          <a:cs typeface="+mn-cs"/>
        </a:defRPr>
      </a:lvl3pPr>
      <a:lvl4pPr marL="914400" marR="0" indent="-228600" algn="l" defTabSz="914342" rtl="0" eaLnBrk="1" fontAlgn="auto" latinLnBrk="0" hangingPunct="1">
        <a:lnSpc>
          <a:spcPct val="100000"/>
        </a:lnSpc>
        <a:spcBef>
          <a:spcPts val="0"/>
        </a:spcBef>
        <a:spcAft>
          <a:spcPts val="0"/>
        </a:spcAft>
        <a:buClr>
          <a:schemeClr val="accent2"/>
        </a:buClr>
        <a:buSzTx/>
        <a:buFont typeface="Courier New" pitchFamily="49" charset="0"/>
        <a:buChar char="o"/>
        <a:tabLst/>
        <a:defRPr sz="1400" kern="1200">
          <a:solidFill>
            <a:schemeClr val="tx1"/>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630810" name="think-cell Slide" r:id="rId15" imgW="360" imgH="360" progId="">
                  <p:embed/>
                </p:oleObj>
              </mc:Choice>
              <mc:Fallback>
                <p:oleObj name="think-cell Slide" r:id="rId15" imgW="360" imgH="360" progId="">
                  <p:embed/>
                  <p:pic>
                    <p:nvPicPr>
                      <p:cNvPr id="0" name="Picture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7"/>
            </p:custDataLst>
          </p:nvPr>
        </p:nvSpPr>
        <p:spPr bwMode="auto">
          <a:xfrm flipV="1">
            <a:off x="0" y="1685925"/>
            <a:ext cx="9906000" cy="51720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132036 w 10564614"/>
              <a:gd name="connsiteY6" fmla="*/ 20806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363945 w 10564614"/>
              <a:gd name="connsiteY5" fmla="*/ 427792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646636 w 10564614"/>
              <a:gd name="connsiteY6" fmla="*/ 395326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349559 w 10564614"/>
              <a:gd name="connsiteY0" fmla="*/ 166453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0 w 10564614"/>
              <a:gd name="connsiteY5" fmla="*/ 4795927 h 5657661"/>
              <a:gd name="connsiteX6" fmla="*/ 0 w 10564614"/>
              <a:gd name="connsiteY6" fmla="*/ 0 h 5657661"/>
              <a:gd name="connsiteX0" fmla="*/ 10562847 w 10563360"/>
              <a:gd name="connsiteY0" fmla="*/ 0 h 5657661"/>
              <a:gd name="connsiteX1" fmla="*/ 10563360 w 10563360"/>
              <a:gd name="connsiteY1" fmla="*/ 5657661 h 5657661"/>
              <a:gd name="connsiteX2" fmla="*/ 9024770 w 10563360"/>
              <a:gd name="connsiteY2" fmla="*/ 4808920 h 5657661"/>
              <a:gd name="connsiteX3" fmla="*/ 2295231 w 10563360"/>
              <a:gd name="connsiteY3" fmla="*/ 4794064 h 5657661"/>
              <a:gd name="connsiteX4" fmla="*/ 1200559 w 10563360"/>
              <a:gd name="connsiteY4" fmla="*/ 4072264 h 5657661"/>
              <a:gd name="connsiteX5" fmla="*/ 0 w 10563360"/>
              <a:gd name="connsiteY5" fmla="*/ 4795927 h 5657661"/>
              <a:gd name="connsiteX6" fmla="*/ 0 w 10563360"/>
              <a:gd name="connsiteY6" fmla="*/ 0 h 5657661"/>
              <a:gd name="connsiteX0" fmla="*/ 10562847 w 10562847"/>
              <a:gd name="connsiteY0" fmla="*/ 0 h 5064672"/>
              <a:gd name="connsiteX1" fmla="*/ 10198903 w 10562847"/>
              <a:gd name="connsiteY1" fmla="*/ 5064672 h 5064672"/>
              <a:gd name="connsiteX2" fmla="*/ 9024770 w 10562847"/>
              <a:gd name="connsiteY2" fmla="*/ 4808920 h 5064672"/>
              <a:gd name="connsiteX3" fmla="*/ 2295231 w 10562847"/>
              <a:gd name="connsiteY3" fmla="*/ 4794064 h 5064672"/>
              <a:gd name="connsiteX4" fmla="*/ 1200559 w 10562847"/>
              <a:gd name="connsiteY4" fmla="*/ 4072264 h 5064672"/>
              <a:gd name="connsiteX5" fmla="*/ 0 w 10562847"/>
              <a:gd name="connsiteY5" fmla="*/ 4795927 h 5064672"/>
              <a:gd name="connsiteX6" fmla="*/ 0 w 10562847"/>
              <a:gd name="connsiteY6" fmla="*/ 0 h 5064672"/>
              <a:gd name="connsiteX0" fmla="*/ 10562847 w 10562847"/>
              <a:gd name="connsiteY0" fmla="*/ 0 h 5648998"/>
              <a:gd name="connsiteX1" fmla="*/ 10562847 w 10562847"/>
              <a:gd name="connsiteY1" fmla="*/ 5648998 h 5648998"/>
              <a:gd name="connsiteX2" fmla="*/ 9024770 w 10562847"/>
              <a:gd name="connsiteY2" fmla="*/ 4808920 h 5648998"/>
              <a:gd name="connsiteX3" fmla="*/ 2295231 w 10562847"/>
              <a:gd name="connsiteY3" fmla="*/ 4794064 h 5648998"/>
              <a:gd name="connsiteX4" fmla="*/ 1200559 w 10562847"/>
              <a:gd name="connsiteY4" fmla="*/ 4072264 h 5648998"/>
              <a:gd name="connsiteX5" fmla="*/ 0 w 10562847"/>
              <a:gd name="connsiteY5" fmla="*/ 4795927 h 5648998"/>
              <a:gd name="connsiteX6" fmla="*/ 0 w 10562847"/>
              <a:gd name="connsiteY6" fmla="*/ 0 h 56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2847" h="5648998">
                <a:moveTo>
                  <a:pt x="10562847" y="0"/>
                </a:moveTo>
                <a:lnTo>
                  <a:pt x="10562847" y="5648998"/>
                </a:lnTo>
                <a:cubicBezTo>
                  <a:pt x="10190428" y="4911661"/>
                  <a:pt x="9462356" y="4792975"/>
                  <a:pt x="9024770" y="4808920"/>
                </a:cubicBezTo>
                <a:lnTo>
                  <a:pt x="2295231" y="4794064"/>
                </a:lnTo>
                <a:cubicBezTo>
                  <a:pt x="1854598" y="4794612"/>
                  <a:pt x="1423669" y="4544310"/>
                  <a:pt x="1200559" y="4072264"/>
                </a:cubicBezTo>
                <a:cubicBezTo>
                  <a:pt x="965203" y="4750718"/>
                  <a:pt x="278640" y="4795049"/>
                  <a:pt x="0" y="4795927"/>
                </a:cubicBezTo>
                <a:lnTo>
                  <a:pt x="0" y="0"/>
                </a:lnTo>
              </a:path>
            </a:pathLst>
          </a:custGeom>
          <a:gradFill>
            <a:gsLst>
              <a:gs pos="0">
                <a:schemeClr val="tx1"/>
              </a:gs>
              <a:gs pos="100000">
                <a:schemeClr val="accent2"/>
              </a:gs>
              <a:gs pos="100000">
                <a:schemeClr val="accent5"/>
              </a:gs>
            </a:gsLst>
            <a:lin ang="18900000" scaled="1"/>
          </a:gradFill>
          <a:ln w="12700" cmpd="sng" algn="ctr">
            <a:noFill/>
            <a:miter lim="800000"/>
            <a:headEnd/>
            <a:tailEnd/>
          </a:ln>
          <a:effectLst/>
        </p:spPr>
        <p:txBody>
          <a:bodyPr wrap="square" lIns="33059" tIns="42976" rIns="33059" bIns="42976" rtlCol="0" anchor="ctr"/>
          <a:lstStyle/>
          <a:p>
            <a:pPr marL="0" algn="ctr" defTabSz="957756" rtl="0" eaLnBrk="1" fontAlgn="auto" latinLnBrk="0" hangingPunct="1">
              <a:spcBef>
                <a:spcPts val="0"/>
              </a:spcBef>
              <a:spcAft>
                <a:spcPts val="0"/>
              </a:spcAft>
            </a:pPr>
            <a:endParaRPr lang="en-US" sz="1000" kern="1200" dirty="0" smtClean="0">
              <a:solidFill>
                <a:schemeClr val="bg1"/>
              </a:solidFill>
              <a:latin typeface="Arial"/>
              <a:ea typeface="+mn-ea"/>
              <a:cs typeface="Arial"/>
            </a:endParaRPr>
          </a:p>
        </p:txBody>
      </p:sp>
      <p:sp>
        <p:nvSpPr>
          <p:cNvPr id="22" name="Rectangle 21"/>
          <p:cNvSpPr/>
          <p:nvPr>
            <p:custDataLst>
              <p:tags r:id="rId8"/>
            </p:custDataLst>
          </p:nvPr>
        </p:nvSpPr>
        <p:spPr>
          <a:xfrm>
            <a:off x="5523917" y="6271946"/>
            <a:ext cx="4382083" cy="389929"/>
          </a:xfrm>
          <a:prstGeom prst="rect">
            <a:avLst/>
          </a:prstGeom>
        </p:spPr>
        <p:txBody>
          <a:bodyPr wrap="square" lIns="33059" tIns="33059" rIns="330588" bIns="33059" anchor="b" anchorCtr="0">
            <a:spAutoFit/>
          </a:bodyPr>
          <a:lstStyle/>
          <a:p>
            <a:pPr algn="r"/>
            <a:r>
              <a:rPr lang="en-US" sz="700" dirty="0">
                <a:solidFill>
                  <a:schemeClr val="bg1"/>
                </a:solidFill>
                <a:latin typeface="Arial"/>
                <a:cs typeface="Arial"/>
              </a:rPr>
              <a:t>The information contained in this presentation is </a:t>
            </a:r>
            <a:r>
              <a:rPr lang="en-US" sz="700" dirty="0" smtClean="0">
                <a:solidFill>
                  <a:schemeClr val="bg1"/>
                </a:solidFill>
                <a:latin typeface="Arial"/>
                <a:cs typeface="Arial"/>
              </a:rPr>
              <a:t>proprietary.</a:t>
            </a:r>
            <a:br>
              <a:rPr lang="en-US" sz="700" dirty="0" smtClean="0">
                <a:solidFill>
                  <a:schemeClr val="bg1"/>
                </a:solidFill>
                <a:latin typeface="Arial"/>
                <a:cs typeface="Arial"/>
              </a:rPr>
            </a:br>
            <a:r>
              <a:rPr lang="en-US" sz="700" dirty="0" smtClean="0">
                <a:solidFill>
                  <a:schemeClr val="bg1"/>
                </a:solidFill>
                <a:latin typeface="Arial"/>
                <a:cs typeface="Arial"/>
              </a:rPr>
              <a:t>Copyright © 2015 Capgemini. </a:t>
            </a:r>
            <a:r>
              <a:rPr lang="en-US" sz="700" dirty="0">
                <a:solidFill>
                  <a:schemeClr val="bg1"/>
                </a:solidFill>
                <a:latin typeface="Arial"/>
                <a:cs typeface="Arial"/>
              </a:rPr>
              <a:t>All rights </a:t>
            </a:r>
            <a:r>
              <a:rPr lang="en-US" sz="700" dirty="0" smtClean="0">
                <a:solidFill>
                  <a:schemeClr val="bg1"/>
                </a:solidFill>
                <a:latin typeface="Arial"/>
                <a:cs typeface="Arial"/>
              </a:rPr>
              <a:t>reserved.</a:t>
            </a:r>
          </a:p>
          <a:p>
            <a:pPr marL="0" marR="0" indent="0" algn="r" defTabSz="957756" rtl="0" eaLnBrk="1" fontAlgn="auto" latinLnBrk="0" hangingPunct="1">
              <a:lnSpc>
                <a:spcPct val="100000"/>
              </a:lnSpc>
              <a:spcBef>
                <a:spcPts val="0"/>
              </a:spcBef>
              <a:spcAft>
                <a:spcPts val="0"/>
              </a:spcAft>
              <a:buClrTx/>
              <a:buSzTx/>
              <a:buFontTx/>
              <a:buNone/>
              <a:tabLst/>
              <a:defRPr/>
            </a:pPr>
            <a:r>
              <a:rPr lang="en-US" sz="700" dirty="0" err="1" smtClean="0">
                <a:solidFill>
                  <a:schemeClr val="bg1"/>
                </a:solidFill>
                <a:latin typeface="Arial"/>
                <a:cs typeface="Arial"/>
              </a:rPr>
              <a:t>Rightshore</a:t>
            </a:r>
            <a:r>
              <a:rPr lang="en-US" sz="700" baseline="30000" dirty="0" smtClean="0">
                <a:solidFill>
                  <a:schemeClr val="bg1"/>
                </a:solidFill>
                <a:latin typeface="Arial"/>
                <a:cs typeface="Arial"/>
              </a:rPr>
              <a:t>®</a:t>
            </a:r>
            <a:r>
              <a:rPr lang="en-US" sz="700" dirty="0" smtClean="0">
                <a:solidFill>
                  <a:schemeClr val="bg1"/>
                </a:solidFill>
                <a:latin typeface="Arial"/>
                <a:cs typeface="Arial"/>
              </a:rPr>
              <a:t> is a trademark belonging to </a:t>
            </a:r>
            <a:r>
              <a:rPr lang="en-US" sz="700" dirty="0" err="1" smtClean="0">
                <a:solidFill>
                  <a:schemeClr val="bg1"/>
                </a:solidFill>
                <a:latin typeface="Arial"/>
                <a:cs typeface="Arial"/>
              </a:rPr>
              <a:t>Capgemini</a:t>
            </a:r>
            <a:r>
              <a:rPr lang="en-US" sz="700" dirty="0" smtClean="0">
                <a:solidFill>
                  <a:schemeClr val="bg1"/>
                </a:solidFill>
                <a:latin typeface="Arial"/>
                <a:cs typeface="Arial"/>
              </a:rPr>
              <a:t>.</a:t>
            </a:r>
          </a:p>
        </p:txBody>
      </p:sp>
      <p:sp>
        <p:nvSpPr>
          <p:cNvPr id="23" name="Rectangle 22">
            <a:hlinkClick r:id="rId17"/>
          </p:cNvPr>
          <p:cNvSpPr/>
          <p:nvPr>
            <p:custDataLst>
              <p:tags r:id="rId9"/>
            </p:custDataLst>
          </p:nvPr>
        </p:nvSpPr>
        <p:spPr>
          <a:xfrm>
            <a:off x="6982878" y="5457935"/>
            <a:ext cx="2923122" cy="380480"/>
          </a:xfrm>
          <a:prstGeom prst="rect">
            <a:avLst/>
          </a:prstGeom>
        </p:spPr>
        <p:txBody>
          <a:bodyPr wrap="none" lIns="36000" tIns="36000" rIns="360000" bIns="36000" anchor="b" anchorCtr="0">
            <a:spAutoFit/>
          </a:bodyPr>
          <a:lstStyle/>
          <a:p>
            <a:pPr algn="r"/>
            <a:r>
              <a:rPr lang="en-US" sz="2000" b="1" dirty="0">
                <a:solidFill>
                  <a:schemeClr val="bg1"/>
                </a:solidFill>
                <a:latin typeface="Arial" pitchFamily="34" charset="0"/>
                <a:cs typeface="Arial" pitchFamily="34" charset="0"/>
              </a:rPr>
              <a:t>www.capgemini.com</a:t>
            </a:r>
          </a:p>
        </p:txBody>
      </p:sp>
      <p:pic>
        <p:nvPicPr>
          <p:cNvPr id="24" name="Picture 3" descr="C:\Users\UserSim\Desktop\DS_icons\128x128 shadows\facebook.png">
            <a:hlinkClick r:id="rId18"/>
          </p:cNvPr>
          <p:cNvPicPr>
            <a:picLocks noChangeAspect="1" noChangeArrowheads="1"/>
          </p:cNvPicPr>
          <p:nvPr>
            <p:custDataLst>
              <p:tags r:id="rId10"/>
            </p:custDataLst>
          </p:nvPr>
        </p:nvPicPr>
        <p:blipFill>
          <a:blip r:embed="rId19" cstate="email"/>
          <a:srcRect/>
          <a:stretch>
            <a:fillRect/>
          </a:stretch>
        </p:blipFill>
        <p:spPr bwMode="auto">
          <a:xfrm>
            <a:off x="7939252" y="5932547"/>
            <a:ext cx="278223" cy="263770"/>
          </a:xfrm>
          <a:prstGeom prst="rect">
            <a:avLst/>
          </a:prstGeom>
          <a:noFill/>
        </p:spPr>
      </p:pic>
      <p:pic>
        <p:nvPicPr>
          <p:cNvPr id="25" name="Picture 4" descr="C:\Users\UserSim\Desktop\DS_icons\128x128 shadows\linkedin.png">
            <a:hlinkClick r:id="rId20"/>
          </p:cNvPr>
          <p:cNvPicPr>
            <a:picLocks noChangeAspect="1" noChangeArrowheads="1"/>
          </p:cNvPicPr>
          <p:nvPr>
            <p:custDataLst>
              <p:tags r:id="rId11"/>
            </p:custDataLst>
          </p:nvPr>
        </p:nvPicPr>
        <p:blipFill>
          <a:blip r:embed="rId21" cstate="email"/>
          <a:srcRect/>
          <a:stretch>
            <a:fillRect/>
          </a:stretch>
        </p:blipFill>
        <p:spPr bwMode="auto">
          <a:xfrm>
            <a:off x="8274665" y="5932547"/>
            <a:ext cx="281313" cy="266700"/>
          </a:xfrm>
          <a:prstGeom prst="rect">
            <a:avLst/>
          </a:prstGeom>
          <a:noFill/>
        </p:spPr>
      </p:pic>
      <p:pic>
        <p:nvPicPr>
          <p:cNvPr id="26" name="Picture 5" descr="C:\Users\UserSim\Desktop\DS_icons\128x128 shadows\twitter.png">
            <a:hlinkClick r:id="rId22"/>
          </p:cNvPr>
          <p:cNvPicPr>
            <a:picLocks noChangeAspect="1" noChangeArrowheads="1"/>
          </p:cNvPicPr>
          <p:nvPr>
            <p:custDataLst>
              <p:tags r:id="rId12"/>
            </p:custDataLst>
          </p:nvPr>
        </p:nvPicPr>
        <p:blipFill>
          <a:blip r:embed="rId23" cstate="email"/>
          <a:srcRect/>
          <a:stretch>
            <a:fillRect/>
          </a:stretch>
        </p:blipFill>
        <p:spPr bwMode="auto">
          <a:xfrm>
            <a:off x="8903720" y="5932547"/>
            <a:ext cx="281313" cy="266700"/>
          </a:xfrm>
          <a:prstGeom prst="rect">
            <a:avLst/>
          </a:prstGeom>
          <a:noFill/>
        </p:spPr>
      </p:pic>
      <p:pic>
        <p:nvPicPr>
          <p:cNvPr id="27" name="Picture 6" descr="C:\Users\UserSim\Desktop\DS_icons\128x128 shadows\youtube.png">
            <a:hlinkClick r:id="rId24"/>
          </p:cNvPr>
          <p:cNvPicPr>
            <a:picLocks noChangeAspect="1" noChangeArrowheads="1"/>
          </p:cNvPicPr>
          <p:nvPr>
            <p:custDataLst>
              <p:tags r:id="rId13"/>
            </p:custDataLst>
          </p:nvPr>
        </p:nvPicPr>
        <p:blipFill>
          <a:blip r:embed="rId25" cstate="email"/>
          <a:srcRect/>
          <a:stretch>
            <a:fillRect/>
          </a:stretch>
        </p:blipFill>
        <p:spPr bwMode="auto">
          <a:xfrm>
            <a:off x="9242223" y="5932547"/>
            <a:ext cx="281313" cy="266700"/>
          </a:xfrm>
          <a:prstGeom prst="rect">
            <a:avLst/>
          </a:prstGeom>
          <a:noFill/>
        </p:spPr>
      </p:pic>
      <p:pic>
        <p:nvPicPr>
          <p:cNvPr id="28" name="Image 22" descr="Picto_Slideshare.gif">
            <a:hlinkClick r:id="rId26"/>
          </p:cNvPr>
          <p:cNvPicPr preferRelativeResize="0">
            <a:picLocks/>
          </p:cNvPicPr>
          <p:nvPr>
            <p:custDataLst>
              <p:tags r:id="rId14"/>
            </p:custDataLst>
          </p:nvPr>
        </p:nvPicPr>
        <p:blipFill>
          <a:blip r:embed="rId27" cstate="email"/>
          <a:srcRect l="4793" t="6316" r="5718" b="7969"/>
          <a:stretch>
            <a:fillRect/>
          </a:stretch>
        </p:blipFill>
        <p:spPr>
          <a:xfrm>
            <a:off x="8613168" y="5932547"/>
            <a:ext cx="233362" cy="238125"/>
          </a:xfrm>
          <a:prstGeom prst="roundRect">
            <a:avLst/>
          </a:prstGeom>
          <a:effectLst>
            <a:outerShdw blurRad="38100" dist="25400" dir="5400000" sx="98000" sy="98000" algn="t" rotWithShape="0">
              <a:schemeClr val="tx2">
                <a:alpha val="51000"/>
              </a:schemeClr>
            </a:outerShdw>
          </a:effectLst>
        </p:spPr>
      </p:pic>
      <p:pic>
        <p:nvPicPr>
          <p:cNvPr id="261139" name="Picture 19" descr="D:\Users\bkp\My Work\TEMPLATES\LOGO Library\Capgemini_Logo_Set\Capgemini Logo Set\ppt\Logo_Capgemini_RGB.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6750" y="844452"/>
            <a:ext cx="3154680" cy="731113"/>
          </a:xfrm>
          <a:prstGeom prst="rect">
            <a:avLst/>
          </a:prstGeom>
          <a:noFill/>
          <a:extLst>
            <a:ext uri="{909E8E84-426E-40DD-AFC4-6F175D3DCCD1}">
              <a14:hiddenFill xmlns:a14="http://schemas.microsoft.com/office/drawing/2010/main">
                <a:solidFill>
                  <a:srgbClr val="FFFFFF"/>
                </a:solidFill>
              </a14:hiddenFill>
            </a:ext>
          </a:extLst>
        </p:spPr>
      </p:pic>
      <p:pic>
        <p:nvPicPr>
          <p:cNvPr id="261140" name="Picture 20" descr="D:\Users\bkp\My Work\TEMPLATES\LOGO Library\Capgemini_Logo_Set\Slogan_PMRC_cmyk_Capgemini.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087543" y="1106840"/>
            <a:ext cx="3154680" cy="25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29013"/>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Lst>
  <p:timing>
    <p:tnLst>
      <p:par>
        <p:cTn id="1" dur="indefinite" restart="never" nodeType="tmRoot"/>
      </p:par>
    </p:tnLst>
  </p:timing>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6"/>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9097" name="think-cell Slide" r:id="rId7" imgW="360" imgH="360" progId="">
                  <p:embed/>
                </p:oleObj>
              </mc:Choice>
              <mc:Fallback>
                <p:oleObj name="think-cell Slide" r:id="rId7" imgW="360" imgH="360" progId="">
                  <p:embed/>
                  <p:pic>
                    <p:nvPicPr>
                      <p:cNvPr id="0" name="Picture 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00" r:id="rId1"/>
    <p:sldLayoutId id="2147483992" r:id="rId2"/>
    <p:sldLayoutId id="2147483980" r:id="rId3"/>
  </p:sldLayoutIdLst>
  <p:txStyles>
    <p:titleStyle>
      <a:lvl1pPr algn="ctr" defTabSz="839694" rtl="0" eaLnBrk="1" latinLnBrk="0" hangingPunct="1">
        <a:spcBef>
          <a:spcPct val="0"/>
        </a:spcBef>
        <a:buNone/>
        <a:defRPr sz="4000" kern="1200">
          <a:solidFill>
            <a:schemeClr val="tx1"/>
          </a:solidFill>
          <a:latin typeface="+mj-lt"/>
          <a:ea typeface="+mj-ea"/>
          <a:cs typeface="+mj-cs"/>
        </a:defRPr>
      </a:lvl1pPr>
    </p:titleStyle>
    <p:bodyStyle>
      <a:lvl1pPr marL="314885" indent="-314885" algn="l" defTabSz="839694" rtl="0" eaLnBrk="1" latinLnBrk="0" hangingPunct="1">
        <a:spcBef>
          <a:spcPct val="20000"/>
        </a:spcBef>
        <a:buFont typeface="Arial" pitchFamily="34" charset="0"/>
        <a:buChar char="•"/>
        <a:defRPr sz="2900" kern="1200">
          <a:solidFill>
            <a:schemeClr val="tx1"/>
          </a:solidFill>
          <a:latin typeface="+mn-lt"/>
          <a:ea typeface="+mn-ea"/>
          <a:cs typeface="+mn-cs"/>
        </a:defRPr>
      </a:lvl1pPr>
      <a:lvl2pPr marL="682251" indent="-262404" algn="l" defTabSz="839694" rtl="0" eaLnBrk="1" latinLnBrk="0" hangingPunct="1">
        <a:spcBef>
          <a:spcPct val="20000"/>
        </a:spcBef>
        <a:buFont typeface="Arial" pitchFamily="34" charset="0"/>
        <a:buChar char="–"/>
        <a:defRPr sz="2600" kern="1200">
          <a:solidFill>
            <a:schemeClr val="tx1"/>
          </a:solidFill>
          <a:latin typeface="+mn-lt"/>
          <a:ea typeface="+mn-ea"/>
          <a:cs typeface="+mn-cs"/>
        </a:defRPr>
      </a:lvl2pPr>
      <a:lvl3pPr marL="1049617" indent="-209923" algn="l" defTabSz="839694" rtl="0" eaLnBrk="1" latinLnBrk="0" hangingPunct="1">
        <a:spcBef>
          <a:spcPct val="20000"/>
        </a:spcBef>
        <a:buFont typeface="Arial" pitchFamily="34" charset="0"/>
        <a:buChar char="•"/>
        <a:defRPr sz="2200" kern="1200">
          <a:solidFill>
            <a:schemeClr val="tx1"/>
          </a:solidFill>
          <a:latin typeface="+mn-lt"/>
          <a:ea typeface="+mn-ea"/>
          <a:cs typeface="+mn-cs"/>
        </a:defRPr>
      </a:lvl3pPr>
      <a:lvl4pPr marL="146946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89310"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30915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729004"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148851"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568697" indent="-209923" algn="l" defTabSz="839694"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fr-FR"/>
      </a:defPPr>
      <a:lvl1pPr marL="0" algn="l" defTabSz="839694" rtl="0" eaLnBrk="1" latinLnBrk="0" hangingPunct="1">
        <a:defRPr sz="1700" kern="1200">
          <a:solidFill>
            <a:schemeClr val="tx1"/>
          </a:solidFill>
          <a:latin typeface="+mn-lt"/>
          <a:ea typeface="+mn-ea"/>
          <a:cs typeface="+mn-cs"/>
        </a:defRPr>
      </a:lvl1pPr>
      <a:lvl2pPr marL="419847" algn="l" defTabSz="839694" rtl="0" eaLnBrk="1" latinLnBrk="0" hangingPunct="1">
        <a:defRPr sz="1700" kern="1200">
          <a:solidFill>
            <a:schemeClr val="tx1"/>
          </a:solidFill>
          <a:latin typeface="+mn-lt"/>
          <a:ea typeface="+mn-ea"/>
          <a:cs typeface="+mn-cs"/>
        </a:defRPr>
      </a:lvl2pPr>
      <a:lvl3pPr marL="839694" algn="l" defTabSz="839694" rtl="0" eaLnBrk="1" latinLnBrk="0" hangingPunct="1">
        <a:defRPr sz="1700" kern="1200">
          <a:solidFill>
            <a:schemeClr val="tx1"/>
          </a:solidFill>
          <a:latin typeface="+mn-lt"/>
          <a:ea typeface="+mn-ea"/>
          <a:cs typeface="+mn-cs"/>
        </a:defRPr>
      </a:lvl3pPr>
      <a:lvl4pPr marL="1259540" algn="l" defTabSz="839694" rtl="0" eaLnBrk="1" latinLnBrk="0" hangingPunct="1">
        <a:defRPr sz="1700" kern="1200">
          <a:solidFill>
            <a:schemeClr val="tx1"/>
          </a:solidFill>
          <a:latin typeface="+mn-lt"/>
          <a:ea typeface="+mn-ea"/>
          <a:cs typeface="+mn-cs"/>
        </a:defRPr>
      </a:lvl4pPr>
      <a:lvl5pPr marL="1679387" algn="l" defTabSz="839694" rtl="0" eaLnBrk="1" latinLnBrk="0" hangingPunct="1">
        <a:defRPr sz="1700" kern="1200">
          <a:solidFill>
            <a:schemeClr val="tx1"/>
          </a:solidFill>
          <a:latin typeface="+mn-lt"/>
          <a:ea typeface="+mn-ea"/>
          <a:cs typeface="+mn-cs"/>
        </a:defRPr>
      </a:lvl5pPr>
      <a:lvl6pPr marL="2099234" algn="l" defTabSz="839694" rtl="0" eaLnBrk="1" latinLnBrk="0" hangingPunct="1">
        <a:defRPr sz="1700" kern="1200">
          <a:solidFill>
            <a:schemeClr val="tx1"/>
          </a:solidFill>
          <a:latin typeface="+mn-lt"/>
          <a:ea typeface="+mn-ea"/>
          <a:cs typeface="+mn-cs"/>
        </a:defRPr>
      </a:lvl6pPr>
      <a:lvl7pPr marL="2519081" algn="l" defTabSz="839694" rtl="0" eaLnBrk="1" latinLnBrk="0" hangingPunct="1">
        <a:defRPr sz="1700" kern="1200">
          <a:solidFill>
            <a:schemeClr val="tx1"/>
          </a:solidFill>
          <a:latin typeface="+mn-lt"/>
          <a:ea typeface="+mn-ea"/>
          <a:cs typeface="+mn-cs"/>
        </a:defRPr>
      </a:lvl7pPr>
      <a:lvl8pPr marL="2938927" algn="l" defTabSz="839694" rtl="0" eaLnBrk="1" latinLnBrk="0" hangingPunct="1">
        <a:defRPr sz="1700" kern="1200">
          <a:solidFill>
            <a:schemeClr val="tx1"/>
          </a:solidFill>
          <a:latin typeface="+mn-lt"/>
          <a:ea typeface="+mn-ea"/>
          <a:cs typeface="+mn-cs"/>
        </a:defRPr>
      </a:lvl8pPr>
      <a:lvl9pPr marL="3358774" algn="l" defTabSz="839694"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70.xml"/><Relationship Id="rId7" Type="http://schemas.openxmlformats.org/officeDocument/2006/relationships/notesSlide" Target="../notesSlides/notesSlide1.xml"/><Relationship Id="rId2" Type="http://schemas.openxmlformats.org/officeDocument/2006/relationships/tags" Target="../tags/tag69.xml"/><Relationship Id="rId1" Type="http://schemas.openxmlformats.org/officeDocument/2006/relationships/vmlDrawing" Target="../drawings/vmlDrawing2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73.xml"/><Relationship Id="rId1" Type="http://schemas.openxmlformats.org/officeDocument/2006/relationships/vmlDrawing" Target="../drawings/vmlDrawing22.vml"/><Relationship Id="rId5" Type="http://schemas.openxmlformats.org/officeDocument/2006/relationships/image" Target="../media/image1.emf"/><Relationship Id="rId4" Type="http://schemas.openxmlformats.org/officeDocument/2006/relationships/oleObject" Target="../embeddings/oleObject2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 y="0"/>
          <a:ext cx="158750" cy="158750"/>
        </p:xfrm>
        <a:graphic>
          <a:graphicData uri="http://schemas.openxmlformats.org/presentationml/2006/ole">
            <mc:AlternateContent xmlns:mc="http://schemas.openxmlformats.org/markup-compatibility/2006">
              <mc:Choice xmlns:v="urn:schemas-microsoft-com:vml" Requires="v">
                <p:oleObj spid="_x0000_s637967" name="think-cell Slide" r:id="rId8" imgW="360" imgH="360" progId="">
                  <p:embed/>
                </p:oleObj>
              </mc:Choice>
              <mc:Fallback>
                <p:oleObj name="think-cell Slide" r:id="rId8" imgW="360" imgH="360" progId="">
                  <p:embed/>
                  <p:pic>
                    <p:nvPicPr>
                      <p:cNvPr id="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9"/>
          <p:cNvSpPr>
            <a:spLocks noGrp="1"/>
          </p:cNvSpPr>
          <p:nvPr>
            <p:ph type="ctrTitle"/>
            <p:custDataLst>
              <p:tags r:id="rId3"/>
            </p:custDataLst>
          </p:nvPr>
        </p:nvSpPr>
        <p:spPr>
          <a:xfrm>
            <a:off x="304800" y="4343400"/>
            <a:ext cx="4727575" cy="724977"/>
          </a:xfrm>
        </p:spPr>
        <p:txBody>
          <a:bodyPr/>
          <a:lstStyle/>
          <a:p>
            <a:r>
              <a:rPr lang="en-US" sz="2400" b="1" dirty="0" smtClean="0"/>
              <a:t>Learning &amp; Development </a:t>
            </a:r>
            <a:br>
              <a:rPr lang="en-US" sz="2400" b="1" dirty="0" smtClean="0"/>
            </a:br>
            <a:r>
              <a:rPr lang="en-US" sz="1600" i="1" kern="1100" dirty="0">
                <a:solidFill>
                  <a:schemeClr val="accent1">
                    <a:lumMod val="50000"/>
                  </a:schemeClr>
                </a:solidFill>
              </a:rPr>
              <a:t>Enabling development, Impacting growth</a:t>
            </a:r>
            <a:r>
              <a:rPr lang="en-US" sz="1600" i="1" kern="1100" dirty="0" smtClean="0">
                <a:solidFill>
                  <a:schemeClr val="accent1">
                    <a:lumMod val="50000"/>
                  </a:schemeClr>
                </a:solidFill>
              </a:rPr>
              <a:t>…</a:t>
            </a:r>
            <a:endParaRPr lang="en-US" sz="2400" b="1" i="1" dirty="0"/>
          </a:p>
        </p:txBody>
      </p:sp>
      <p:sp>
        <p:nvSpPr>
          <p:cNvPr id="13" name="Subtitle 12"/>
          <p:cNvSpPr>
            <a:spLocks noGrp="1"/>
          </p:cNvSpPr>
          <p:nvPr>
            <p:ph type="subTitle" idx="1"/>
            <p:custDataLst>
              <p:tags r:id="rId4"/>
            </p:custDataLst>
          </p:nvPr>
        </p:nvSpPr>
        <p:spPr>
          <a:xfrm>
            <a:off x="311149" y="5791200"/>
            <a:ext cx="5861051" cy="381000"/>
          </a:xfrm>
        </p:spPr>
        <p:txBody>
          <a:bodyPr/>
          <a:lstStyle/>
          <a:p>
            <a:pPr lvl="0"/>
            <a:r>
              <a:rPr lang="en-US" sz="2400" b="1" dirty="0" err="1" smtClean="0">
                <a:solidFill>
                  <a:srgbClr val="002060"/>
                </a:solidFill>
              </a:rPr>
              <a:t>Cognos</a:t>
            </a:r>
            <a:r>
              <a:rPr lang="en-US" sz="2400" b="1" dirty="0" smtClean="0">
                <a:solidFill>
                  <a:srgbClr val="002060"/>
                </a:solidFill>
              </a:rPr>
              <a:t> 11 (IBM </a:t>
            </a:r>
            <a:r>
              <a:rPr lang="en-US" sz="2400" b="1" dirty="0" err="1" smtClean="0">
                <a:solidFill>
                  <a:srgbClr val="002060"/>
                </a:solidFill>
              </a:rPr>
              <a:t>Cognos</a:t>
            </a:r>
            <a:r>
              <a:rPr lang="en-US" sz="2400" b="1" dirty="0" smtClean="0">
                <a:solidFill>
                  <a:srgbClr val="002060"/>
                </a:solidFill>
              </a:rPr>
              <a:t> Analytics) – Training</a:t>
            </a:r>
          </a:p>
          <a:p>
            <a:pPr lvl="0">
              <a:buClr>
                <a:srgbClr val="002060"/>
              </a:buClr>
              <a:buFont typeface="Wingdings" pitchFamily="2" charset="2"/>
              <a:buChar char="Ø"/>
            </a:pPr>
            <a:r>
              <a:rPr lang="en-US" sz="2400" b="1" dirty="0" smtClean="0">
                <a:solidFill>
                  <a:srgbClr val="002060"/>
                </a:solidFill>
              </a:rPr>
              <a:t>Framework Manager</a:t>
            </a:r>
          </a:p>
          <a:p>
            <a:pPr lvl="0">
              <a:buClr>
                <a:srgbClr val="002060"/>
              </a:buClr>
              <a:buFont typeface="Wingdings" pitchFamily="2" charset="2"/>
              <a:buChar char="Ø"/>
            </a:pPr>
            <a:r>
              <a:rPr lang="en-US" sz="2400" b="1" dirty="0" err="1" smtClean="0">
                <a:solidFill>
                  <a:srgbClr val="002060"/>
                </a:solidFill>
              </a:rPr>
              <a:t>Cognos</a:t>
            </a:r>
            <a:r>
              <a:rPr lang="en-US" sz="2400" b="1" dirty="0" smtClean="0">
                <a:solidFill>
                  <a:srgbClr val="002060"/>
                </a:solidFill>
              </a:rPr>
              <a:t> Admin &amp; Security</a:t>
            </a:r>
          </a:p>
        </p:txBody>
      </p:sp>
      <p:sp>
        <p:nvSpPr>
          <p:cNvPr id="5" name="Subtitle 12"/>
          <p:cNvSpPr txBox="1">
            <a:spLocks/>
          </p:cNvSpPr>
          <p:nvPr>
            <p:custDataLst>
              <p:tags r:id="rId5"/>
            </p:custDataLst>
          </p:nvPr>
        </p:nvSpPr>
        <p:spPr>
          <a:xfrm>
            <a:off x="311149" y="5410200"/>
            <a:ext cx="5861051" cy="381000"/>
          </a:xfrm>
          <a:prstGeom prst="rect">
            <a:avLst/>
          </a:prstGeom>
          <a:effectLst>
            <a:outerShdw blurRad="12700" dist="12700" dir="2700000" sx="133000" sy="133000" algn="tl" rotWithShape="0">
              <a:schemeClr val="bg1">
                <a:alpha val="80000"/>
              </a:schemeClr>
            </a:outerShdw>
          </a:effectLst>
        </p:spPr>
        <p:txBody>
          <a:bodyPr vert="horz" lIns="0" tIns="33059" rIns="33059" bIns="33059" rtlCol="0" anchor="ctr">
            <a:noAutofit/>
          </a:bodyPr>
          <a:lstStyle>
            <a:lvl1pPr marL="0" indent="0" algn="l" defTabSz="914342" rtl="0" eaLnBrk="1" latinLnBrk="0" hangingPunct="1">
              <a:lnSpc>
                <a:spcPct val="100000"/>
              </a:lnSpc>
              <a:spcBef>
                <a:spcPts val="0"/>
              </a:spcBef>
              <a:spcAft>
                <a:spcPts val="600"/>
              </a:spcAft>
              <a:buClr>
                <a:schemeClr val="accent2"/>
              </a:buClr>
              <a:buFont typeface="Wingdings" pitchFamily="2" charset="2"/>
              <a:buNone/>
              <a:defRPr sz="1800" b="0" kern="1200">
                <a:solidFill>
                  <a:schemeClr val="accent2"/>
                </a:solidFill>
                <a:effectLst/>
                <a:latin typeface="Arial Narrow" pitchFamily="34" charset="0"/>
                <a:ea typeface="+mn-ea"/>
                <a:cs typeface="+mn-cs"/>
              </a:defRPr>
            </a:lvl1pPr>
            <a:lvl2pPr marL="457171" indent="0" algn="ctr" defTabSz="914342" rtl="0" eaLnBrk="1" latinLnBrk="0" hangingPunct="1">
              <a:spcBef>
                <a:spcPts val="0"/>
              </a:spcBef>
              <a:spcAft>
                <a:spcPts val="600"/>
              </a:spcAft>
              <a:buClr>
                <a:schemeClr val="accent2"/>
              </a:buClr>
              <a:buFont typeface="Arial" pitchFamily="34" charset="0"/>
              <a:buNone/>
              <a:defRPr sz="1800" b="0" kern="1200">
                <a:solidFill>
                  <a:schemeClr val="tx1">
                    <a:tint val="75000"/>
                  </a:schemeClr>
                </a:solidFill>
                <a:latin typeface="+mn-lt"/>
                <a:ea typeface="+mn-ea"/>
                <a:cs typeface="+mn-cs"/>
              </a:defRPr>
            </a:lvl2pPr>
            <a:lvl3pPr marL="914342" indent="0" algn="ctr" defTabSz="914342" rtl="0" eaLnBrk="1" latinLnBrk="0" hangingPunct="1">
              <a:spcBef>
                <a:spcPts val="0"/>
              </a:spcBef>
              <a:spcAft>
                <a:spcPts val="600"/>
              </a:spcAft>
              <a:buClr>
                <a:schemeClr val="accent2"/>
              </a:buClr>
              <a:buFont typeface="Arial" pitchFamily="34" charset="0"/>
              <a:buNone/>
              <a:defRPr sz="1600" kern="1200">
                <a:solidFill>
                  <a:schemeClr val="tx1">
                    <a:tint val="75000"/>
                  </a:schemeClr>
                </a:solidFill>
                <a:latin typeface="+mn-lt"/>
                <a:ea typeface="+mn-ea"/>
                <a:cs typeface="+mn-cs"/>
              </a:defRPr>
            </a:lvl3pPr>
            <a:lvl4pPr marL="1371513" marR="0" indent="0" algn="ctr" defTabSz="914342" rtl="0" eaLnBrk="1" fontAlgn="auto" latinLnBrk="0" hangingPunct="1">
              <a:lnSpc>
                <a:spcPct val="100000"/>
              </a:lnSpc>
              <a:spcBef>
                <a:spcPts val="0"/>
              </a:spcBef>
              <a:spcAft>
                <a:spcPts val="0"/>
              </a:spcAft>
              <a:buClr>
                <a:schemeClr val="accent2"/>
              </a:buClr>
              <a:buSzTx/>
              <a:buFont typeface="Courier New" pitchFamily="49" charset="0"/>
              <a:buNone/>
              <a:tabLst/>
              <a:defRPr sz="1400" kern="1200">
                <a:solidFill>
                  <a:schemeClr val="tx1">
                    <a:tint val="75000"/>
                  </a:schemeClr>
                </a:solidFill>
                <a:latin typeface="+mn-lt"/>
                <a:ea typeface="+mn-ea"/>
                <a:cs typeface="+mn-cs"/>
              </a:defRPr>
            </a:lvl4pPr>
            <a:lvl5pPr marL="1828684" indent="0" algn="ctr" defTabSz="914342" rtl="0" eaLnBrk="1" latinLnBrk="0" hangingPunct="1">
              <a:spcBef>
                <a:spcPts val="0"/>
              </a:spcBef>
              <a:buClr>
                <a:srgbClr val="B1B1B1"/>
              </a:buClr>
              <a:buFont typeface="Arial" pitchFamily="34" charset="0"/>
              <a:buNone/>
              <a:defRPr sz="1700" kern="1200">
                <a:solidFill>
                  <a:schemeClr val="tx1">
                    <a:tint val="75000"/>
                  </a:schemeClr>
                </a:solidFill>
                <a:latin typeface="+mn-lt"/>
                <a:ea typeface="+mn-ea"/>
                <a:cs typeface="+mn-cs"/>
              </a:defRPr>
            </a:lvl5pPr>
            <a:lvl6pPr marL="2285855"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026"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198"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369" indent="0" algn="ctr" defTabSz="914342"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fr-FR" sz="1600" b="1" dirty="0" smtClean="0"/>
          </a:p>
        </p:txBody>
      </p:sp>
    </p:spTree>
    <p:extLst>
      <p:ext uri="{BB962C8B-B14F-4D97-AF65-F5344CB8AC3E}">
        <p14:creationId xmlns:p14="http://schemas.microsoft.com/office/powerpoint/2010/main" val="381714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smtClean="0">
                <a:latin typeface="Arial Narrow" pitchFamily="34" charset="0"/>
              </a:rPr>
              <a:t>Module Objectives :</a:t>
            </a:r>
            <a:endParaRPr lang="en-US" sz="2800" dirty="0">
              <a:latin typeface="Arial Narrow" pitchFamily="34" charset="0"/>
            </a:endParaRPr>
          </a:p>
        </p:txBody>
      </p:sp>
      <p:sp>
        <p:nvSpPr>
          <p:cNvPr id="20" name="Rectangle 19"/>
          <p:cNvSpPr/>
          <p:nvPr/>
        </p:nvSpPr>
        <p:spPr>
          <a:xfrm>
            <a:off x="381000" y="1066800"/>
            <a:ext cx="9144000" cy="5647700"/>
          </a:xfrm>
          <a:prstGeom prst="rect">
            <a:avLst/>
          </a:prstGeom>
        </p:spPr>
        <p:txBody>
          <a:bodyPr wrap="square">
            <a:spAutoFit/>
          </a:bodyPr>
          <a:lstStyle/>
          <a:p>
            <a:pPr lvl="0"/>
            <a:r>
              <a:rPr lang="en-US" sz="1100" b="1" dirty="0" smtClean="0"/>
              <a:t>Framework Manager</a:t>
            </a:r>
            <a:endParaRPr lang="en-US" sz="1100" dirty="0" smtClean="0"/>
          </a:p>
          <a:p>
            <a:pPr marL="707478" lvl="1" indent="-228600">
              <a:buFont typeface="+mj-lt"/>
              <a:buAutoNum type="arabicPeriod"/>
            </a:pPr>
            <a:r>
              <a:rPr lang="en-US" sz="1100" dirty="0" smtClean="0"/>
              <a:t>Designing a project</a:t>
            </a:r>
          </a:p>
          <a:p>
            <a:pPr marL="707478" lvl="1" indent="-228600">
              <a:buFont typeface="+mj-lt"/>
              <a:buAutoNum type="arabicPeriod"/>
            </a:pPr>
            <a:r>
              <a:rPr lang="en-US" sz="1100" dirty="0" smtClean="0"/>
              <a:t>Create Namespace, folders, Query Subject, Query Items</a:t>
            </a:r>
          </a:p>
          <a:p>
            <a:pPr marL="707478" lvl="1" indent="-228600">
              <a:buFont typeface="+mj-lt"/>
              <a:buAutoNum type="arabicPeriod"/>
            </a:pPr>
            <a:r>
              <a:rPr lang="en-US" sz="1100" dirty="0" smtClean="0"/>
              <a:t>Create Relationships and Define Cardinality</a:t>
            </a:r>
          </a:p>
          <a:p>
            <a:pPr marL="707478" lvl="1" indent="-228600">
              <a:buFont typeface="+mj-lt"/>
              <a:buAutoNum type="arabicPeriod"/>
            </a:pPr>
            <a:r>
              <a:rPr lang="en-US" sz="1100" dirty="0" smtClean="0"/>
              <a:t>Create Filters, Calculations</a:t>
            </a:r>
          </a:p>
          <a:p>
            <a:pPr marL="707478" lvl="1" indent="-228600">
              <a:buFont typeface="+mj-lt"/>
              <a:buAutoNum type="arabicPeriod"/>
            </a:pPr>
            <a:r>
              <a:rPr lang="en-US" sz="1100" dirty="0" smtClean="0"/>
              <a:t>Create Regular and Measure Dimension</a:t>
            </a:r>
          </a:p>
          <a:p>
            <a:pPr marL="707478" lvl="1" indent="-228600">
              <a:buFont typeface="+mj-lt"/>
              <a:buAutoNum type="arabicPeriod"/>
            </a:pPr>
            <a:r>
              <a:rPr lang="en-US" sz="1100" dirty="0" smtClean="0"/>
              <a:t>Create Hierarchy (DMR)</a:t>
            </a:r>
          </a:p>
          <a:p>
            <a:pPr marL="707478" lvl="1" indent="-228600">
              <a:buFont typeface="+mj-lt"/>
              <a:buAutoNum type="arabicPeriod"/>
            </a:pPr>
            <a:r>
              <a:rPr lang="en-US" sz="1100" dirty="0" smtClean="0"/>
              <a:t>Create and Publish package</a:t>
            </a:r>
          </a:p>
          <a:p>
            <a:pPr marL="707478" lvl="1" indent="-228600">
              <a:buFont typeface="+mj-lt"/>
              <a:buAutoNum type="arabicPeriod"/>
            </a:pPr>
            <a:r>
              <a:rPr lang="en-US" sz="1100" dirty="0" smtClean="0"/>
              <a:t>Defining Usage Property</a:t>
            </a:r>
          </a:p>
          <a:p>
            <a:pPr marL="707478" lvl="1" indent="-228600">
              <a:buFont typeface="+mj-lt"/>
              <a:buAutoNum type="arabicPeriod"/>
            </a:pPr>
            <a:r>
              <a:rPr lang="en-US" sz="1100" dirty="0" smtClean="0"/>
              <a:t>FM Security</a:t>
            </a:r>
          </a:p>
          <a:p>
            <a:pPr marL="707478" lvl="1" indent="-228600">
              <a:buFont typeface="+mj-lt"/>
              <a:buAutoNum type="arabicPeriod"/>
            </a:pPr>
            <a:r>
              <a:rPr lang="en-US" sz="1100" dirty="0" smtClean="0"/>
              <a:t>Parameter Maps, Session Parameter, Macro Functions</a:t>
            </a:r>
          </a:p>
          <a:p>
            <a:pPr marL="707478" lvl="1" indent="-228600">
              <a:buFont typeface="+mj-lt"/>
              <a:buAutoNum type="arabicPeriod"/>
            </a:pPr>
            <a:r>
              <a:rPr lang="en-US" sz="1100" dirty="0" smtClean="0"/>
              <a:t>Define Query Set</a:t>
            </a:r>
          </a:p>
          <a:p>
            <a:pPr marL="707478" lvl="1" indent="-228600">
              <a:buFont typeface="+mj-lt"/>
              <a:buAutoNum type="arabicPeriod"/>
            </a:pPr>
            <a:r>
              <a:rPr lang="en-US" sz="1100" dirty="0" smtClean="0"/>
              <a:t>Branching &amp; Merging</a:t>
            </a:r>
          </a:p>
          <a:p>
            <a:pPr marL="707478" lvl="1" indent="-228600">
              <a:buFont typeface="+mj-lt"/>
              <a:buAutoNum type="arabicPeriod"/>
            </a:pPr>
            <a:r>
              <a:rPr lang="en-US" sz="1100" dirty="0" smtClean="0"/>
              <a:t>Governor Settings</a:t>
            </a:r>
          </a:p>
          <a:p>
            <a:pPr lvl="0"/>
            <a:r>
              <a:rPr lang="fr-FR" sz="1100" b="1" dirty="0" err="1" smtClean="0"/>
              <a:t>Cognos</a:t>
            </a:r>
            <a:r>
              <a:rPr lang="fr-FR" sz="1100" b="1" dirty="0" smtClean="0"/>
              <a:t> Administration </a:t>
            </a:r>
            <a:endParaRPr lang="en-US" sz="1100" dirty="0" smtClean="0"/>
          </a:p>
          <a:p>
            <a:pPr marL="707478" lvl="1" indent="-228600">
              <a:buFont typeface="+mj-lt"/>
              <a:buAutoNum type="arabicPeriod"/>
            </a:pPr>
            <a:r>
              <a:rPr lang="en-US" sz="1100" dirty="0" smtClean="0"/>
              <a:t>Manage Accounts, Activities, Contents</a:t>
            </a:r>
          </a:p>
          <a:p>
            <a:pPr marL="707478" lvl="1" indent="-228600">
              <a:buFont typeface="+mj-lt"/>
              <a:buAutoNum type="arabicPeriod"/>
            </a:pPr>
            <a:r>
              <a:rPr lang="en-US" sz="1100" dirty="0" smtClean="0"/>
              <a:t>Manage &amp; Create Data servers</a:t>
            </a:r>
          </a:p>
          <a:p>
            <a:pPr marL="707478" lvl="1" indent="-228600">
              <a:buFont typeface="+mj-lt"/>
              <a:buAutoNum type="arabicPeriod"/>
            </a:pPr>
            <a:r>
              <a:rPr lang="en-US" sz="1100" dirty="0" smtClean="0"/>
              <a:t>Manage system configuration setting</a:t>
            </a:r>
          </a:p>
          <a:p>
            <a:pPr marL="707478" lvl="1" indent="-228600">
              <a:buFont typeface="+mj-lt"/>
              <a:buAutoNum type="arabicPeriod"/>
            </a:pPr>
            <a:r>
              <a:rPr lang="en-US" sz="1100" dirty="0" smtClean="0"/>
              <a:t>Create &amp; schedule jobs</a:t>
            </a:r>
          </a:p>
          <a:p>
            <a:pPr marL="707478" lvl="1" indent="-228600">
              <a:buFont typeface="+mj-lt"/>
              <a:buAutoNum type="arabicPeriod"/>
            </a:pPr>
            <a:r>
              <a:rPr lang="en-US" sz="1100" dirty="0" smtClean="0"/>
              <a:t>Administration Console, Monitoring and Performance Tuning </a:t>
            </a:r>
          </a:p>
          <a:p>
            <a:pPr lvl="0"/>
            <a:r>
              <a:rPr lang="fr-FR" sz="1100" b="1" dirty="0" smtClean="0"/>
              <a:t>Security</a:t>
            </a:r>
            <a:endParaRPr lang="en-US" sz="1100" dirty="0" smtClean="0"/>
          </a:p>
          <a:p>
            <a:pPr marL="707478" lvl="1" indent="-228600">
              <a:buFont typeface="+mj-lt"/>
              <a:buAutoNum type="arabicPeriod"/>
            </a:pPr>
            <a:r>
              <a:rPr lang="en-US" sz="1100" dirty="0" smtClean="0"/>
              <a:t>Authentication Provider</a:t>
            </a:r>
          </a:p>
          <a:p>
            <a:pPr marL="707478" lvl="1" indent="-228600">
              <a:buFont typeface="+mj-lt"/>
              <a:buAutoNum type="arabicPeriod"/>
            </a:pPr>
            <a:r>
              <a:rPr lang="en-US" sz="1100" dirty="0" err="1" smtClean="0"/>
              <a:t>Cognos</a:t>
            </a:r>
            <a:r>
              <a:rPr lang="en-US" sz="1100" dirty="0" smtClean="0"/>
              <a:t> Namespace</a:t>
            </a:r>
          </a:p>
          <a:p>
            <a:pPr marL="707478" lvl="1" indent="-228600">
              <a:buFont typeface="+mj-lt"/>
              <a:buAutoNum type="arabicPeriod"/>
            </a:pPr>
            <a:r>
              <a:rPr lang="en-US" sz="1100" dirty="0" smtClean="0"/>
              <a:t>Initial Security</a:t>
            </a:r>
          </a:p>
          <a:p>
            <a:pPr marL="707478" lvl="1" indent="-228600">
              <a:buFont typeface="+mj-lt"/>
              <a:buAutoNum type="arabicPeriod"/>
            </a:pPr>
            <a:r>
              <a:rPr lang="en-US" sz="1100" dirty="0" smtClean="0"/>
              <a:t>Built-in entries</a:t>
            </a:r>
          </a:p>
          <a:p>
            <a:pPr marL="707478" lvl="1" indent="-228600">
              <a:buFont typeface="+mj-lt"/>
              <a:buAutoNum type="arabicPeriod"/>
            </a:pPr>
            <a:r>
              <a:rPr lang="en-US" sz="1100" dirty="0" smtClean="0"/>
              <a:t>Pre-defined entries</a:t>
            </a:r>
          </a:p>
          <a:p>
            <a:pPr marL="707478" lvl="1" indent="-228600">
              <a:buFont typeface="+mj-lt"/>
              <a:buAutoNum type="arabicPeriod"/>
            </a:pPr>
            <a:r>
              <a:rPr lang="en-US" sz="1100" dirty="0" smtClean="0"/>
              <a:t>Pre-defined roles</a:t>
            </a:r>
          </a:p>
          <a:p>
            <a:pPr marL="707478" lvl="1" indent="-228600">
              <a:buFont typeface="+mj-lt"/>
              <a:buAutoNum type="arabicPeriod"/>
            </a:pPr>
            <a:r>
              <a:rPr lang="en-US" sz="1100" dirty="0" smtClean="0"/>
              <a:t>Specify Security settings after installation</a:t>
            </a:r>
          </a:p>
          <a:p>
            <a:pPr marL="707478" lvl="1" indent="-228600">
              <a:buFont typeface="+mj-lt"/>
              <a:buAutoNum type="arabicPeriod"/>
            </a:pPr>
            <a:r>
              <a:rPr lang="en-US" sz="1100" dirty="0" smtClean="0"/>
              <a:t>Demonstration: To Remove Everyone from System Administrator</a:t>
            </a:r>
          </a:p>
          <a:p>
            <a:pPr marL="707478" lvl="1" indent="-228600">
              <a:buFont typeface="+mj-lt"/>
              <a:buAutoNum type="arabicPeriod"/>
            </a:pPr>
            <a:r>
              <a:rPr lang="en-US" sz="1100" dirty="0" smtClean="0"/>
              <a:t>Optimizing Users, Groups, and Roles in the </a:t>
            </a:r>
            <a:r>
              <a:rPr lang="en-US" sz="1100" dirty="0" err="1" smtClean="0"/>
              <a:t>Cognos</a:t>
            </a:r>
            <a:r>
              <a:rPr lang="en-US" sz="1100" dirty="0" smtClean="0"/>
              <a:t> Namespace</a:t>
            </a:r>
          </a:p>
          <a:p>
            <a:pPr lvl="1"/>
            <a:endParaRPr lang="en-US" sz="1100" dirty="0" smtClean="0"/>
          </a:p>
          <a:p>
            <a:pPr marL="936078" lvl="1" indent="-457200">
              <a:buFont typeface="+mj-lt"/>
              <a:buAutoNum type="arabicPeriod"/>
            </a:pPr>
            <a:endParaRPr lang="en-US" sz="2000" dirty="0" smtClean="0"/>
          </a:p>
        </p:txBody>
      </p:sp>
    </p:spTree>
  </p:cSld>
  <p:clrMapOvr>
    <a:masterClrMapping/>
  </p:clrMapOvr>
  <p:transition advClick="0">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60400" y="5152256"/>
            <a:ext cx="8832850" cy="1066800"/>
          </a:xfrm>
          <a:prstGeom prst="rect">
            <a:avLst/>
          </a:prstGeom>
          <a:solidFill>
            <a:schemeClr val="bg1">
              <a:lumMod val="65000"/>
            </a:schemeClr>
          </a:solidFill>
          <a:ln>
            <a:solidFill>
              <a:schemeClr val="bg1">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ectangle 10"/>
          <p:cNvSpPr/>
          <p:nvPr/>
        </p:nvSpPr>
        <p:spPr>
          <a:xfrm>
            <a:off x="660400" y="3339480"/>
            <a:ext cx="8829104" cy="1668760"/>
          </a:xfrm>
          <a:prstGeom prst="rect">
            <a:avLst/>
          </a:prstGeom>
          <a:solidFill>
            <a:schemeClr val="bg2">
              <a:lumMod val="7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12" name="Flowchart: Magnetic Disk 11"/>
          <p:cNvSpPr/>
          <p:nvPr/>
        </p:nvSpPr>
        <p:spPr>
          <a:xfrm>
            <a:off x="1155700" y="5228456"/>
            <a:ext cx="990600" cy="609600"/>
          </a:xfrm>
          <a:prstGeom prst="flowChartMagneticDisk">
            <a:avLst/>
          </a:prstGeom>
          <a:solidFill>
            <a:schemeClr val="tx1">
              <a:lumMod val="40000"/>
              <a:lumOff val="60000"/>
            </a:schemeClr>
          </a:solidFill>
          <a:ln>
            <a:solidFill>
              <a:schemeClr val="tx1">
                <a:lumMod val="20000"/>
                <a:lumOff val="80000"/>
              </a:schemeClr>
            </a:solidFill>
          </a:ln>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3" name="Flowchart: Magnetic Disk 12"/>
          <p:cNvSpPr/>
          <p:nvPr/>
        </p:nvSpPr>
        <p:spPr>
          <a:xfrm>
            <a:off x="3384550" y="5228456"/>
            <a:ext cx="990600" cy="609600"/>
          </a:xfrm>
          <a:prstGeom prst="flowChartMagneticDisk">
            <a:avLst/>
          </a:prstGeom>
          <a:solidFill>
            <a:schemeClr val="tx1">
              <a:lumMod val="40000"/>
              <a:lumOff val="60000"/>
            </a:schemeClr>
          </a:solidFill>
          <a:ln>
            <a:solidFill>
              <a:schemeClr val="tx1">
                <a:lumMod val="20000"/>
                <a:lumOff val="80000"/>
              </a:schemeClr>
            </a:solidFill>
          </a:ln>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4" name="Flowchart: Magnetic Disk 13"/>
          <p:cNvSpPr/>
          <p:nvPr/>
        </p:nvSpPr>
        <p:spPr>
          <a:xfrm>
            <a:off x="5695950" y="5228456"/>
            <a:ext cx="990600" cy="609600"/>
          </a:xfrm>
          <a:prstGeom prst="flowChartMagneticDisk">
            <a:avLst/>
          </a:prstGeom>
          <a:solidFill>
            <a:schemeClr val="tx1">
              <a:lumMod val="40000"/>
              <a:lumOff val="60000"/>
            </a:schemeClr>
          </a:solidFill>
          <a:ln>
            <a:solidFill>
              <a:schemeClr val="tx1">
                <a:lumMod val="20000"/>
                <a:lumOff val="80000"/>
              </a:schemeClr>
            </a:solidFill>
          </a:ln>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5" name="Flowchart: Magnetic Disk 14"/>
          <p:cNvSpPr/>
          <p:nvPr/>
        </p:nvSpPr>
        <p:spPr>
          <a:xfrm>
            <a:off x="7924800" y="5228456"/>
            <a:ext cx="990600" cy="609600"/>
          </a:xfrm>
          <a:prstGeom prst="flowChartMagneticDisk">
            <a:avLst/>
          </a:prstGeom>
          <a:solidFill>
            <a:schemeClr val="tx1">
              <a:lumMod val="40000"/>
              <a:lumOff val="60000"/>
            </a:schemeClr>
          </a:solidFill>
          <a:ln>
            <a:solidFill>
              <a:schemeClr val="tx1">
                <a:lumMod val="20000"/>
                <a:lumOff val="80000"/>
              </a:schemeClr>
            </a:solidFill>
          </a:ln>
          <a:effectLst>
            <a:outerShdw blurRad="50800" dist="38100" dir="2700000" algn="tl"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cxnSp>
        <p:nvCxnSpPr>
          <p:cNvPr id="17" name="Straight Connector 16"/>
          <p:cNvCxnSpPr>
            <a:stCxn id="11" idx="1"/>
            <a:endCxn id="11" idx="3"/>
          </p:cNvCxnSpPr>
          <p:nvPr/>
        </p:nvCxnSpPr>
        <p:spPr>
          <a:xfrm rot="10800000" flipH="1">
            <a:off x="660400" y="4173860"/>
            <a:ext cx="8829104" cy="0"/>
          </a:xfrm>
          <a:prstGeom prst="line">
            <a:avLst/>
          </a:prstGeom>
          <a:ln>
            <a:solidFill>
              <a:schemeClr val="bg1">
                <a:lumMod val="65000"/>
              </a:schemeClr>
            </a:solidFill>
          </a:ln>
        </p:spPr>
        <p:style>
          <a:lnRef idx="2">
            <a:schemeClr val="accent3"/>
          </a:lnRef>
          <a:fillRef idx="0">
            <a:schemeClr val="accent3"/>
          </a:fillRef>
          <a:effectRef idx="1">
            <a:schemeClr val="accent3"/>
          </a:effectRef>
          <a:fontRef idx="minor">
            <a:schemeClr val="tx1"/>
          </a:fontRef>
        </p:style>
      </p:cxnSp>
      <p:sp>
        <p:nvSpPr>
          <p:cNvPr id="20" name="Rectangle 19"/>
          <p:cNvSpPr/>
          <p:nvPr/>
        </p:nvSpPr>
        <p:spPr>
          <a:xfrm>
            <a:off x="2476500" y="3431775"/>
            <a:ext cx="6848744" cy="618059"/>
          </a:xfrm>
          <a:prstGeom prst="rect">
            <a:avLst/>
          </a:prstGeom>
          <a:solidFill>
            <a:schemeClr val="bg2">
              <a:lumMod val="60000"/>
              <a:lumOff val="40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1" name="Rectangle 20"/>
          <p:cNvSpPr/>
          <p:nvPr/>
        </p:nvSpPr>
        <p:spPr>
          <a:xfrm>
            <a:off x="660400" y="1670720"/>
            <a:ext cx="8832850" cy="457200"/>
          </a:xfrm>
          <a:prstGeom prst="rect">
            <a:avLst/>
          </a:prstGeom>
          <a:solidFill>
            <a:schemeClr val="accent1">
              <a:lumMod val="60000"/>
              <a:lumOff val="40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smtClean="0"/>
              <a:t>BEST PRACTICES</a:t>
            </a:r>
            <a:endParaRPr lang="en-US" dirty="0"/>
          </a:p>
        </p:txBody>
      </p:sp>
      <p:sp>
        <p:nvSpPr>
          <p:cNvPr id="22" name="Rectangle 21"/>
          <p:cNvSpPr/>
          <p:nvPr/>
        </p:nvSpPr>
        <p:spPr>
          <a:xfrm>
            <a:off x="660400" y="908720"/>
            <a:ext cx="8832850" cy="685800"/>
          </a:xfrm>
          <a:prstGeom prst="rect">
            <a:avLst/>
          </a:prstGeom>
          <a:solidFill>
            <a:schemeClr val="accent1">
              <a:lumMod val="60000"/>
              <a:lumOff val="40000"/>
            </a:schemeClr>
          </a:solidFill>
        </p:spPr>
        <p:style>
          <a:lnRef idx="1">
            <a:schemeClr val="accent4"/>
          </a:lnRef>
          <a:fillRef idx="3">
            <a:schemeClr val="accent4"/>
          </a:fillRef>
          <a:effectRef idx="2">
            <a:schemeClr val="accent4"/>
          </a:effectRef>
          <a:fontRef idx="minor">
            <a:schemeClr val="lt1"/>
          </a:fontRef>
        </p:style>
        <p:txBody>
          <a:bodyPr rtlCol="0" anchor="ctr"/>
          <a:lstStyle/>
          <a:p>
            <a:r>
              <a:rPr lang="en-US" sz="1400" dirty="0" smtClean="0"/>
              <a:t>	PERFORMANCE</a:t>
            </a:r>
          </a:p>
          <a:p>
            <a:r>
              <a:rPr lang="en-US" sz="1400" dirty="0" smtClean="0"/>
              <a:t>	MANAGEMENT </a:t>
            </a:r>
          </a:p>
          <a:p>
            <a:r>
              <a:rPr lang="en-US" sz="1400" dirty="0" smtClean="0"/>
              <a:t>	SOLUTIONS</a:t>
            </a:r>
            <a:endParaRPr lang="en-US" sz="1400" dirty="0"/>
          </a:p>
        </p:txBody>
      </p:sp>
      <p:sp>
        <p:nvSpPr>
          <p:cNvPr id="24" name="Rounded Rectangle 23"/>
          <p:cNvSpPr/>
          <p:nvPr/>
        </p:nvSpPr>
        <p:spPr>
          <a:xfrm>
            <a:off x="3516630" y="1012352"/>
            <a:ext cx="4953000" cy="457200"/>
          </a:xfrm>
          <a:prstGeom prst="roundRect">
            <a:avLst/>
          </a:prstGeom>
          <a:solidFill>
            <a:schemeClr val="accent2"/>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en-US" dirty="0"/>
          </a:p>
        </p:txBody>
      </p:sp>
      <p:cxnSp>
        <p:nvCxnSpPr>
          <p:cNvPr id="26" name="Straight Connector 25"/>
          <p:cNvCxnSpPr>
            <a:stCxn id="24" idx="0"/>
            <a:endCxn id="24" idx="2"/>
          </p:cNvCxnSpPr>
          <p:nvPr/>
        </p:nvCxnSpPr>
        <p:spPr>
          <a:xfrm rot="16200000" flipH="1">
            <a:off x="5764530" y="1240952"/>
            <a:ext cx="457200"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sp>
        <p:nvSpPr>
          <p:cNvPr id="28" name="TextBox 27"/>
          <p:cNvSpPr txBox="1"/>
          <p:nvPr/>
        </p:nvSpPr>
        <p:spPr>
          <a:xfrm>
            <a:off x="3879850" y="1061121"/>
            <a:ext cx="1733550" cy="307777"/>
          </a:xfrm>
          <a:prstGeom prst="rect">
            <a:avLst/>
          </a:prstGeom>
          <a:noFill/>
        </p:spPr>
        <p:txBody>
          <a:bodyPr wrap="square" rtlCol="0">
            <a:spAutoFit/>
          </a:bodyPr>
          <a:lstStyle/>
          <a:p>
            <a:pPr algn="ctr"/>
            <a:r>
              <a:rPr lang="en-US" sz="1400" dirty="0">
                <a:solidFill>
                  <a:schemeClr val="lt1"/>
                </a:solidFill>
              </a:rPr>
              <a:t>Industry Solutions</a:t>
            </a:r>
          </a:p>
        </p:txBody>
      </p:sp>
      <p:sp>
        <p:nvSpPr>
          <p:cNvPr id="29" name="TextBox 28"/>
          <p:cNvSpPr txBox="1"/>
          <p:nvPr/>
        </p:nvSpPr>
        <p:spPr>
          <a:xfrm>
            <a:off x="6026150" y="984920"/>
            <a:ext cx="2311400" cy="523220"/>
          </a:xfrm>
          <a:prstGeom prst="rect">
            <a:avLst/>
          </a:prstGeom>
          <a:noFill/>
        </p:spPr>
        <p:txBody>
          <a:bodyPr wrap="square" rtlCol="0">
            <a:spAutoFit/>
          </a:bodyPr>
          <a:lstStyle/>
          <a:p>
            <a:pPr algn="ctr"/>
            <a:r>
              <a:rPr lang="en-US" sz="1400" dirty="0" smtClean="0">
                <a:solidFill>
                  <a:schemeClr val="lt1"/>
                </a:solidFill>
              </a:rPr>
              <a:t>Enterprise Performance Solutions</a:t>
            </a:r>
            <a:endParaRPr lang="en-US" sz="1400" dirty="0">
              <a:solidFill>
                <a:schemeClr val="lt1"/>
              </a:solidFill>
            </a:endParaRPr>
          </a:p>
        </p:txBody>
      </p:sp>
      <p:cxnSp>
        <p:nvCxnSpPr>
          <p:cNvPr id="30" name="Straight Connector 29"/>
          <p:cNvCxnSpPr/>
          <p:nvPr/>
        </p:nvCxnSpPr>
        <p:spPr>
          <a:xfrm rot="5400000">
            <a:off x="3240621" y="3740804"/>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32" name="Straight Connector 31"/>
          <p:cNvCxnSpPr/>
          <p:nvPr/>
        </p:nvCxnSpPr>
        <p:spPr>
          <a:xfrm rot="5400000">
            <a:off x="4478871" y="3740804"/>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33" name="Straight Connector 32"/>
          <p:cNvCxnSpPr/>
          <p:nvPr/>
        </p:nvCxnSpPr>
        <p:spPr>
          <a:xfrm rot="5400000">
            <a:off x="5552021" y="3740804"/>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34" name="Straight Connector 33"/>
          <p:cNvCxnSpPr/>
          <p:nvPr/>
        </p:nvCxnSpPr>
        <p:spPr>
          <a:xfrm rot="5400000">
            <a:off x="6790271" y="3740804"/>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35" name="Straight Connector 34"/>
          <p:cNvCxnSpPr/>
          <p:nvPr/>
        </p:nvCxnSpPr>
        <p:spPr>
          <a:xfrm rot="5400000">
            <a:off x="7945971" y="3740804"/>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sp>
        <p:nvSpPr>
          <p:cNvPr id="36" name="TextBox 35"/>
          <p:cNvSpPr txBox="1"/>
          <p:nvPr/>
        </p:nvSpPr>
        <p:spPr>
          <a:xfrm>
            <a:off x="825500" y="3458428"/>
            <a:ext cx="1485270" cy="646331"/>
          </a:xfrm>
          <a:prstGeom prst="rect">
            <a:avLst/>
          </a:prstGeom>
          <a:noFill/>
        </p:spPr>
        <p:txBody>
          <a:bodyPr wrap="square" rtlCol="0">
            <a:spAutoFit/>
          </a:bodyPr>
          <a:lstStyle/>
          <a:p>
            <a:r>
              <a:rPr lang="en-US" sz="1200" dirty="0">
                <a:solidFill>
                  <a:schemeClr val="lt1"/>
                </a:solidFill>
              </a:rPr>
              <a:t>PERFORMANCE MANAGEMENT PLATFORM</a:t>
            </a:r>
          </a:p>
        </p:txBody>
      </p:sp>
      <p:sp>
        <p:nvSpPr>
          <p:cNvPr id="37" name="TextBox 36"/>
          <p:cNvSpPr txBox="1"/>
          <p:nvPr/>
        </p:nvSpPr>
        <p:spPr>
          <a:xfrm>
            <a:off x="825500" y="4360168"/>
            <a:ext cx="1485270" cy="461665"/>
          </a:xfrm>
          <a:prstGeom prst="rect">
            <a:avLst/>
          </a:prstGeom>
          <a:noFill/>
        </p:spPr>
        <p:txBody>
          <a:bodyPr wrap="square" rtlCol="0">
            <a:spAutoFit/>
          </a:bodyPr>
          <a:lstStyle/>
          <a:p>
            <a:r>
              <a:rPr lang="en-US" sz="1200" dirty="0" smtClean="0">
                <a:solidFill>
                  <a:schemeClr val="lt1"/>
                </a:solidFill>
              </a:rPr>
              <a:t>PLATFORM SERVICES</a:t>
            </a:r>
            <a:endParaRPr lang="en-US" sz="1200" dirty="0">
              <a:solidFill>
                <a:schemeClr val="lt1"/>
              </a:solidFill>
            </a:endParaRPr>
          </a:p>
        </p:txBody>
      </p:sp>
      <p:sp>
        <p:nvSpPr>
          <p:cNvPr id="38" name="Rectangle 37"/>
          <p:cNvSpPr/>
          <p:nvPr/>
        </p:nvSpPr>
        <p:spPr>
          <a:xfrm>
            <a:off x="2476500" y="4274863"/>
            <a:ext cx="6848744" cy="618059"/>
          </a:xfrm>
          <a:prstGeom prst="rect">
            <a:avLst/>
          </a:prstGeom>
          <a:solidFill>
            <a:schemeClr val="bg2">
              <a:lumMod val="60000"/>
              <a:lumOff val="40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cxnSp>
        <p:nvCxnSpPr>
          <p:cNvPr id="39" name="Straight Connector 38"/>
          <p:cNvCxnSpPr/>
          <p:nvPr/>
        </p:nvCxnSpPr>
        <p:spPr>
          <a:xfrm rot="5400000">
            <a:off x="3240621" y="4583892"/>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40" name="Straight Connector 39"/>
          <p:cNvCxnSpPr/>
          <p:nvPr/>
        </p:nvCxnSpPr>
        <p:spPr>
          <a:xfrm rot="5400000">
            <a:off x="4478871" y="4583892"/>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41" name="Straight Connector 40"/>
          <p:cNvCxnSpPr/>
          <p:nvPr/>
        </p:nvCxnSpPr>
        <p:spPr>
          <a:xfrm rot="5400000">
            <a:off x="5552021" y="4583892"/>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42" name="Straight Connector 41"/>
          <p:cNvCxnSpPr/>
          <p:nvPr/>
        </p:nvCxnSpPr>
        <p:spPr>
          <a:xfrm rot="5400000">
            <a:off x="6790271" y="4583892"/>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cxnSp>
        <p:nvCxnSpPr>
          <p:cNvPr id="43" name="Straight Connector 42"/>
          <p:cNvCxnSpPr/>
          <p:nvPr/>
        </p:nvCxnSpPr>
        <p:spPr>
          <a:xfrm rot="5400000">
            <a:off x="7945971" y="4583892"/>
            <a:ext cx="618059" cy="0"/>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sp>
        <p:nvSpPr>
          <p:cNvPr id="44" name="TextBox 43"/>
          <p:cNvSpPr txBox="1"/>
          <p:nvPr/>
        </p:nvSpPr>
        <p:spPr>
          <a:xfrm>
            <a:off x="2559050" y="4443539"/>
            <a:ext cx="907665" cy="246221"/>
          </a:xfrm>
          <a:prstGeom prst="rect">
            <a:avLst/>
          </a:prstGeom>
          <a:noFill/>
        </p:spPr>
        <p:txBody>
          <a:bodyPr wrap="square" rtlCol="0">
            <a:spAutoFit/>
          </a:bodyPr>
          <a:lstStyle/>
          <a:p>
            <a:pPr algn="ctr"/>
            <a:r>
              <a:rPr lang="en-US" sz="1000" dirty="0"/>
              <a:t>Portal</a:t>
            </a:r>
          </a:p>
        </p:txBody>
      </p:sp>
      <p:sp>
        <p:nvSpPr>
          <p:cNvPr id="45" name="TextBox 44"/>
          <p:cNvSpPr txBox="1"/>
          <p:nvPr/>
        </p:nvSpPr>
        <p:spPr>
          <a:xfrm>
            <a:off x="3714750" y="4443539"/>
            <a:ext cx="907665" cy="246221"/>
          </a:xfrm>
          <a:prstGeom prst="rect">
            <a:avLst/>
          </a:prstGeom>
          <a:noFill/>
        </p:spPr>
        <p:txBody>
          <a:bodyPr wrap="square" rtlCol="0">
            <a:spAutoFit/>
          </a:bodyPr>
          <a:lstStyle/>
          <a:p>
            <a:pPr algn="ctr"/>
            <a:r>
              <a:rPr lang="en-US" sz="1000" dirty="0"/>
              <a:t>Security</a:t>
            </a:r>
          </a:p>
        </p:txBody>
      </p:sp>
      <p:sp>
        <p:nvSpPr>
          <p:cNvPr id="46" name="TextBox 45"/>
          <p:cNvSpPr txBox="1"/>
          <p:nvPr/>
        </p:nvSpPr>
        <p:spPr>
          <a:xfrm>
            <a:off x="4787900" y="4443539"/>
            <a:ext cx="1072695" cy="246221"/>
          </a:xfrm>
          <a:prstGeom prst="rect">
            <a:avLst/>
          </a:prstGeom>
          <a:noFill/>
        </p:spPr>
        <p:txBody>
          <a:bodyPr wrap="square" rtlCol="0">
            <a:spAutoFit/>
          </a:bodyPr>
          <a:lstStyle/>
          <a:p>
            <a:pPr algn="ctr"/>
            <a:r>
              <a:rPr lang="en-US" sz="1000" dirty="0"/>
              <a:t>Configuration</a:t>
            </a:r>
          </a:p>
        </p:txBody>
      </p:sp>
      <p:sp>
        <p:nvSpPr>
          <p:cNvPr id="47" name="TextBox 46"/>
          <p:cNvSpPr txBox="1"/>
          <p:nvPr/>
        </p:nvSpPr>
        <p:spPr>
          <a:xfrm>
            <a:off x="5861050" y="4443539"/>
            <a:ext cx="1237725" cy="246221"/>
          </a:xfrm>
          <a:prstGeom prst="rect">
            <a:avLst/>
          </a:prstGeom>
          <a:noFill/>
        </p:spPr>
        <p:txBody>
          <a:bodyPr wrap="square" rtlCol="0">
            <a:spAutoFit/>
          </a:bodyPr>
          <a:lstStyle/>
          <a:p>
            <a:pPr algn="ctr"/>
            <a:r>
              <a:rPr lang="en-US" sz="1000" dirty="0"/>
              <a:t>Administration</a:t>
            </a:r>
          </a:p>
        </p:txBody>
      </p:sp>
      <p:sp>
        <p:nvSpPr>
          <p:cNvPr id="48" name="TextBox 47"/>
          <p:cNvSpPr txBox="1"/>
          <p:nvPr/>
        </p:nvSpPr>
        <p:spPr>
          <a:xfrm>
            <a:off x="7224776" y="4288160"/>
            <a:ext cx="907665" cy="553998"/>
          </a:xfrm>
          <a:prstGeom prst="rect">
            <a:avLst/>
          </a:prstGeom>
          <a:noFill/>
        </p:spPr>
        <p:txBody>
          <a:bodyPr wrap="square" rtlCol="0">
            <a:spAutoFit/>
          </a:bodyPr>
          <a:lstStyle/>
          <a:p>
            <a:pPr algn="ctr"/>
            <a:r>
              <a:rPr lang="en-US" sz="1000" dirty="0"/>
              <a:t>Information &amp; Business Modelling</a:t>
            </a:r>
          </a:p>
        </p:txBody>
      </p:sp>
      <p:sp>
        <p:nvSpPr>
          <p:cNvPr id="49" name="TextBox 48"/>
          <p:cNvSpPr txBox="1"/>
          <p:nvPr/>
        </p:nvSpPr>
        <p:spPr>
          <a:xfrm>
            <a:off x="8337550" y="4384958"/>
            <a:ext cx="907665" cy="400110"/>
          </a:xfrm>
          <a:prstGeom prst="rect">
            <a:avLst/>
          </a:prstGeom>
          <a:noFill/>
        </p:spPr>
        <p:txBody>
          <a:bodyPr wrap="square" rtlCol="0">
            <a:spAutoFit/>
          </a:bodyPr>
          <a:lstStyle/>
          <a:p>
            <a:pPr algn="ctr"/>
            <a:r>
              <a:rPr lang="en-US" sz="1000" dirty="0"/>
              <a:t>Data Integration</a:t>
            </a:r>
          </a:p>
        </p:txBody>
      </p:sp>
      <p:sp>
        <p:nvSpPr>
          <p:cNvPr id="50" name="TextBox 49"/>
          <p:cNvSpPr txBox="1"/>
          <p:nvPr/>
        </p:nvSpPr>
        <p:spPr>
          <a:xfrm>
            <a:off x="2519426" y="3544105"/>
            <a:ext cx="990180" cy="400110"/>
          </a:xfrm>
          <a:prstGeom prst="rect">
            <a:avLst/>
          </a:prstGeom>
          <a:noFill/>
        </p:spPr>
        <p:txBody>
          <a:bodyPr wrap="square" rtlCol="0">
            <a:spAutoFit/>
          </a:bodyPr>
          <a:lstStyle/>
          <a:p>
            <a:pPr algn="ctr"/>
            <a:r>
              <a:rPr lang="en-US" sz="1000" dirty="0" smtClean="0"/>
              <a:t>Metrics Management</a:t>
            </a:r>
            <a:endParaRPr lang="en-US" sz="1000" dirty="0"/>
          </a:p>
        </p:txBody>
      </p:sp>
      <p:sp>
        <p:nvSpPr>
          <p:cNvPr id="51" name="TextBox 50"/>
          <p:cNvSpPr txBox="1"/>
          <p:nvPr/>
        </p:nvSpPr>
        <p:spPr>
          <a:xfrm>
            <a:off x="3632200" y="3620306"/>
            <a:ext cx="1072695" cy="246221"/>
          </a:xfrm>
          <a:prstGeom prst="rect">
            <a:avLst/>
          </a:prstGeom>
          <a:noFill/>
        </p:spPr>
        <p:txBody>
          <a:bodyPr wrap="square" rtlCol="0">
            <a:spAutoFit/>
          </a:bodyPr>
          <a:lstStyle/>
          <a:p>
            <a:pPr algn="ctr"/>
            <a:r>
              <a:rPr lang="en-US" sz="1000" dirty="0" smtClean="0"/>
              <a:t>Dashboarding</a:t>
            </a:r>
            <a:endParaRPr lang="en-US" sz="1000" dirty="0"/>
          </a:p>
        </p:txBody>
      </p:sp>
      <p:sp>
        <p:nvSpPr>
          <p:cNvPr id="52" name="TextBox 51"/>
          <p:cNvSpPr txBox="1"/>
          <p:nvPr/>
        </p:nvSpPr>
        <p:spPr>
          <a:xfrm>
            <a:off x="4870450" y="3544105"/>
            <a:ext cx="907665" cy="400110"/>
          </a:xfrm>
          <a:prstGeom prst="rect">
            <a:avLst/>
          </a:prstGeom>
          <a:noFill/>
        </p:spPr>
        <p:txBody>
          <a:bodyPr wrap="square" rtlCol="0">
            <a:spAutoFit/>
          </a:bodyPr>
          <a:lstStyle/>
          <a:p>
            <a:pPr algn="ctr"/>
            <a:r>
              <a:rPr lang="en-US" sz="1000" dirty="0" smtClean="0"/>
              <a:t>Query &amp; Reporting</a:t>
            </a:r>
            <a:endParaRPr lang="en-US" sz="1000" dirty="0"/>
          </a:p>
        </p:txBody>
      </p:sp>
      <p:sp>
        <p:nvSpPr>
          <p:cNvPr id="53" name="TextBox 52"/>
          <p:cNvSpPr txBox="1"/>
          <p:nvPr/>
        </p:nvSpPr>
        <p:spPr>
          <a:xfrm>
            <a:off x="6026150" y="3620306"/>
            <a:ext cx="907665" cy="246221"/>
          </a:xfrm>
          <a:prstGeom prst="rect">
            <a:avLst/>
          </a:prstGeom>
          <a:noFill/>
        </p:spPr>
        <p:txBody>
          <a:bodyPr wrap="square" rtlCol="0">
            <a:spAutoFit/>
          </a:bodyPr>
          <a:lstStyle/>
          <a:p>
            <a:pPr algn="ctr"/>
            <a:r>
              <a:rPr lang="en-US" sz="1000" dirty="0" smtClean="0"/>
              <a:t>Analysis</a:t>
            </a:r>
            <a:endParaRPr lang="en-US" sz="1000" dirty="0"/>
          </a:p>
        </p:txBody>
      </p:sp>
      <p:sp>
        <p:nvSpPr>
          <p:cNvPr id="54" name="TextBox 53"/>
          <p:cNvSpPr txBox="1"/>
          <p:nvPr/>
        </p:nvSpPr>
        <p:spPr>
          <a:xfrm>
            <a:off x="7175246" y="3544105"/>
            <a:ext cx="990180" cy="400110"/>
          </a:xfrm>
          <a:prstGeom prst="rect">
            <a:avLst/>
          </a:prstGeom>
          <a:noFill/>
        </p:spPr>
        <p:txBody>
          <a:bodyPr wrap="square" rtlCol="0">
            <a:spAutoFit/>
          </a:bodyPr>
          <a:lstStyle/>
          <a:p>
            <a:pPr algn="ctr"/>
            <a:r>
              <a:rPr lang="en-US" sz="1000" dirty="0" smtClean="0"/>
              <a:t>Event Management</a:t>
            </a:r>
            <a:endParaRPr lang="en-US" sz="1000" dirty="0"/>
          </a:p>
        </p:txBody>
      </p:sp>
      <p:sp>
        <p:nvSpPr>
          <p:cNvPr id="55" name="TextBox 54"/>
          <p:cNvSpPr txBox="1"/>
          <p:nvPr/>
        </p:nvSpPr>
        <p:spPr>
          <a:xfrm>
            <a:off x="8337550" y="3620306"/>
            <a:ext cx="907665" cy="246221"/>
          </a:xfrm>
          <a:prstGeom prst="rect">
            <a:avLst/>
          </a:prstGeom>
          <a:noFill/>
        </p:spPr>
        <p:txBody>
          <a:bodyPr wrap="square" rtlCol="0">
            <a:spAutoFit/>
          </a:bodyPr>
          <a:lstStyle/>
          <a:p>
            <a:pPr algn="ctr"/>
            <a:r>
              <a:rPr lang="en-US" sz="1000" dirty="0" smtClean="0"/>
              <a:t>Planning</a:t>
            </a:r>
            <a:endParaRPr lang="en-US" sz="1000" dirty="0"/>
          </a:p>
        </p:txBody>
      </p:sp>
      <p:sp>
        <p:nvSpPr>
          <p:cNvPr id="56" name="TextBox 55"/>
          <p:cNvSpPr txBox="1"/>
          <p:nvPr/>
        </p:nvSpPr>
        <p:spPr>
          <a:xfrm>
            <a:off x="836651" y="5811479"/>
            <a:ext cx="1568450" cy="461665"/>
          </a:xfrm>
          <a:prstGeom prst="rect">
            <a:avLst/>
          </a:prstGeom>
          <a:noFill/>
        </p:spPr>
        <p:txBody>
          <a:bodyPr wrap="square" rtlCol="0">
            <a:spAutoFit/>
          </a:bodyPr>
          <a:lstStyle/>
          <a:p>
            <a:pPr algn="ctr"/>
            <a:r>
              <a:rPr lang="en-US" sz="1200" dirty="0" smtClean="0">
                <a:solidFill>
                  <a:schemeClr val="lt1"/>
                </a:solidFill>
              </a:rPr>
              <a:t>Operational or Star Schema</a:t>
            </a:r>
            <a:endParaRPr lang="en-US" sz="1200" dirty="0">
              <a:solidFill>
                <a:schemeClr val="lt1"/>
              </a:solidFill>
            </a:endParaRPr>
          </a:p>
        </p:txBody>
      </p:sp>
      <p:sp>
        <p:nvSpPr>
          <p:cNvPr id="57" name="TextBox 56"/>
          <p:cNvSpPr txBox="1"/>
          <p:nvPr/>
        </p:nvSpPr>
        <p:spPr>
          <a:xfrm>
            <a:off x="3136900" y="5835080"/>
            <a:ext cx="1568450" cy="276999"/>
          </a:xfrm>
          <a:prstGeom prst="rect">
            <a:avLst/>
          </a:prstGeom>
          <a:noFill/>
        </p:spPr>
        <p:txBody>
          <a:bodyPr wrap="square" rtlCol="0">
            <a:spAutoFit/>
          </a:bodyPr>
          <a:lstStyle/>
          <a:p>
            <a:pPr algn="ctr"/>
            <a:r>
              <a:rPr lang="en-US" sz="1200" dirty="0" smtClean="0">
                <a:solidFill>
                  <a:schemeClr val="lt1"/>
                </a:solidFill>
              </a:rPr>
              <a:t>OLAP</a:t>
            </a:r>
            <a:endParaRPr lang="en-US" sz="1200" dirty="0">
              <a:solidFill>
                <a:schemeClr val="lt1"/>
              </a:solidFill>
            </a:endParaRPr>
          </a:p>
        </p:txBody>
      </p:sp>
      <p:sp>
        <p:nvSpPr>
          <p:cNvPr id="58" name="TextBox 57"/>
          <p:cNvSpPr txBox="1"/>
          <p:nvPr/>
        </p:nvSpPr>
        <p:spPr>
          <a:xfrm>
            <a:off x="5448300" y="5806460"/>
            <a:ext cx="1568450" cy="461665"/>
          </a:xfrm>
          <a:prstGeom prst="rect">
            <a:avLst/>
          </a:prstGeom>
          <a:noFill/>
        </p:spPr>
        <p:txBody>
          <a:bodyPr wrap="square" rtlCol="0">
            <a:spAutoFit/>
          </a:bodyPr>
          <a:lstStyle/>
          <a:p>
            <a:pPr algn="ctr"/>
            <a:r>
              <a:rPr lang="en-US" sz="1200" dirty="0" smtClean="0">
                <a:solidFill>
                  <a:schemeClr val="lt1"/>
                </a:solidFill>
              </a:rPr>
              <a:t>Enterprise Applications</a:t>
            </a:r>
            <a:endParaRPr lang="en-US" sz="1200" dirty="0">
              <a:solidFill>
                <a:schemeClr val="lt1"/>
              </a:solidFill>
            </a:endParaRPr>
          </a:p>
        </p:txBody>
      </p:sp>
      <p:sp>
        <p:nvSpPr>
          <p:cNvPr id="59" name="TextBox 58"/>
          <p:cNvSpPr txBox="1"/>
          <p:nvPr/>
        </p:nvSpPr>
        <p:spPr>
          <a:xfrm>
            <a:off x="7677150" y="5806460"/>
            <a:ext cx="1568450" cy="461665"/>
          </a:xfrm>
          <a:prstGeom prst="rect">
            <a:avLst/>
          </a:prstGeom>
          <a:noFill/>
        </p:spPr>
        <p:txBody>
          <a:bodyPr wrap="square" rtlCol="0">
            <a:spAutoFit/>
          </a:bodyPr>
          <a:lstStyle/>
          <a:p>
            <a:pPr algn="ctr"/>
            <a:r>
              <a:rPr lang="en-US" sz="1200" dirty="0" smtClean="0">
                <a:solidFill>
                  <a:schemeClr val="lt1"/>
                </a:solidFill>
              </a:rPr>
              <a:t>Flat, Modern  and Legacy</a:t>
            </a:r>
            <a:endParaRPr lang="en-US" sz="1200" dirty="0">
              <a:solidFill>
                <a:schemeClr val="lt1"/>
              </a:solidFill>
            </a:endParaRPr>
          </a:p>
        </p:txBody>
      </p:sp>
      <p:cxnSp>
        <p:nvCxnSpPr>
          <p:cNvPr id="71" name="Straight Connector 70"/>
          <p:cNvCxnSpPr/>
          <p:nvPr/>
        </p:nvCxnSpPr>
        <p:spPr>
          <a:xfrm rot="5400000">
            <a:off x="-1887760" y="3568080"/>
            <a:ext cx="4464496" cy="0"/>
          </a:xfrm>
          <a:prstGeom prst="line">
            <a:avLst/>
          </a:prstGeom>
          <a:ln/>
        </p:spPr>
        <p:style>
          <a:lnRef idx="3">
            <a:schemeClr val="dk1"/>
          </a:lnRef>
          <a:fillRef idx="0">
            <a:schemeClr val="dk1"/>
          </a:fillRef>
          <a:effectRef idx="2">
            <a:schemeClr val="dk1"/>
          </a:effectRef>
          <a:fontRef idx="minor">
            <a:schemeClr val="tx1"/>
          </a:fontRef>
        </p:style>
      </p:cxnSp>
      <p:cxnSp>
        <p:nvCxnSpPr>
          <p:cNvPr id="75" name="Straight Connector 74"/>
          <p:cNvCxnSpPr/>
          <p:nvPr/>
        </p:nvCxnSpPr>
        <p:spPr>
          <a:xfrm>
            <a:off x="330200" y="1308008"/>
            <a:ext cx="330200" cy="0"/>
          </a:xfrm>
          <a:prstGeom prst="line">
            <a:avLst/>
          </a:prstGeom>
          <a:ln/>
        </p:spPr>
        <p:style>
          <a:lnRef idx="3">
            <a:schemeClr val="dk1"/>
          </a:lnRef>
          <a:fillRef idx="0">
            <a:schemeClr val="dk1"/>
          </a:fillRef>
          <a:effectRef idx="2">
            <a:schemeClr val="dk1"/>
          </a:effectRef>
          <a:fontRef idx="minor">
            <a:schemeClr val="tx1"/>
          </a:fontRef>
        </p:style>
      </p:cxnSp>
      <p:cxnSp>
        <p:nvCxnSpPr>
          <p:cNvPr id="83" name="Straight Connector 82"/>
          <p:cNvCxnSpPr/>
          <p:nvPr/>
        </p:nvCxnSpPr>
        <p:spPr>
          <a:xfrm>
            <a:off x="330200" y="1899320"/>
            <a:ext cx="330200" cy="0"/>
          </a:xfrm>
          <a:prstGeom prst="line">
            <a:avLst/>
          </a:prstGeom>
          <a:ln/>
        </p:spPr>
        <p:style>
          <a:lnRef idx="3">
            <a:schemeClr val="dk1"/>
          </a:lnRef>
          <a:fillRef idx="0">
            <a:schemeClr val="dk1"/>
          </a:fillRef>
          <a:effectRef idx="2">
            <a:schemeClr val="dk1"/>
          </a:effectRef>
          <a:fontRef idx="minor">
            <a:schemeClr val="tx1"/>
          </a:fontRef>
        </p:style>
      </p:cxnSp>
      <p:cxnSp>
        <p:nvCxnSpPr>
          <p:cNvPr id="86" name="Straight Connector 85"/>
          <p:cNvCxnSpPr/>
          <p:nvPr/>
        </p:nvCxnSpPr>
        <p:spPr>
          <a:xfrm>
            <a:off x="330200" y="3949080"/>
            <a:ext cx="330200" cy="0"/>
          </a:xfrm>
          <a:prstGeom prst="line">
            <a:avLst/>
          </a:prstGeom>
          <a:ln/>
        </p:spPr>
        <p:style>
          <a:lnRef idx="3">
            <a:schemeClr val="dk1"/>
          </a:lnRef>
          <a:fillRef idx="0">
            <a:schemeClr val="dk1"/>
          </a:fillRef>
          <a:effectRef idx="2">
            <a:schemeClr val="dk1"/>
          </a:effectRef>
          <a:fontRef idx="minor">
            <a:schemeClr val="tx1"/>
          </a:fontRef>
        </p:style>
      </p:cxnSp>
      <p:cxnSp>
        <p:nvCxnSpPr>
          <p:cNvPr id="87" name="Straight Connector 86"/>
          <p:cNvCxnSpPr/>
          <p:nvPr/>
        </p:nvCxnSpPr>
        <p:spPr>
          <a:xfrm>
            <a:off x="330200" y="4939680"/>
            <a:ext cx="330200" cy="0"/>
          </a:xfrm>
          <a:prstGeom prst="line">
            <a:avLst/>
          </a:prstGeom>
          <a:ln/>
        </p:spPr>
        <p:style>
          <a:lnRef idx="3">
            <a:schemeClr val="dk1"/>
          </a:lnRef>
          <a:fillRef idx="0">
            <a:schemeClr val="dk1"/>
          </a:fillRef>
          <a:effectRef idx="2">
            <a:schemeClr val="dk1"/>
          </a:effectRef>
          <a:fontRef idx="minor">
            <a:schemeClr val="tx1"/>
          </a:fontRef>
        </p:style>
      </p:cxnSp>
      <p:cxnSp>
        <p:nvCxnSpPr>
          <p:cNvPr id="88" name="Straight Connector 87"/>
          <p:cNvCxnSpPr/>
          <p:nvPr/>
        </p:nvCxnSpPr>
        <p:spPr>
          <a:xfrm>
            <a:off x="330200" y="5784158"/>
            <a:ext cx="330200" cy="0"/>
          </a:xfrm>
          <a:prstGeom prst="line">
            <a:avLst/>
          </a:prstGeom>
          <a:ln/>
        </p:spPr>
        <p:style>
          <a:lnRef idx="3">
            <a:schemeClr val="dk1"/>
          </a:lnRef>
          <a:fillRef idx="0">
            <a:schemeClr val="dk1"/>
          </a:fillRef>
          <a:effectRef idx="2">
            <a:schemeClr val="dk1"/>
          </a:effectRef>
          <a:fontRef idx="minor">
            <a:schemeClr val="tx1"/>
          </a:fontRef>
        </p:style>
      </p:cxnSp>
      <p:sp>
        <p:nvSpPr>
          <p:cNvPr id="89" name="Oval 88"/>
          <p:cNvSpPr/>
          <p:nvPr/>
        </p:nvSpPr>
        <p:spPr>
          <a:xfrm>
            <a:off x="2559050" y="2306216"/>
            <a:ext cx="1816100" cy="685800"/>
          </a:xfrm>
          <a:prstGeom prst="ellipse">
            <a:avLst/>
          </a:prstGeom>
          <a:solidFill>
            <a:schemeClr val="bg2">
              <a:lumMod val="40000"/>
              <a:lumOff val="60000"/>
            </a:schemeClr>
          </a:solidFill>
          <a:ln>
            <a:solidFill>
              <a:schemeClr val="accent1">
                <a:lumMod val="20000"/>
                <a:lumOff val="8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smtClean="0"/>
              <a:t>How are we doing ?</a:t>
            </a:r>
            <a:endParaRPr lang="en-US" sz="1200" dirty="0"/>
          </a:p>
        </p:txBody>
      </p:sp>
      <p:sp>
        <p:nvSpPr>
          <p:cNvPr id="90" name="Oval 89"/>
          <p:cNvSpPr/>
          <p:nvPr/>
        </p:nvSpPr>
        <p:spPr>
          <a:xfrm>
            <a:off x="5035550" y="2306216"/>
            <a:ext cx="1816100" cy="685800"/>
          </a:xfrm>
          <a:prstGeom prst="ellipse">
            <a:avLst/>
          </a:prstGeom>
          <a:solidFill>
            <a:schemeClr val="bg2">
              <a:lumMod val="40000"/>
              <a:lumOff val="60000"/>
            </a:schemeClr>
          </a:solidFill>
          <a:ln>
            <a:solidFill>
              <a:schemeClr val="accent1">
                <a:lumMod val="20000"/>
                <a:lumOff val="8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smtClean="0"/>
              <a:t>Why are </a:t>
            </a:r>
            <a:r>
              <a:rPr lang="en-US" sz="1200" dirty="0"/>
              <a:t>we doing </a:t>
            </a:r>
            <a:r>
              <a:rPr lang="en-US" sz="1200" dirty="0" smtClean="0"/>
              <a:t>it?</a:t>
            </a:r>
            <a:endParaRPr lang="en-US" sz="1200" dirty="0"/>
          </a:p>
        </p:txBody>
      </p:sp>
      <p:sp>
        <p:nvSpPr>
          <p:cNvPr id="91" name="Oval 90"/>
          <p:cNvSpPr/>
          <p:nvPr/>
        </p:nvSpPr>
        <p:spPr>
          <a:xfrm>
            <a:off x="7759700" y="2306216"/>
            <a:ext cx="1816100" cy="685800"/>
          </a:xfrm>
          <a:prstGeom prst="ellipse">
            <a:avLst/>
          </a:prstGeom>
          <a:solidFill>
            <a:schemeClr val="bg2">
              <a:lumMod val="40000"/>
              <a:lumOff val="60000"/>
            </a:schemeClr>
          </a:solidFill>
          <a:ln>
            <a:solidFill>
              <a:schemeClr val="accent1">
                <a:lumMod val="20000"/>
                <a:lumOff val="8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a:t>What should we be </a:t>
            </a:r>
            <a:r>
              <a:rPr lang="en-US" sz="1200" dirty="0" smtClean="0"/>
              <a:t>doing ?</a:t>
            </a:r>
            <a:endParaRPr lang="en-US" sz="1200" dirty="0"/>
          </a:p>
        </p:txBody>
      </p:sp>
      <p:cxnSp>
        <p:nvCxnSpPr>
          <p:cNvPr id="61" name="Straight Connector 60"/>
          <p:cNvCxnSpPr>
            <a:endCxn id="89" idx="3"/>
          </p:cNvCxnSpPr>
          <p:nvPr/>
        </p:nvCxnSpPr>
        <p:spPr>
          <a:xfrm rot="5400000" flipH="1" flipV="1">
            <a:off x="2398631" y="2997683"/>
            <a:ext cx="532481" cy="320282"/>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cxnSp>
        <p:nvCxnSpPr>
          <p:cNvPr id="65" name="Straight Connector 64"/>
          <p:cNvCxnSpPr>
            <a:endCxn id="89" idx="5"/>
          </p:cNvCxnSpPr>
          <p:nvPr/>
        </p:nvCxnSpPr>
        <p:spPr>
          <a:xfrm rot="10800000">
            <a:off x="4109188" y="2891584"/>
            <a:ext cx="699796" cy="532481"/>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cxnSp>
        <p:nvCxnSpPr>
          <p:cNvPr id="68" name="Straight Connector 67"/>
          <p:cNvCxnSpPr>
            <a:endCxn id="90" idx="3"/>
          </p:cNvCxnSpPr>
          <p:nvPr/>
        </p:nvCxnSpPr>
        <p:spPr>
          <a:xfrm flipV="1">
            <a:off x="3584848" y="2891583"/>
            <a:ext cx="1716664" cy="532481"/>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cxnSp>
        <p:nvCxnSpPr>
          <p:cNvPr id="72" name="Straight Connector 71"/>
          <p:cNvCxnSpPr>
            <a:endCxn id="90" idx="5"/>
          </p:cNvCxnSpPr>
          <p:nvPr/>
        </p:nvCxnSpPr>
        <p:spPr>
          <a:xfrm rot="10800000">
            <a:off x="6585688" y="2891584"/>
            <a:ext cx="1607672" cy="532481"/>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cxnSp>
        <p:nvCxnSpPr>
          <p:cNvPr id="76" name="Straight Connector 75"/>
          <p:cNvCxnSpPr/>
          <p:nvPr/>
        </p:nvCxnSpPr>
        <p:spPr>
          <a:xfrm rot="5400000" flipH="1" flipV="1">
            <a:off x="8122456" y="3124560"/>
            <a:ext cx="347464" cy="82376"/>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cxnSp>
        <p:nvCxnSpPr>
          <p:cNvPr id="79" name="Straight Connector 78"/>
          <p:cNvCxnSpPr/>
          <p:nvPr/>
        </p:nvCxnSpPr>
        <p:spPr>
          <a:xfrm rot="16200000" flipV="1">
            <a:off x="9016977" y="3104503"/>
            <a:ext cx="495676" cy="126686"/>
          </a:xfrm>
          <a:prstGeom prst="line">
            <a:avLst/>
          </a:prstGeom>
          <a:ln>
            <a:solidFill>
              <a:schemeClr val="bg2"/>
            </a:solidFill>
            <a:prstDash val="dash"/>
          </a:ln>
        </p:spPr>
        <p:style>
          <a:lnRef idx="2">
            <a:schemeClr val="accent3"/>
          </a:lnRef>
          <a:fillRef idx="0">
            <a:schemeClr val="accent3"/>
          </a:fillRef>
          <a:effectRef idx="1">
            <a:schemeClr val="accent3"/>
          </a:effectRef>
          <a:fontRef idx="minor">
            <a:schemeClr val="tx1"/>
          </a:fontRef>
        </p:style>
      </p:cxnSp>
      <p:sp>
        <p:nvSpPr>
          <p:cNvPr id="108" name="Text Box 1"/>
          <p:cNvSpPr txBox="1">
            <a:spLocks noChangeArrowheads="1"/>
          </p:cNvSpPr>
          <p:nvPr/>
        </p:nvSpPr>
        <p:spPr bwMode="auto">
          <a:xfrm>
            <a:off x="0" y="0"/>
            <a:ext cx="9902952" cy="914400"/>
          </a:xfrm>
          <a:prstGeom prst="rect">
            <a:avLst/>
          </a:prstGeom>
          <a:noFill/>
          <a:ln w="9525">
            <a:noFill/>
            <a:round/>
            <a:headEnd/>
            <a:tailEnd/>
          </a:ln>
        </p:spPr>
        <p:txBody>
          <a:bodyPr lIns="457200" tIns="0" rIns="0" bIns="0" anchor="ct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Corporate Performance Management System</a:t>
            </a:r>
          </a:p>
        </p:txBody>
      </p:sp>
    </p:spTree>
  </p:cSld>
  <p:clrMapOvr>
    <a:masterClrMapping/>
  </p:clrMapOvr>
  <p:transition advClick="0">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entagon 8"/>
          <p:cNvSpPr/>
          <p:nvPr/>
        </p:nvSpPr>
        <p:spPr>
          <a:xfrm>
            <a:off x="635000" y="21844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Better Decision Making</a:t>
            </a:r>
          </a:p>
        </p:txBody>
      </p:sp>
      <p:sp>
        <p:nvSpPr>
          <p:cNvPr id="10" name="Pentagon 9"/>
          <p:cNvSpPr/>
          <p:nvPr/>
        </p:nvSpPr>
        <p:spPr>
          <a:xfrm>
            <a:off x="635000" y="31115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Efficient Management</a:t>
            </a:r>
          </a:p>
        </p:txBody>
      </p:sp>
      <p:sp>
        <p:nvSpPr>
          <p:cNvPr id="11" name="Pentagon 10"/>
          <p:cNvSpPr/>
          <p:nvPr/>
        </p:nvSpPr>
        <p:spPr>
          <a:xfrm>
            <a:off x="635000" y="41148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cs typeface="Times New Roman" pitchFamily="18" charset="0"/>
              </a:rPr>
              <a:t>Quality Data</a:t>
            </a:r>
          </a:p>
        </p:txBody>
      </p:sp>
      <p:sp>
        <p:nvSpPr>
          <p:cNvPr id="12" name="Pentagon 11"/>
          <p:cNvSpPr/>
          <p:nvPr/>
        </p:nvSpPr>
        <p:spPr>
          <a:xfrm>
            <a:off x="635000" y="5016500"/>
            <a:ext cx="2743200" cy="457200"/>
          </a:xfrm>
          <a:prstGeom prst="homePlate">
            <a:avLst/>
          </a:prstGeom>
          <a:effectLst>
            <a:outerShdw blurRad="40000" dist="20000" dir="5400000" rotWithShape="0">
              <a:srgbClr val="000000">
                <a:alpha val="38000"/>
              </a:srgbClr>
            </a:outerShdw>
            <a:softEdge rad="31750"/>
          </a:effectLst>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cs typeface="Times New Roman" pitchFamily="18" charset="0"/>
              </a:rPr>
              <a:t>Software Element Support</a:t>
            </a:r>
            <a:endParaRPr lang="en-US" sz="1600" dirty="0">
              <a:cs typeface="Times New Roman" pitchFamily="18" charset="0"/>
            </a:endParaRPr>
          </a:p>
        </p:txBody>
      </p:sp>
      <p:sp>
        <p:nvSpPr>
          <p:cNvPr id="16" name="Round Same Side Corner Rectangle 4"/>
          <p:cNvSpPr/>
          <p:nvPr/>
        </p:nvSpPr>
        <p:spPr>
          <a:xfrm>
            <a:off x="3632201" y="31012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Provides historical, current and future business operations data that enable to manage businesses efficiently.</a:t>
            </a:r>
            <a:endParaRPr lang="en-US" sz="1200" kern="1200" dirty="0">
              <a:cs typeface="Times New Roman" pitchFamily="18" charset="0"/>
            </a:endParaRPr>
          </a:p>
        </p:txBody>
      </p:sp>
      <p:sp>
        <p:nvSpPr>
          <p:cNvPr id="19" name="Round Same Side Corner Rectangle 4"/>
          <p:cNvSpPr/>
          <p:nvPr/>
        </p:nvSpPr>
        <p:spPr>
          <a:xfrm>
            <a:off x="3632201" y="21868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Reporting and Analysis of BI data enables businesses to make better and efficient decisions.</a:t>
            </a:r>
            <a:endParaRPr lang="en-US" sz="1200" kern="1200" dirty="0">
              <a:cs typeface="Times New Roman" pitchFamily="18" charset="0"/>
            </a:endParaRPr>
          </a:p>
        </p:txBody>
      </p:sp>
      <p:sp>
        <p:nvSpPr>
          <p:cNvPr id="29" name="Round Same Side Corner Rectangle 4"/>
          <p:cNvSpPr/>
          <p:nvPr/>
        </p:nvSpPr>
        <p:spPr>
          <a:xfrm>
            <a:off x="3632201" y="5007054"/>
            <a:ext cx="5486400" cy="457200"/>
          </a:xfrm>
          <a:prstGeom prst="rect">
            <a:avLst/>
          </a:prstGeom>
          <a:effectLst>
            <a:outerShdw blurRad="50800" dist="38100" dir="2700000" algn="tl" rotWithShape="0">
              <a:prstClr val="black">
                <a:alpha val="40000"/>
              </a:prstClr>
            </a:outerShdw>
          </a:effectLst>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chemeClr val="tx1"/>
                </a:solidFill>
                <a:cs typeface="Times New Roman" pitchFamily="18" charset="0"/>
              </a:rPr>
              <a:t>Software elements support the use of this information by assisting in the extraction, analysis, and reporting of information.</a:t>
            </a:r>
            <a:endParaRPr lang="en-US" sz="1200" kern="1200" dirty="0">
              <a:solidFill>
                <a:schemeClr val="tx1"/>
              </a:solidFill>
              <a:cs typeface="Times New Roman" pitchFamily="18" charset="0"/>
            </a:endParaRPr>
          </a:p>
        </p:txBody>
      </p:sp>
      <p:sp>
        <p:nvSpPr>
          <p:cNvPr id="32" name="Round Same Side Corner Rectangle 4"/>
          <p:cNvSpPr/>
          <p:nvPr/>
        </p:nvSpPr>
        <p:spPr>
          <a:xfrm>
            <a:off x="3632201" y="4091802"/>
            <a:ext cx="5486400" cy="457200"/>
          </a:xfrm>
          <a:prstGeom prst="rect">
            <a:avLst/>
          </a:prstGeom>
          <a:scene3d>
            <a:camera prst="orthographicFront"/>
            <a:lightRig rig="flat" dir="t"/>
          </a:scene3d>
        </p:spPr>
        <p:style>
          <a:lnRef idx="1">
            <a:schemeClr val="dk1"/>
          </a:lnRef>
          <a:fillRef idx="2">
            <a:schemeClr val="dk1"/>
          </a:fillRef>
          <a:effectRef idx="1">
            <a:schemeClr val="dk1"/>
          </a:effectRef>
          <a:fontRef idx="minor">
            <a:schemeClr val="dk1"/>
          </a:fontRef>
        </p:style>
        <p:txBody>
          <a:bodyPr spcFirstLastPara="0" vert="horz" wrap="square" lIns="182880" tIns="91440" rIns="182880" bIns="91440" numCol="1" spcCol="1270" anchor="ctr" anchorCtr="0">
            <a:noAutofit/>
          </a:bodyPr>
          <a:lstStyle/>
          <a:p>
            <a:pPr marL="0" lvl="1" defTabSz="488950">
              <a:spcBef>
                <a:spcPct val="0"/>
              </a:spcBef>
            </a:pPr>
            <a:r>
              <a:rPr lang="en-US" sz="1200" dirty="0" smtClean="0">
                <a:solidFill>
                  <a:srgbClr val="000000"/>
                </a:solidFill>
                <a:cs typeface="Times New Roman" pitchFamily="18" charset="0"/>
              </a:rPr>
              <a:t>BI applications use data stored in a data warehouse or data mart..</a:t>
            </a:r>
            <a:endParaRPr lang="en-US" sz="1200" kern="1200" dirty="0">
              <a:cs typeface="Times New Roman" pitchFamily="18" charset="0"/>
            </a:endParaRPr>
          </a:p>
        </p:txBody>
      </p:sp>
      <p:sp>
        <p:nvSpPr>
          <p:cNvPr id="33" name="Text Box 1"/>
          <p:cNvSpPr txBox="1">
            <a:spLocks noChangeArrowheads="1"/>
          </p:cNvSpPr>
          <p:nvPr/>
        </p:nvSpPr>
        <p:spPr bwMode="auto">
          <a:xfrm>
            <a:off x="-2852" y="0"/>
            <a:ext cx="9902952" cy="914400"/>
          </a:xfrm>
          <a:prstGeom prst="rect">
            <a:avLst/>
          </a:prstGeom>
          <a:noFill/>
          <a:ln w="9525">
            <a:noFill/>
            <a:round/>
            <a:headEnd/>
            <a:tailEnd/>
          </a:ln>
        </p:spPr>
        <p:txBody>
          <a:bodyPr lIns="457200" tIns="0" rIns="0" bIns="0" anchor="ctr"/>
          <a:lstStyle/>
          <a:p>
            <a:pPr eaLnBrk="1" hangingPunct="1">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dirty="0">
                <a:latin typeface="Arial Narrow" pitchFamily="34" charset="0"/>
              </a:rPr>
              <a:t>Business </a:t>
            </a:r>
            <a:r>
              <a:rPr lang="en-US" sz="2800" dirty="0" smtClean="0">
                <a:latin typeface="Arial Narrow" pitchFamily="34" charset="0"/>
              </a:rPr>
              <a:t>Intelligence</a:t>
            </a:r>
            <a:endParaRPr lang="en-US" sz="2800" dirty="0">
              <a:latin typeface="Arial Narrow" pitchFamily="34" charset="0"/>
            </a:endParaRPr>
          </a:p>
        </p:txBody>
      </p:sp>
      <p:sp>
        <p:nvSpPr>
          <p:cNvPr id="20" name="Rectangle 19"/>
          <p:cNvSpPr/>
          <p:nvPr/>
        </p:nvSpPr>
        <p:spPr>
          <a:xfrm>
            <a:off x="378396" y="1137920"/>
            <a:ext cx="9144000" cy="640080"/>
          </a:xfrm>
          <a:prstGeom prst="rect">
            <a:avLst/>
          </a:prstGeom>
        </p:spPr>
        <p:txBody>
          <a:bodyPr wrap="square">
            <a:spAutoFit/>
          </a:bodyPr>
          <a:lstStyle/>
          <a:p>
            <a:pPr marL="274320" indent="-274320" fontAlgn="base">
              <a:spcBef>
                <a:spcPts val="1800"/>
              </a:spcBef>
              <a:spcAft>
                <a:spcPts val="6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a:solidFill>
                  <a:srgbClr val="000000"/>
                </a:solidFill>
                <a:cs typeface="Times New Roman" pitchFamily="18" charset="0"/>
              </a:rPr>
              <a:t>Business Intelligence (BI) applications enable businesses to gather, store, analyze, integrate, and present business data. </a:t>
            </a:r>
          </a:p>
        </p:txBody>
      </p:sp>
    </p:spTree>
  </p:cSld>
  <p:clrMapOvr>
    <a:masterClrMapping/>
  </p:clrMapOvr>
  <p:transition advClick="0">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ChangeArrowheads="1"/>
          </p:cNvSpPr>
          <p:nvPr>
            <p:ph type="title" idx="4294967295"/>
          </p:nvPr>
        </p:nvSpPr>
        <p:spPr>
          <a:xfrm>
            <a:off x="-2852" y="0"/>
            <a:ext cx="9902952" cy="914400"/>
          </a:xfrm>
        </p:spPr>
        <p:txBody>
          <a:bodyPr/>
          <a:lstStyle/>
          <a:p>
            <a:pPr eaLnBrk="1" hangingPunct="1">
              <a:lnSpc>
                <a:spcPct val="100000"/>
              </a:lnSpc>
              <a:buClr>
                <a:srgbClr val="4E84C4"/>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0" kern="1200" dirty="0" smtClean="0">
                <a:ea typeface="+mn-ea"/>
                <a:cs typeface="Arial" pitchFamily="34" charset="0"/>
              </a:rPr>
              <a:t>Framework Manager</a:t>
            </a:r>
          </a:p>
        </p:txBody>
      </p:sp>
      <p:sp>
        <p:nvSpPr>
          <p:cNvPr id="40963" name="Rectangle 2"/>
          <p:cNvSpPr>
            <a:spLocks noGrp="1" noChangeArrowheads="1"/>
          </p:cNvSpPr>
          <p:nvPr>
            <p:ph type="body" idx="4294967295"/>
          </p:nvPr>
        </p:nvSpPr>
        <p:spPr>
          <a:xfrm>
            <a:off x="371476" y="1132112"/>
            <a:ext cx="4572000" cy="5029200"/>
          </a:xfrm>
        </p:spPr>
        <p:txBody>
          <a:bodyPr lIns="91440"/>
          <a:lstStyle/>
          <a:p>
            <a:pPr marL="274320" indent="-274320" defTabSz="714375" eaLnBrk="0" hangingPunct="0">
              <a:lnSpc>
                <a:spcPct val="105000"/>
              </a:lnSpc>
              <a:spcBef>
                <a:spcPts val="12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b="1" dirty="0" smtClean="0">
                <a:cs typeface="Times New Roman" pitchFamily="18" charset="0"/>
              </a:rPr>
              <a:t>Framework Manager </a:t>
            </a:r>
            <a:r>
              <a:rPr lang="en-US" sz="1600" dirty="0" smtClean="0">
                <a:cs typeface="Times New Roman" pitchFamily="18" charset="0"/>
              </a:rPr>
              <a:t>is a metadata modeling tool. </a:t>
            </a:r>
          </a:p>
          <a:p>
            <a:pPr marL="457200" lvl="2" indent="-182880" algn="just" defTabSz="957756">
              <a:lnSpc>
                <a:spcPct val="105000"/>
              </a:lnSpc>
              <a:spcBef>
                <a:spcPts val="35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cs typeface="Times New Roman" pitchFamily="18" charset="0"/>
              </a:rPr>
              <a:t>It takes data from various data sources and creates a data model customized for reporting or analysis needs. </a:t>
            </a:r>
          </a:p>
          <a:p>
            <a:pPr marL="457200" lvl="2" indent="-182880" algn="just" defTabSz="957756">
              <a:lnSpc>
                <a:spcPct val="105000"/>
              </a:lnSpc>
              <a:spcBef>
                <a:spcPts val="35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cs typeface="Times New Roman" pitchFamily="18" charset="0"/>
              </a:rPr>
              <a:t>It is a Windows-based client tool that you can use to create simplified business presentations of metadata that are derived from one or more data sources.</a:t>
            </a:r>
            <a:endParaRPr lang="en-US" sz="1400" kern="1200" dirty="0" smtClean="0">
              <a:latin typeface="Times New Roman" pitchFamily="18" charset="0"/>
              <a:cs typeface="Times New Roman" pitchFamily="18" charset="0"/>
            </a:endParaRPr>
          </a:p>
          <a:p>
            <a:pPr marL="274320" indent="-274320" defTabSz="714375" eaLnBrk="0" hangingPunct="0">
              <a:lnSpc>
                <a:spcPct val="105000"/>
              </a:lnSpc>
              <a:spcBef>
                <a:spcPts val="12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Metadata Model is a collection of metadata that is imported into the framework manager from one or more data sources. </a:t>
            </a:r>
          </a:p>
          <a:p>
            <a:pPr marL="457200" lvl="2" indent="-182880" algn="just" defTabSz="957756">
              <a:lnSpc>
                <a:spcPct val="105000"/>
              </a:lnSpc>
              <a:spcBef>
                <a:spcPts val="35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cs typeface="Times New Roman" pitchFamily="18" charset="0"/>
              </a:rPr>
              <a:t>This metadata model is published as a package to the IBM Cognos BI portal   </a:t>
            </a:r>
          </a:p>
          <a:p>
            <a:pPr marL="457200" lvl="2" indent="-182880" algn="just" defTabSz="957756">
              <a:lnSpc>
                <a:spcPct val="105000"/>
              </a:lnSpc>
              <a:spcBef>
                <a:spcPts val="35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smtClean="0">
                <a:cs typeface="Times New Roman" pitchFamily="18" charset="0"/>
              </a:rPr>
              <a:t>When you add security and multilingual capabilities to this business presentation, one model can serve the reporting, ad hoc  querying, and analysis needs of many groups of users around the globe. </a:t>
            </a:r>
          </a:p>
          <a:p>
            <a:pPr>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kern="1200" dirty="0" smtClean="0">
              <a:solidFill>
                <a:srgbClr val="000000"/>
              </a:solidFill>
              <a:latin typeface="Times New Roman" pitchFamily="18" charset="0"/>
              <a:cs typeface="Times New Roman" pitchFamily="18" charset="0"/>
            </a:endParaRPr>
          </a:p>
        </p:txBody>
      </p:sp>
      <p:grpSp>
        <p:nvGrpSpPr>
          <p:cNvPr id="2" name="Group 14"/>
          <p:cNvGrpSpPr/>
          <p:nvPr/>
        </p:nvGrpSpPr>
        <p:grpSpPr>
          <a:xfrm>
            <a:off x="5141788" y="1772816"/>
            <a:ext cx="4267200" cy="3084576"/>
            <a:chOff x="1981200" y="1219200"/>
            <a:chExt cx="4267200" cy="3084576"/>
          </a:xfrm>
        </p:grpSpPr>
        <p:sp>
          <p:nvSpPr>
            <p:cNvPr id="4" name="Rectangle 3"/>
            <p:cNvSpPr/>
            <p:nvPr/>
          </p:nvSpPr>
          <p:spPr>
            <a:xfrm>
              <a:off x="1981200" y="1219200"/>
              <a:ext cx="4267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smtClean="0"/>
                <a:t>IBM Cognos BI Portal</a:t>
              </a:r>
              <a:endParaRPr lang="en-US" sz="1400" dirty="0"/>
            </a:p>
          </p:txBody>
        </p:sp>
        <p:sp>
          <p:nvSpPr>
            <p:cNvPr id="5" name="Rectangle 4"/>
            <p:cNvSpPr/>
            <p:nvPr/>
          </p:nvSpPr>
          <p:spPr>
            <a:xfrm>
              <a:off x="1981200" y="2362200"/>
              <a:ext cx="4267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smtClean="0"/>
                <a:t>IBM Cognos Metadata Model </a:t>
              </a:r>
            </a:p>
            <a:p>
              <a:pPr algn="ctr"/>
              <a:r>
                <a:rPr lang="en-US" sz="1400" dirty="0" smtClean="0"/>
                <a:t>(Framework Manager)</a:t>
              </a:r>
              <a:endParaRPr lang="en-US" sz="1400" dirty="0"/>
            </a:p>
          </p:txBody>
        </p:sp>
        <p:sp>
          <p:nvSpPr>
            <p:cNvPr id="6" name="Can 5"/>
            <p:cNvSpPr/>
            <p:nvPr/>
          </p:nvSpPr>
          <p:spPr>
            <a:xfrm>
              <a:off x="2170176" y="3599688"/>
              <a:ext cx="838200" cy="68580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smtClean="0"/>
                <a:t>Relational</a:t>
              </a:r>
              <a:endParaRPr lang="en-US" sz="1100" dirty="0"/>
            </a:p>
          </p:txBody>
        </p:sp>
        <p:sp>
          <p:nvSpPr>
            <p:cNvPr id="7" name="Cube 6"/>
            <p:cNvSpPr/>
            <p:nvPr/>
          </p:nvSpPr>
          <p:spPr>
            <a:xfrm>
              <a:off x="3340608" y="3599688"/>
              <a:ext cx="762000" cy="685800"/>
            </a:xfrm>
            <a:prstGeom prst="cub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smtClean="0"/>
                <a:t>Cubes</a:t>
              </a:r>
              <a:endParaRPr lang="en-US" sz="1100" dirty="0"/>
            </a:p>
          </p:txBody>
        </p:sp>
        <p:sp>
          <p:nvSpPr>
            <p:cNvPr id="8" name="Folded Corner 7"/>
            <p:cNvSpPr/>
            <p:nvPr/>
          </p:nvSpPr>
          <p:spPr>
            <a:xfrm>
              <a:off x="4416552" y="3541776"/>
              <a:ext cx="609600" cy="762000"/>
            </a:xfrm>
            <a:prstGeom prst="foldedCorner">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smtClean="0"/>
                <a:t>Files</a:t>
              </a:r>
              <a:endParaRPr lang="en-US" sz="1100" dirty="0"/>
            </a:p>
          </p:txBody>
        </p:sp>
        <p:sp>
          <p:nvSpPr>
            <p:cNvPr id="9" name="Can 8"/>
            <p:cNvSpPr/>
            <p:nvPr/>
          </p:nvSpPr>
          <p:spPr>
            <a:xfrm>
              <a:off x="5373624" y="3581400"/>
              <a:ext cx="838200" cy="685800"/>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dirty="0" smtClean="0"/>
                <a:t>Other</a:t>
              </a:r>
              <a:endParaRPr lang="en-US" sz="1100" dirty="0"/>
            </a:p>
          </p:txBody>
        </p:sp>
        <p:cxnSp>
          <p:nvCxnSpPr>
            <p:cNvPr id="10" name="Straight Arrow Connector 9"/>
            <p:cNvCxnSpPr>
              <a:stCxn id="6" idx="1"/>
            </p:cNvCxnSpPr>
            <p:nvPr/>
          </p:nvCxnSpPr>
          <p:spPr>
            <a:xfrm rot="5400000" flipH="1" flipV="1">
              <a:off x="2276094" y="3284982"/>
              <a:ext cx="627888" cy="152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1" name="Straight Arrow Connector 10"/>
            <p:cNvCxnSpPr/>
            <p:nvPr/>
          </p:nvCxnSpPr>
          <p:spPr>
            <a:xfrm rot="5400000" flipH="1" flipV="1">
              <a:off x="3420618" y="3284982"/>
              <a:ext cx="627888" cy="152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a:stCxn id="8" idx="0"/>
            </p:cNvCxnSpPr>
            <p:nvPr/>
          </p:nvCxnSpPr>
          <p:spPr>
            <a:xfrm rot="5400000" flipH="1" flipV="1">
              <a:off x="4438650" y="3254502"/>
              <a:ext cx="569976" cy="457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a:xfrm rot="5400000" flipH="1" flipV="1">
              <a:off x="5478018" y="3284982"/>
              <a:ext cx="627888" cy="152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4" name="Straight Arrow Connector 13"/>
            <p:cNvCxnSpPr/>
            <p:nvPr/>
          </p:nvCxnSpPr>
          <p:spPr>
            <a:xfrm rot="5400000" flipH="1" flipV="1">
              <a:off x="3847338" y="2094738"/>
              <a:ext cx="533400" cy="152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gr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pic>
        <p:nvPicPr>
          <p:cNvPr id="63489" name="Picture 1"/>
          <p:cNvPicPr>
            <a:picLocks noChangeAspect="1" noChangeArrowheads="1"/>
          </p:cNvPicPr>
          <p:nvPr/>
        </p:nvPicPr>
        <p:blipFill>
          <a:blip r:embed="rId3" cstate="print"/>
          <a:srcRect/>
          <a:stretch>
            <a:fillRect/>
          </a:stretch>
        </p:blipFill>
        <p:spPr bwMode="auto">
          <a:xfrm>
            <a:off x="1640632" y="1126354"/>
            <a:ext cx="6520493" cy="5083946"/>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ChangeArrowheads="1"/>
          </p:cNvSpPr>
          <p:nvPr/>
        </p:nvSpPr>
        <p:spPr bwMode="auto">
          <a:xfrm>
            <a:off x="378346" y="1129060"/>
            <a:ext cx="5486400" cy="5029200"/>
          </a:xfrm>
          <a:prstGeom prst="rect">
            <a:avLst/>
          </a:prstGeom>
          <a:noFill/>
          <a:ln w="9525">
            <a:noFill/>
            <a:round/>
            <a:headEnd/>
            <a:tailEnd/>
          </a:ln>
        </p:spPr>
        <p:txBody>
          <a:bodyPr lIns="92160" tIns="46080" rIns="92160" bIns="46080"/>
          <a:lstStyle/>
          <a:p>
            <a:pPr marL="274320" indent="-274320" defTabSz="714375" eaLnBrk="0" hangingPunct="0">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Project</a:t>
            </a:r>
            <a:endParaRPr lang="en-US" sz="1400" b="1" dirty="0" smtClean="0">
              <a:solidFill>
                <a:srgbClr val="000000"/>
              </a:solidFill>
              <a:latin typeface="Times New Roman" pitchFamily="18" charset="0"/>
              <a:cs typeface="Times New Roman" pitchFamily="18" charset="0"/>
            </a:endParaRPr>
          </a:p>
          <a:p>
            <a:pPr marL="457200" indent="-182880" defTabSz="714375" eaLnBrk="0" hangingPunct="0">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A project is an instance which is opened once a Framework Manager is started.</a:t>
            </a:r>
          </a:p>
          <a:p>
            <a:pPr marL="457200" indent="-182880" defTabSz="714375" eaLnBrk="0" hangingPunct="0">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A </a:t>
            </a:r>
            <a:r>
              <a:rPr lang="en-US" sz="1600" dirty="0">
                <a:cs typeface="Times New Roman" pitchFamily="18" charset="0"/>
              </a:rPr>
              <a:t>project </a:t>
            </a:r>
            <a:r>
              <a:rPr lang="en-US" sz="1600" dirty="0" smtClean="0">
                <a:cs typeface="Times New Roman" pitchFamily="18" charset="0"/>
              </a:rPr>
              <a:t>at high level contains </a:t>
            </a:r>
            <a:r>
              <a:rPr lang="en-US" sz="1600" dirty="0">
                <a:cs typeface="Times New Roman" pitchFamily="18" charset="0"/>
              </a:rPr>
              <a:t>the </a:t>
            </a:r>
            <a:r>
              <a:rPr lang="en-US" sz="1600" dirty="0" smtClean="0">
                <a:cs typeface="Times New Roman" pitchFamily="18" charset="0"/>
              </a:rPr>
              <a:t>following objects:</a:t>
            </a:r>
            <a:endParaRPr lang="en-US" sz="1600" dirty="0">
              <a:cs typeface="Times New Roman" pitchFamily="18" charset="0"/>
            </a:endParaRPr>
          </a:p>
          <a:p>
            <a:pPr marL="640080" lvl="1" indent="-182880" eaLnBrk="1" hangingPunct="1">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A Model</a:t>
            </a:r>
          </a:p>
          <a:p>
            <a:pPr marL="640080" lvl="1" indent="-182880" eaLnBrk="1" hangingPunct="1">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Namespaces</a:t>
            </a:r>
          </a:p>
          <a:p>
            <a:pPr marL="640080" lvl="1" indent="-182880" eaLnBrk="1" hangingPunct="1">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Data Sources</a:t>
            </a:r>
          </a:p>
          <a:p>
            <a:pPr marL="640080" lvl="1" indent="-182880" eaLnBrk="1" hangingPunct="1">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Parameter Maps</a:t>
            </a:r>
          </a:p>
          <a:p>
            <a:pPr marL="640080" lvl="1" indent="-182880" eaLnBrk="1" hangingPunct="1">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Packages</a:t>
            </a:r>
          </a:p>
        </p:txBody>
      </p:sp>
      <p:sp>
        <p:nvSpPr>
          <p:cNvPr id="5" name="Rectangle 1"/>
          <p:cNvSpPr txBox="1">
            <a:spLocks noChangeArrowheads="1"/>
          </p:cNvSpPr>
          <p:nvPr/>
        </p:nvSpPr>
        <p:spPr bwMode="black">
          <a:xfrm>
            <a:off x="-2852" y="-1"/>
            <a:ext cx="9902952" cy="430887"/>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pic>
        <p:nvPicPr>
          <p:cNvPr id="61441" name="Picture 1"/>
          <p:cNvPicPr>
            <a:picLocks noChangeAspect="1" noChangeArrowheads="1"/>
          </p:cNvPicPr>
          <p:nvPr/>
        </p:nvPicPr>
        <p:blipFill>
          <a:blip r:embed="rId3" cstate="print"/>
          <a:srcRect/>
          <a:stretch>
            <a:fillRect/>
          </a:stretch>
        </p:blipFill>
        <p:spPr bwMode="auto">
          <a:xfrm>
            <a:off x="6400800" y="1107852"/>
            <a:ext cx="3095625" cy="4733925"/>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2"/>
          <p:cNvSpPr txBox="1">
            <a:spLocks noChangeArrowheads="1"/>
          </p:cNvSpPr>
          <p:nvPr/>
        </p:nvSpPr>
        <p:spPr bwMode="auto">
          <a:xfrm>
            <a:off x="368300" y="1137320"/>
            <a:ext cx="6400800"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Metadata Elements</a:t>
            </a: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In </a:t>
            </a:r>
            <a:r>
              <a:rPr lang="en-US" sz="1600" dirty="0">
                <a:cs typeface="Times New Roman" pitchFamily="18" charset="0"/>
              </a:rPr>
              <a:t>a Framework Manager project, </a:t>
            </a:r>
            <a:r>
              <a:rPr lang="en-US" sz="1600" dirty="0" smtClean="0">
                <a:cs typeface="Times New Roman" pitchFamily="18" charset="0"/>
              </a:rPr>
              <a:t>metadata is defined and organized by </a:t>
            </a:r>
            <a:r>
              <a:rPr lang="en-US" sz="1600" dirty="0">
                <a:cs typeface="Times New Roman" pitchFamily="18" charset="0"/>
              </a:rPr>
              <a:t>the following objects:</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Model </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Namespace:</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Folder</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Query subject</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Query item</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Relationship</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Parameter map</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Package </a:t>
            </a:r>
          </a:p>
          <a:p>
            <a:pPr marL="120650" indent="-120650" eaLnBrk="1" hangingPunct="1">
              <a:lnSpc>
                <a:spcPct val="105000"/>
              </a:lnSpc>
              <a:spcBef>
                <a:spcPts val="350"/>
              </a:spcBef>
              <a:buClr>
                <a:srgbClr val="009999"/>
              </a:buClr>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b="1" dirty="0">
              <a:solidFill>
                <a:srgbClr val="000000"/>
              </a:solidFill>
              <a:latin typeface="Arial" charset="0"/>
            </a:endParaRPr>
          </a:p>
        </p:txBody>
      </p:sp>
      <p:sp>
        <p:nvSpPr>
          <p:cNvPr id="5" name="Rectangle 1"/>
          <p:cNvSpPr txBox="1">
            <a:spLocks noChangeArrowheads="1"/>
          </p:cNvSpPr>
          <p:nvPr/>
        </p:nvSpPr>
        <p:spPr bwMode="black">
          <a:xfrm>
            <a:off x="0"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pic>
        <p:nvPicPr>
          <p:cNvPr id="59393" name="Picture 1"/>
          <p:cNvPicPr>
            <a:picLocks noChangeAspect="1" noChangeArrowheads="1"/>
          </p:cNvPicPr>
          <p:nvPr/>
        </p:nvPicPr>
        <p:blipFill>
          <a:blip r:embed="rId3" cstate="print"/>
          <a:srcRect/>
          <a:stretch>
            <a:fillRect/>
          </a:stretch>
        </p:blipFill>
        <p:spPr bwMode="auto">
          <a:xfrm>
            <a:off x="7483376" y="1124744"/>
            <a:ext cx="2016224" cy="4914929"/>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2"/>
          <p:cNvSpPr txBox="1">
            <a:spLocks noChangeArrowheads="1"/>
          </p:cNvSpPr>
          <p:nvPr/>
        </p:nvSpPr>
        <p:spPr bwMode="auto">
          <a:xfrm>
            <a:off x="368300" y="1125538"/>
            <a:ext cx="9145852"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Project Files</a:t>
            </a: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A </a:t>
            </a:r>
            <a:r>
              <a:rPr lang="en-US" sz="1600" dirty="0">
                <a:cs typeface="Times New Roman" pitchFamily="18" charset="0"/>
              </a:rPr>
              <a:t>project appears in a file system as a folder that contains a project file (.</a:t>
            </a:r>
            <a:r>
              <a:rPr lang="en-US" sz="1600" dirty="0" err="1">
                <a:cs typeface="Times New Roman" pitchFamily="18" charset="0"/>
              </a:rPr>
              <a:t>cpf</a:t>
            </a:r>
            <a:r>
              <a:rPr lang="en-US" sz="1600" dirty="0">
                <a:cs typeface="Times New Roman" pitchFamily="18" charset="0"/>
              </a:rPr>
              <a:t>) and XML files.</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X.cpf: Project file references to define the business model.</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Model.xml: Actual model data created by Framework Manager developer.</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Preferences.xml: Preferences for Framework Manager Projects.</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Customdata.xml: Stores diagram information, layout, fonts and colors.</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a:cs typeface="Times New Roman" pitchFamily="18" charset="0"/>
              </a:rPr>
              <a:t>Repository.xml: Logged version of the History for each project or segment added to the repository.</a:t>
            </a: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When a package is published,  the server compiles the XML specification into binary  runtime information.</a:t>
            </a:r>
            <a:endParaRPr lang="en-US" sz="1600" dirty="0">
              <a:cs typeface="Times New Roman" pitchFamily="18" charset="0"/>
            </a:endParaRPr>
          </a:p>
        </p:txBody>
      </p:sp>
      <p:sp>
        <p:nvSpPr>
          <p:cNvPr id="47111" name="Text Box 6"/>
          <p:cNvSpPr txBox="1">
            <a:spLocks noChangeArrowheads="1"/>
          </p:cNvSpPr>
          <p:nvPr/>
        </p:nvSpPr>
        <p:spPr bwMode="auto">
          <a:xfrm>
            <a:off x="6773614" y="5880100"/>
            <a:ext cx="2011680" cy="274320"/>
          </a:xfrm>
          <a:prstGeom prst="rect">
            <a:avLst/>
          </a:prstGeom>
          <a:solidFill>
            <a:schemeClr val="accent1">
              <a:lumMod val="40000"/>
              <a:lumOff val="60000"/>
            </a:schemeClr>
          </a:solidFill>
          <a:ln w="9525">
            <a:solidFill>
              <a:schemeClr val="accent2">
                <a:lumMod val="60000"/>
                <a:lumOff val="40000"/>
              </a:schemeClr>
            </a:solidFill>
            <a:round/>
            <a:headEnd/>
            <a:tailEnd/>
          </a:ln>
        </p:spPr>
        <p:txBody>
          <a:bodyPr lIns="90000" tIns="46800" rIns="90000" bIns="46800">
            <a:spAutoFit/>
          </a:bodyPr>
          <a:lstStyle/>
          <a:p>
            <a:pPr>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dirty="0">
                <a:solidFill>
                  <a:srgbClr val="000000"/>
                </a:solidFill>
              </a:rPr>
              <a:t>Various files of a model</a:t>
            </a:r>
          </a:p>
        </p:txBody>
      </p:sp>
      <p:sp>
        <p:nvSpPr>
          <p:cNvPr id="8" name="Rectangle 1"/>
          <p:cNvSpPr txBox="1">
            <a:spLocks noChangeArrowheads="1"/>
          </p:cNvSpPr>
          <p:nvPr/>
        </p:nvSpPr>
        <p:spPr bwMode="black">
          <a:xfrm>
            <a:off x="3048"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pic>
        <p:nvPicPr>
          <p:cNvPr id="57345" name="Picture 1"/>
          <p:cNvPicPr>
            <a:picLocks noChangeAspect="1" noChangeArrowheads="1"/>
          </p:cNvPicPr>
          <p:nvPr/>
        </p:nvPicPr>
        <p:blipFill>
          <a:blip r:embed="rId3" cstate="print"/>
          <a:srcRect/>
          <a:stretch>
            <a:fillRect/>
          </a:stretch>
        </p:blipFill>
        <p:spPr bwMode="auto">
          <a:xfrm>
            <a:off x="6436118" y="4495800"/>
            <a:ext cx="3076182" cy="1296144"/>
          </a:xfrm>
          <a:prstGeom prst="rect">
            <a:avLst/>
          </a:prstGeom>
          <a:noFill/>
          <a:ln w="9525">
            <a:solidFill>
              <a:schemeClr val="tx1"/>
            </a:solid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2"/>
          <p:cNvSpPr txBox="1">
            <a:spLocks noChangeArrowheads="1"/>
          </p:cNvSpPr>
          <p:nvPr/>
        </p:nvSpPr>
        <p:spPr bwMode="auto">
          <a:xfrm>
            <a:off x="368300" y="1130300"/>
            <a:ext cx="8691363"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Project – Query Subject Types</a:t>
            </a:r>
            <a:endParaRPr lang="en-US" sz="1400" b="1" dirty="0" smtClean="0">
              <a:solidFill>
                <a:srgbClr val="000000"/>
              </a:solidFill>
              <a:latin typeface="Times New Roman" pitchFamily="18" charset="0"/>
              <a:cs typeface="Times New Roman" pitchFamily="18" charset="0"/>
            </a:endParaRP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Data </a:t>
            </a:r>
            <a:r>
              <a:rPr lang="en-US" sz="1600" dirty="0">
                <a:cs typeface="Times New Roman" pitchFamily="18" charset="0"/>
              </a:rPr>
              <a:t>source query subject</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SQL </a:t>
            </a:r>
            <a:r>
              <a:rPr lang="en-US" sz="1400" dirty="0">
                <a:cs typeface="Times New Roman" pitchFamily="18" charset="0"/>
              </a:rPr>
              <a:t>query that acts as a view into the underlying query data source.</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Default </a:t>
            </a:r>
            <a:r>
              <a:rPr lang="en-US" sz="1400" dirty="0">
                <a:cs typeface="Times New Roman" pitchFamily="18" charset="0"/>
              </a:rPr>
              <a:t>data source query subjects are created based on imported objects</a:t>
            </a:r>
            <a:r>
              <a:rPr lang="en-US" sz="1400" dirty="0" smtClean="0">
                <a:cs typeface="Times New Roman" pitchFamily="18" charset="0"/>
              </a:rPr>
              <a:t>.</a:t>
            </a:r>
            <a:endParaRPr lang="en-US" sz="1400" dirty="0">
              <a:cs typeface="Times New Roman" pitchFamily="18" charset="0"/>
            </a:endParaRP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Model query subject</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Contains </a:t>
            </a:r>
            <a:r>
              <a:rPr lang="en-US" sz="1400" dirty="0">
                <a:cs typeface="Times New Roman" pitchFamily="18" charset="0"/>
              </a:rPr>
              <a:t>query items based on other existing objects in the model.</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Enables </a:t>
            </a:r>
            <a:r>
              <a:rPr lang="en-US" sz="1400" dirty="0">
                <a:cs typeface="Times New Roman" pitchFamily="18" charset="0"/>
              </a:rPr>
              <a:t>simplification of the model for business views.</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Provides </a:t>
            </a:r>
            <a:r>
              <a:rPr lang="en-US" sz="1400" dirty="0">
                <a:cs typeface="Times New Roman" pitchFamily="18" charset="0"/>
              </a:rPr>
              <a:t>a way to control Query Generation.</a:t>
            </a:r>
          </a:p>
          <a:p>
            <a:pPr marL="640080" lvl="1" indent="-182880">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Enable </a:t>
            </a:r>
            <a:r>
              <a:rPr lang="en-US" sz="1400" dirty="0">
                <a:cs typeface="Times New Roman" pitchFamily="18" charset="0"/>
              </a:rPr>
              <a:t>users to override the settings specified for the data sources query subjects to   meet reporting requirements</a:t>
            </a:r>
            <a:r>
              <a:rPr lang="en-US" sz="1400" dirty="0" smtClean="0">
                <a:cs typeface="Times New Roman" pitchFamily="18" charset="0"/>
              </a:rPr>
              <a:t>.</a:t>
            </a:r>
            <a:endParaRPr lang="en-US" sz="1400" dirty="0">
              <a:cs typeface="Times New Roman" pitchFamily="18" charset="0"/>
            </a:endParaRPr>
          </a:p>
          <a:p>
            <a:pPr marL="457200"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Stored procedure query subject</a:t>
            </a:r>
          </a:p>
          <a:p>
            <a:pPr marL="640080" lvl="1" indent="-182880">
              <a:lnSpc>
                <a:spcPct val="105000"/>
              </a:lnSpc>
              <a:spcBef>
                <a:spcPts val="600"/>
              </a:spcBef>
              <a:spcAft>
                <a:spcPts val="600"/>
              </a:spcAft>
              <a:buClr>
                <a:schemeClr val="accent2"/>
              </a:buClr>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Contains </a:t>
            </a:r>
            <a:r>
              <a:rPr lang="en-US" sz="1400" dirty="0">
                <a:cs typeface="Times New Roman" pitchFamily="18" charset="0"/>
              </a:rPr>
              <a:t>query items based on the return list of a stored procedure</a:t>
            </a:r>
          </a:p>
        </p:txBody>
      </p:sp>
      <p:sp>
        <p:nvSpPr>
          <p:cNvPr id="4" name="Rectangle 1"/>
          <p:cNvSpPr txBox="1">
            <a:spLocks noChangeArrowheads="1"/>
          </p:cNvSpPr>
          <p:nvPr/>
        </p:nvSpPr>
        <p:spPr bwMode="black">
          <a:xfrm>
            <a:off x="0"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
          <p:cNvGrpSpPr/>
          <p:nvPr/>
        </p:nvGrpSpPr>
        <p:grpSpPr>
          <a:xfrm>
            <a:off x="506288" y="1676400"/>
            <a:ext cx="8839200" cy="4419600"/>
            <a:chOff x="152400" y="228600"/>
            <a:chExt cx="8839200" cy="4419600"/>
          </a:xfrm>
        </p:grpSpPr>
        <p:sp>
          <p:nvSpPr>
            <p:cNvPr id="46" name="Rectangle 45"/>
            <p:cNvSpPr/>
            <p:nvPr/>
          </p:nvSpPr>
          <p:spPr>
            <a:xfrm>
              <a:off x="152400" y="1066800"/>
              <a:ext cx="8839200" cy="2590800"/>
            </a:xfrm>
            <a:prstGeom prst="rect">
              <a:avLst/>
            </a:prstGeom>
            <a:solidFill>
              <a:schemeClr val="accent1">
                <a:alpha val="14000"/>
              </a:schemeClr>
            </a:solidFill>
            <a:ln>
              <a:solidFill>
                <a:schemeClr val="accent1">
                  <a:shade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533400" y="1447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Design/Create Project</a:t>
              </a:r>
              <a:endParaRPr lang="en-US" sz="1200" dirty="0"/>
            </a:p>
          </p:txBody>
        </p:sp>
        <p:sp>
          <p:nvSpPr>
            <p:cNvPr id="48" name="Can 47"/>
            <p:cNvSpPr/>
            <p:nvPr/>
          </p:nvSpPr>
          <p:spPr>
            <a:xfrm>
              <a:off x="762000" y="228600"/>
              <a:ext cx="838200" cy="685800"/>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200" dirty="0" smtClean="0"/>
                <a:t>Data Sources</a:t>
              </a:r>
              <a:endParaRPr lang="en-US" sz="1200" dirty="0"/>
            </a:p>
          </p:txBody>
        </p:sp>
        <p:sp>
          <p:nvSpPr>
            <p:cNvPr id="49" name="Can 48"/>
            <p:cNvSpPr/>
            <p:nvPr/>
          </p:nvSpPr>
          <p:spPr>
            <a:xfrm>
              <a:off x="4343400" y="3889248"/>
              <a:ext cx="838200" cy="685800"/>
            </a:xfrm>
            <a:prstGeom prst="ca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200" dirty="0"/>
                <a:t>Content Store</a:t>
              </a:r>
            </a:p>
          </p:txBody>
        </p:sp>
        <p:sp>
          <p:nvSpPr>
            <p:cNvPr id="50" name="Rectangle 49"/>
            <p:cNvSpPr/>
            <p:nvPr/>
          </p:nvSpPr>
          <p:spPr>
            <a:xfrm>
              <a:off x="2286000" y="1447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Prepare Metadata</a:t>
              </a:r>
              <a:endParaRPr lang="en-US" sz="1200" dirty="0"/>
            </a:p>
          </p:txBody>
        </p:sp>
        <p:sp>
          <p:nvSpPr>
            <p:cNvPr id="51" name="Rectangle 50"/>
            <p:cNvSpPr/>
            <p:nvPr/>
          </p:nvSpPr>
          <p:spPr>
            <a:xfrm>
              <a:off x="4038600" y="1447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Prepare Business View</a:t>
              </a:r>
              <a:endParaRPr lang="en-US" sz="1200" dirty="0"/>
            </a:p>
          </p:txBody>
        </p:sp>
        <p:sp>
          <p:nvSpPr>
            <p:cNvPr id="52" name="Rectangle 51"/>
            <p:cNvSpPr/>
            <p:nvPr/>
          </p:nvSpPr>
          <p:spPr>
            <a:xfrm>
              <a:off x="5791200" y="1447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Create &amp; Manage Packages</a:t>
              </a:r>
              <a:endParaRPr lang="en-US" sz="1200" dirty="0"/>
            </a:p>
          </p:txBody>
        </p:sp>
        <p:sp>
          <p:nvSpPr>
            <p:cNvPr id="53" name="Rectangle 52"/>
            <p:cNvSpPr/>
            <p:nvPr/>
          </p:nvSpPr>
          <p:spPr>
            <a:xfrm>
              <a:off x="7620000" y="20574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Manage Project</a:t>
              </a:r>
              <a:endParaRPr lang="en-US" sz="1200" dirty="0"/>
            </a:p>
          </p:txBody>
        </p:sp>
        <p:sp>
          <p:nvSpPr>
            <p:cNvPr id="54" name="Rectangle 53"/>
            <p:cNvSpPr/>
            <p:nvPr/>
          </p:nvSpPr>
          <p:spPr>
            <a:xfrm>
              <a:off x="4114800" y="26670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Publish</a:t>
              </a:r>
              <a:endParaRPr lang="en-US" sz="1200" dirty="0"/>
            </a:p>
          </p:txBody>
        </p:sp>
        <p:sp>
          <p:nvSpPr>
            <p:cNvPr id="55" name="Rectangle 54"/>
            <p:cNvSpPr/>
            <p:nvPr/>
          </p:nvSpPr>
          <p:spPr>
            <a:xfrm>
              <a:off x="5867400" y="26670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smtClean="0"/>
                <a:t>Set Security</a:t>
              </a:r>
              <a:endParaRPr lang="en-US" sz="1200" dirty="0"/>
            </a:p>
          </p:txBody>
        </p:sp>
        <p:sp>
          <p:nvSpPr>
            <p:cNvPr id="56" name="Right Arrow 55"/>
            <p:cNvSpPr/>
            <p:nvPr/>
          </p:nvSpPr>
          <p:spPr>
            <a:xfrm>
              <a:off x="1828800" y="16764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56"/>
            <p:cNvSpPr/>
            <p:nvPr/>
          </p:nvSpPr>
          <p:spPr>
            <a:xfrm>
              <a:off x="3599688" y="16764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ight Arrow 57"/>
            <p:cNvSpPr/>
            <p:nvPr/>
          </p:nvSpPr>
          <p:spPr>
            <a:xfrm>
              <a:off x="5334000" y="16764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ight Arrow 58"/>
            <p:cNvSpPr/>
            <p:nvPr/>
          </p:nvSpPr>
          <p:spPr>
            <a:xfrm rot="5400000">
              <a:off x="4572000" y="35052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ight Arrow 59"/>
            <p:cNvSpPr/>
            <p:nvPr/>
          </p:nvSpPr>
          <p:spPr>
            <a:xfrm rot="10800000">
              <a:off x="5410200" y="28956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ight Arrow 60"/>
            <p:cNvSpPr/>
            <p:nvPr/>
          </p:nvSpPr>
          <p:spPr>
            <a:xfrm>
              <a:off x="3810000" y="41148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2286000" y="3886200"/>
              <a:ext cx="1371600" cy="76200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dirty="0" smtClean="0"/>
                <a:t>Report Studio</a:t>
              </a:r>
            </a:p>
            <a:p>
              <a:pPr algn="ctr"/>
              <a:r>
                <a:rPr lang="en-US" sz="1200" dirty="0" smtClean="0"/>
                <a:t>Analysis Studio</a:t>
              </a:r>
            </a:p>
            <a:p>
              <a:pPr algn="ctr"/>
              <a:r>
                <a:rPr lang="en-US" sz="1200" dirty="0" smtClean="0"/>
                <a:t>Query Studio</a:t>
              </a:r>
            </a:p>
          </p:txBody>
        </p:sp>
        <p:sp>
          <p:nvSpPr>
            <p:cNvPr id="63" name="Right Arrow 62"/>
            <p:cNvSpPr/>
            <p:nvPr/>
          </p:nvSpPr>
          <p:spPr>
            <a:xfrm rot="5400000">
              <a:off x="6248400" y="22860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Arrow 63"/>
            <p:cNvSpPr/>
            <p:nvPr/>
          </p:nvSpPr>
          <p:spPr>
            <a:xfrm rot="5400000">
              <a:off x="990600" y="1066800"/>
              <a:ext cx="381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3"/>
            <p:cNvPicPr>
              <a:picLocks noChangeAspect="1" noChangeArrowheads="1"/>
            </p:cNvPicPr>
            <p:nvPr/>
          </p:nvPicPr>
          <p:blipFill>
            <a:blip r:embed="rId3" cstate="print"/>
            <a:srcRect/>
            <a:stretch>
              <a:fillRect/>
            </a:stretch>
          </p:blipFill>
          <p:spPr bwMode="auto">
            <a:xfrm>
              <a:off x="304800" y="2712720"/>
              <a:ext cx="877094" cy="836613"/>
            </a:xfrm>
            <a:prstGeom prst="rect">
              <a:avLst/>
            </a:prstGeom>
            <a:noFill/>
            <a:ln w="12600">
              <a:solidFill>
                <a:srgbClr val="000000"/>
              </a:solidFill>
              <a:miter lim="800000"/>
              <a:headEnd/>
              <a:tailEnd/>
            </a:ln>
          </p:spPr>
        </p:pic>
        <p:sp>
          <p:nvSpPr>
            <p:cNvPr id="66" name="Right Brace 65"/>
            <p:cNvSpPr/>
            <p:nvPr/>
          </p:nvSpPr>
          <p:spPr>
            <a:xfrm>
              <a:off x="7239000" y="1219200"/>
              <a:ext cx="304800" cy="2209800"/>
            </a:xfrm>
            <a:prstGeom prst="rightBrace">
              <a:avLst>
                <a:gd name="adj1" fmla="val 8333"/>
                <a:gd name="adj2" fmla="val 5248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26" name="TextBox 25"/>
          <p:cNvSpPr txBox="1"/>
          <p:nvPr/>
        </p:nvSpPr>
        <p:spPr>
          <a:xfrm>
            <a:off x="368300" y="1143000"/>
            <a:ext cx="2664296" cy="393121"/>
          </a:xfrm>
          <a:prstGeom prst="rect">
            <a:avLst/>
          </a:prstGeom>
          <a:noFill/>
        </p:spPr>
        <p:txBody>
          <a:bodyPr wrap="square" rtlCol="0">
            <a:spAutoFit/>
          </a:bodyPr>
          <a:lstStyle/>
          <a:p>
            <a:pPr marL="176213" indent="-176213" defTabSz="714375" eaLnBrk="0" hangingPunct="0">
              <a:lnSpc>
                <a:spcPct val="105000"/>
              </a:lnSpc>
              <a:spcBef>
                <a:spcPct val="20000"/>
              </a:spcBef>
              <a:buClr>
                <a:schemeClr val="tx1"/>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smtClean="0">
                <a:solidFill>
                  <a:schemeClr val="accent1"/>
                </a:solidFill>
                <a:cs typeface="Times New Roman" pitchFamily="18" charset="0"/>
              </a:rPr>
              <a:t>Workflow</a:t>
            </a:r>
          </a:p>
        </p:txBody>
      </p:sp>
      <p:sp>
        <p:nvSpPr>
          <p:cNvPr id="27"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2"/>
          <p:cNvSpPr txBox="1">
            <a:spLocks noChangeArrowheads="1"/>
          </p:cNvSpPr>
          <p:nvPr/>
        </p:nvSpPr>
        <p:spPr bwMode="auto">
          <a:xfrm>
            <a:off x="2641600" y="1133872"/>
            <a:ext cx="6858000"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Analyze and Design</a:t>
            </a: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Know your data and the structure of your data sources.</a:t>
            </a: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Work with report authors to understand business reporting requirements.</a:t>
            </a: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Identify the project structure</a:t>
            </a:r>
            <a:r>
              <a:rPr lang="en-US" sz="1600" dirty="0" smtClean="0">
                <a:cs typeface="Times New Roman" pitchFamily="18" charset="0"/>
              </a:rPr>
              <a:t>.</a:t>
            </a:r>
            <a:endParaRPr lang="en-US" sz="1600" dirty="0">
              <a:cs typeface="Times New Roman" pitchFamily="18" charset="0"/>
            </a:endParaRP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Create</a:t>
            </a:r>
            <a:endParaRPr lang="en-US" sz="2000" dirty="0">
              <a:cs typeface="Times New Roman" pitchFamily="18" charset="0"/>
            </a:endParaRP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Create a project.</a:t>
            </a: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Import the required metadata</a:t>
            </a:r>
            <a:r>
              <a:rPr lang="en-US" sz="1400" dirty="0" smtClean="0">
                <a:solidFill>
                  <a:srgbClr val="000000"/>
                </a:solidFill>
                <a:latin typeface="Times New Roman" pitchFamily="18" charset="0"/>
                <a:cs typeface="Times New Roman" pitchFamily="18" charset="0"/>
              </a:rPr>
              <a:t>.</a:t>
            </a:r>
            <a:endParaRPr lang="en-US" sz="1400" dirty="0">
              <a:solidFill>
                <a:srgbClr val="000000"/>
              </a:solidFill>
              <a:latin typeface="Times New Roman" pitchFamily="18" charset="0"/>
              <a:cs typeface="Times New Roman" pitchFamily="18" charset="0"/>
            </a:endParaRP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Organize</a:t>
            </a:r>
            <a:endParaRPr lang="en-US" sz="2000" dirty="0">
              <a:cs typeface="Times New Roman" pitchFamily="18" charset="0"/>
            </a:endParaRPr>
          </a:p>
          <a:p>
            <a:pPr marL="457200" lvl="1" indent="-182880" defTabSz="714375" eaLnBrk="0" hangingPunct="0">
              <a:lnSpc>
                <a:spcPct val="105000"/>
              </a:lnSpc>
              <a:spcBef>
                <a:spcPts val="12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Organize objects to create a physical view of the metadata.</a:t>
            </a:r>
          </a:p>
        </p:txBody>
      </p:sp>
      <p:sp>
        <p:nvSpPr>
          <p:cNvPr id="4" name="Rectangle 3"/>
          <p:cNvSpPr/>
          <p:nvPr/>
        </p:nvSpPr>
        <p:spPr>
          <a:xfrm>
            <a:off x="368300" y="1587500"/>
            <a:ext cx="182880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Design/Create Project</a:t>
            </a:r>
            <a:endParaRPr lang="en-US" sz="1600" dirty="0"/>
          </a:p>
        </p:txBody>
      </p:sp>
      <p:sp>
        <p:nvSpPr>
          <p:cNvPr id="6"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r>
              <a:rPr lang="en-US" sz="2800" dirty="0" smtClean="0">
                <a:latin typeface="Arial Narrow" pitchFamily="34" charset="0"/>
                <a:cs typeface="Arial" pitchFamily="34" charset="0"/>
              </a:rPr>
              <a:t>…)</a:t>
            </a:r>
            <a:endParaRPr kumimoji="0" lang="en-US" sz="2800" b="0" i="0" u="none" strike="noStrike" kern="1200" cap="none" spc="0" normalizeH="0" baseline="0" noProof="0" dirty="0" smtClean="0">
              <a:ln>
                <a:noFill/>
              </a:ln>
              <a:effectLst/>
              <a:uLnTx/>
              <a:uFillTx/>
              <a:latin typeface="Arial Narrow"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ChangeArrowheads="1"/>
          </p:cNvSpPr>
          <p:nvPr/>
        </p:nvSpPr>
        <p:spPr bwMode="auto">
          <a:xfrm>
            <a:off x="377296" y="1123950"/>
            <a:ext cx="9144000" cy="5029200"/>
          </a:xfrm>
          <a:prstGeom prst="rect">
            <a:avLst/>
          </a:prstGeom>
          <a:noFill/>
          <a:ln w="9525">
            <a:noFill/>
            <a:round/>
            <a:headEnd/>
            <a:tailEnd/>
          </a:ln>
        </p:spPr>
        <p:txBody>
          <a:bodyPr lIns="92160" tIns="46080" rIns="92160" bIns="46080"/>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Naming Conventions</a:t>
            </a:r>
            <a:endParaRPr lang="en-US" sz="1400" b="1" dirty="0" smtClean="0">
              <a:solidFill>
                <a:srgbClr val="000000"/>
              </a:solidFill>
              <a:latin typeface="Times New Roman" pitchFamily="18" charset="0"/>
              <a:cs typeface="Times New Roman" pitchFamily="18" charset="0"/>
            </a:endParaRP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Objects </a:t>
            </a:r>
            <a:r>
              <a:rPr lang="en-US" sz="2000" dirty="0">
                <a:cs typeface="Times New Roman" pitchFamily="18" charset="0"/>
              </a:rPr>
              <a:t>in Framework Manager must consists of the following:</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An identifier</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The same name but must be uniquely identified using a </a:t>
            </a:r>
            <a:r>
              <a:rPr lang="en-US" sz="1600" dirty="0" smtClean="0">
                <a:cs typeface="Times New Roman" pitchFamily="18" charset="0"/>
              </a:rPr>
              <a:t>namespace</a:t>
            </a:r>
          </a:p>
          <a:p>
            <a:pPr marL="274320" indent="-274320" defTabSz="714375" eaLnBrk="0" hangingPunct="0">
              <a:lnSpc>
                <a:spcPct val="105000"/>
              </a:lnSpc>
              <a:spcBef>
                <a:spcPts val="18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The identifier can consist of one, two, or three parts, for example:</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Query items have a three-part identifier</a:t>
            </a:r>
          </a:p>
          <a:p>
            <a:pPr marL="640080" lvl="1" indent="-182880">
              <a:spcBef>
                <a:spcPts val="600"/>
              </a:spcBef>
              <a:spcAft>
                <a:spcPts val="600"/>
              </a:spcAft>
              <a:buClr>
                <a:schemeClr val="accent2"/>
              </a:buClr>
              <a:buSzPct val="100000"/>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Example, [</a:t>
            </a:r>
            <a:r>
              <a:rPr lang="en-US" sz="1400" dirty="0" err="1" smtClean="0">
                <a:cs typeface="Times New Roman" pitchFamily="18" charset="0"/>
              </a:rPr>
              <a:t>GoSales</a:t>
            </a:r>
            <a:r>
              <a:rPr lang="en-US" sz="1400" dirty="0" smtClean="0">
                <a:cs typeface="Times New Roman" pitchFamily="18" charset="0"/>
              </a:rPr>
              <a:t>].[Product].[</a:t>
            </a:r>
            <a:r>
              <a:rPr lang="en-US" sz="1400" dirty="0" err="1" smtClean="0">
                <a:cs typeface="Times New Roman" pitchFamily="18" charset="0"/>
              </a:rPr>
              <a:t>ProductCode</a:t>
            </a:r>
            <a:r>
              <a:rPr lang="en-US" sz="1400" dirty="0" smtClean="0">
                <a:cs typeface="Times New Roman" pitchFamily="18" charset="0"/>
              </a:rPr>
              <a:t>]</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Namespaces, functions, shortcuts to namespaces, and shortcuts to folders have a one-part identifier</a:t>
            </a:r>
          </a:p>
          <a:p>
            <a:pPr marL="640080" lvl="1" indent="-182880">
              <a:spcBef>
                <a:spcPts val="600"/>
              </a:spcBef>
              <a:spcAft>
                <a:spcPts val="600"/>
              </a:spcAft>
              <a:buClr>
                <a:schemeClr val="accent2"/>
              </a:buClr>
              <a:buSzPct val="100000"/>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Example, [</a:t>
            </a:r>
            <a:r>
              <a:rPr lang="en-US" sz="1400" dirty="0" err="1" smtClean="0">
                <a:cs typeface="Times New Roman" pitchFamily="18" charset="0"/>
              </a:rPr>
              <a:t>GoSales</a:t>
            </a:r>
            <a:r>
              <a:rPr lang="en-US" sz="1400" dirty="0" smtClean="0">
                <a:cs typeface="Times New Roman" pitchFamily="18" charset="0"/>
              </a:rPr>
              <a:t>]</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All other objects have a two-part identifier</a:t>
            </a:r>
          </a:p>
          <a:p>
            <a:pPr marL="640080" lvl="1" indent="-182880">
              <a:spcBef>
                <a:spcPts val="600"/>
              </a:spcBef>
              <a:spcAft>
                <a:spcPts val="600"/>
              </a:spcAft>
              <a:buClr>
                <a:schemeClr val="accent2"/>
              </a:buClr>
              <a:buSzPct val="100000"/>
              <a:buFont typeface="Arial" pitchFamily="34" charset="0"/>
              <a:buChar char="−"/>
              <a:tabLst>
                <a:tab pos="336550" algn="l"/>
                <a:tab pos="1250950" algn="l"/>
                <a:tab pos="2165350" algn="l"/>
                <a:tab pos="3079750" algn="l"/>
                <a:tab pos="3994150" algn="l"/>
                <a:tab pos="4908550" algn="l"/>
                <a:tab pos="5822950" algn="l"/>
                <a:tab pos="6737350" algn="l"/>
                <a:tab pos="7651750" algn="l"/>
                <a:tab pos="8566150" algn="l"/>
                <a:tab pos="9480550" algn="l"/>
                <a:tab pos="10394950" algn="l"/>
              </a:tabLst>
            </a:pPr>
            <a:r>
              <a:rPr lang="en-US" sz="1400" dirty="0" smtClean="0">
                <a:cs typeface="Times New Roman" pitchFamily="18" charset="0"/>
              </a:rPr>
              <a:t>Example, query subjects:[</a:t>
            </a:r>
            <a:r>
              <a:rPr lang="en-US" sz="1400" dirty="0" err="1" smtClean="0">
                <a:cs typeface="Times New Roman" pitchFamily="18" charset="0"/>
              </a:rPr>
              <a:t>GoSales</a:t>
            </a:r>
            <a:r>
              <a:rPr lang="en-US" sz="1400" dirty="0" smtClean="0">
                <a:cs typeface="Times New Roman" pitchFamily="18" charset="0"/>
              </a:rPr>
              <a:t>].[Product]</a:t>
            </a:r>
          </a:p>
        </p:txBody>
      </p:sp>
      <p:sp>
        <p:nvSpPr>
          <p:cNvPr id="4"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2"/>
          <p:cNvSpPr txBox="1">
            <a:spLocks noChangeArrowheads="1"/>
          </p:cNvSpPr>
          <p:nvPr/>
        </p:nvSpPr>
        <p:spPr bwMode="auto">
          <a:xfrm>
            <a:off x="2197100" y="1108720"/>
            <a:ext cx="7289800"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Administer</a:t>
            </a:r>
            <a:endParaRPr lang="en-US" sz="2000" dirty="0">
              <a:cs typeface="Times New Roman" pitchFamily="18" charset="0"/>
            </a:endParaRP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Specify query processing type.</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Define function sets</a:t>
            </a:r>
            <a:r>
              <a:rPr lang="en-US" sz="1600" dirty="0" smtClean="0">
                <a:cs typeface="Times New Roman" pitchFamily="18" charset="0"/>
              </a:rPr>
              <a:t>.</a:t>
            </a:r>
            <a:endParaRPr lang="en-US" sz="1400" dirty="0">
              <a:solidFill>
                <a:srgbClr val="000000"/>
              </a:solidFill>
              <a:latin typeface="Times New Roman" pitchFamily="18" charset="0"/>
              <a:cs typeface="Times New Roman" pitchFamily="18" charset="0"/>
            </a:endParaRPr>
          </a:p>
          <a:p>
            <a:pPr marL="274320" indent="-274320" defTabSz="714375" eaLnBrk="0" hangingPunct="0">
              <a:lnSpc>
                <a:spcPct val="105000"/>
              </a:lnSpc>
              <a:spcBef>
                <a:spcPts val="18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Clean </a:t>
            </a:r>
            <a:r>
              <a:rPr lang="en-US" sz="2000" dirty="0">
                <a:cs typeface="Times New Roman" pitchFamily="18" charset="0"/>
              </a:rPr>
              <a:t>Up</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Examine and modify object properties.</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Examine, modify, and create relationships.</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Edit SQL.</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Add Multilingual support.</a:t>
            </a:r>
          </a:p>
        </p:txBody>
      </p:sp>
      <p:sp>
        <p:nvSpPr>
          <p:cNvPr id="4" name="Rectangle 3"/>
          <p:cNvSpPr/>
          <p:nvPr/>
        </p:nvSpPr>
        <p:spPr>
          <a:xfrm>
            <a:off x="368300" y="1587500"/>
            <a:ext cx="155448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Prepare Metadata</a:t>
            </a:r>
            <a:endParaRPr lang="en-US" sz="1600" dirty="0"/>
          </a:p>
        </p:txBody>
      </p:sp>
      <p:sp>
        <p:nvSpPr>
          <p:cNvPr id="5"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2"/>
          <p:cNvSpPr txBox="1">
            <a:spLocks noChangeArrowheads="1"/>
          </p:cNvSpPr>
          <p:nvPr/>
        </p:nvSpPr>
        <p:spPr bwMode="auto">
          <a:xfrm>
            <a:off x="371476" y="1130300"/>
            <a:ext cx="9145852"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Prepare Metadata</a:t>
            </a:r>
            <a:endParaRPr lang="en-US" sz="1400" b="1" dirty="0" smtClean="0">
              <a:solidFill>
                <a:srgbClr val="000000"/>
              </a:solidFill>
              <a:latin typeface="Times New Roman" pitchFamily="18" charset="0"/>
              <a:cs typeface="Times New Roman" pitchFamily="18" charset="0"/>
            </a:endParaRPr>
          </a:p>
          <a:p>
            <a:pPr marL="274320" indent="-274320" defTabSz="714375" eaLnBrk="0" hangingPunct="0">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Usage Property:</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Identifier </a:t>
            </a:r>
            <a:r>
              <a:rPr lang="en-US" sz="1400" dirty="0">
                <a:cs typeface="Times New Roman" pitchFamily="18" charset="0"/>
              </a:rPr>
              <a:t>– A column to group or summarize the data with which it has relationship, such as, Index columns, Date, time columns. Product Number and Date of Joining.</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Fact </a:t>
            </a:r>
            <a:r>
              <a:rPr lang="en-US" sz="1400" dirty="0">
                <a:cs typeface="Times New Roman" pitchFamily="18" charset="0"/>
              </a:rPr>
              <a:t>- Column contains numeric data and can be a group or summarize, such as, Product cost and Date </a:t>
            </a:r>
            <a:r>
              <a:rPr lang="en-US" sz="1400" dirty="0" smtClean="0">
                <a:cs typeface="Times New Roman" pitchFamily="18" charset="0"/>
              </a:rPr>
              <a:t> ranges</a:t>
            </a:r>
            <a:r>
              <a:rPr lang="en-US" sz="1400" dirty="0">
                <a:cs typeface="Times New Roman" pitchFamily="18" charset="0"/>
              </a:rPr>
              <a:t>. </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Attribute </a:t>
            </a:r>
            <a:r>
              <a:rPr lang="en-US" sz="1400" dirty="0">
                <a:cs typeface="Times New Roman" pitchFamily="18" charset="0"/>
              </a:rPr>
              <a:t>- A column which is neither a fact or Identifier, such as description, Product name.</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Unknown </a:t>
            </a:r>
            <a:r>
              <a:rPr lang="en-US" sz="1400" dirty="0">
                <a:cs typeface="Times New Roman" pitchFamily="18" charset="0"/>
              </a:rPr>
              <a:t>- Not defined in the usage </a:t>
            </a:r>
            <a:r>
              <a:rPr lang="en-US" sz="1400" dirty="0" smtClean="0">
                <a:cs typeface="Times New Roman" pitchFamily="18" charset="0"/>
              </a:rPr>
              <a:t>properties.</a:t>
            </a:r>
          </a:p>
          <a:p>
            <a:pPr marL="274320" indent="-274320" defTabSz="714375" eaLnBrk="0" hangingPunct="0">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Cardinality:</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0..1 : Zero occurrences to one occurrences</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1..n: One occurrence to Multi occurrences</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0…1: Zero occurrence to one occurrence</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1…1:Must have one occurrence.</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(0/1): Optional or Mandatory.</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(1/n): Minimum or Maximum.</a:t>
            </a:r>
          </a:p>
        </p:txBody>
      </p:sp>
      <p:sp>
        <p:nvSpPr>
          <p:cNvPr id="7"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2"/>
          <p:cNvSpPr txBox="1">
            <a:spLocks noChangeArrowheads="1"/>
          </p:cNvSpPr>
          <p:nvPr/>
        </p:nvSpPr>
        <p:spPr bwMode="auto">
          <a:xfrm>
            <a:off x="371476" y="1130300"/>
            <a:ext cx="9145852" cy="50292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Determinants</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A determinant is the set of query items that can be used to uniquely identify a set of data.</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Determinants are imported based on key and index information in the data source.</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We recommend that you always review the determinants that are imported.</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Model query subjects do not have determinants defined for them automatically. If determinants are needed, you must define them manually.</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Stored procedure query subjects do not have determinants.</a:t>
            </a:r>
          </a:p>
          <a:p>
            <a:pPr marL="457200" lvl="1"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You cannot use determinants with user-entered SQL.</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dirty="0" smtClean="0">
              <a:cs typeface="Times New Roman" pitchFamily="18" charset="0"/>
            </a:endParaRPr>
          </a:p>
        </p:txBody>
      </p:sp>
      <p:sp>
        <p:nvSpPr>
          <p:cNvPr id="7"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914400" fontAlgn="base">
              <a:lnSpc>
                <a:spcPct val="100000"/>
              </a:lnSpc>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dirty="0" smtClean="0">
                <a:cs typeface="Arial" pitchFamily="34" charset="0"/>
              </a:rPr>
              <a:t>Framework Manager (contd…)</a:t>
            </a:r>
          </a:p>
        </p:txBody>
      </p:sp>
      <p:pic>
        <p:nvPicPr>
          <p:cNvPr id="3" name="Picture 2"/>
          <p:cNvPicPr/>
          <p:nvPr/>
        </p:nvPicPr>
        <p:blipFill>
          <a:blip r:embed="rId2" cstate="print"/>
          <a:srcRect/>
          <a:stretch>
            <a:fillRect/>
          </a:stretch>
        </p:blipFill>
        <p:spPr bwMode="auto">
          <a:xfrm>
            <a:off x="1143000" y="1219200"/>
            <a:ext cx="7543800" cy="44958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8300" y="1587500"/>
            <a:ext cx="182880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Prepare Business View</a:t>
            </a:r>
            <a:endParaRPr lang="en-US" sz="1600" dirty="0"/>
          </a:p>
        </p:txBody>
      </p:sp>
      <p:sp>
        <p:nvSpPr>
          <p:cNvPr id="5" name="Text Box 2"/>
          <p:cNvSpPr txBox="1">
            <a:spLocks noChangeArrowheads="1"/>
          </p:cNvSpPr>
          <p:nvPr/>
        </p:nvSpPr>
        <p:spPr bwMode="auto">
          <a:xfrm>
            <a:off x="2648318" y="1130300"/>
            <a:ext cx="6858000" cy="45720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To </a:t>
            </a:r>
            <a:r>
              <a:rPr lang="en-US" sz="2000" dirty="0">
                <a:cs typeface="Times New Roman" pitchFamily="18" charset="0"/>
              </a:rPr>
              <a:t>enhance the business view of the model, you can:</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Create one or more presentation views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Add calculations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Create and apply filters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Add prompts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Create dynamic queries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Use star schema groupings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Specify Determinants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Model dimensionally of OLAP style queries</a:t>
            </a:r>
          </a:p>
        </p:txBody>
      </p:sp>
      <p:sp>
        <p:nvSpPr>
          <p:cNvPr id="6"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378744" y="1142256"/>
            <a:ext cx="9144000" cy="45720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Business View Preparation</a:t>
            </a: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Calculations: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To </a:t>
            </a:r>
            <a:r>
              <a:rPr lang="en-US" sz="1600" dirty="0">
                <a:cs typeface="Times New Roman" pitchFamily="18" charset="0"/>
              </a:rPr>
              <a:t>add calculated columns, use the following for calculations: </a:t>
            </a:r>
          </a:p>
          <a:p>
            <a:pPr marL="640080" lvl="1" indent="-182880">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Query items</a:t>
            </a:r>
          </a:p>
          <a:p>
            <a:pPr marL="640080" lvl="1" indent="-182880">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Parameters</a:t>
            </a:r>
          </a:p>
          <a:p>
            <a:pPr marL="640080" lvl="1" indent="-182880">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Functions</a:t>
            </a: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Filters: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There are two types of User Interface filters available in Framework manager.</a:t>
            </a:r>
          </a:p>
          <a:p>
            <a:pPr marL="640080" lvl="1" indent="-182880">
              <a:lnSpc>
                <a:spcPct val="95000"/>
              </a:lnSpc>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Stand-alone: Reusable in multiple Query Subjects</a:t>
            </a:r>
          </a:p>
          <a:p>
            <a:pPr marL="640080" lvl="1" indent="-182880">
              <a:lnSpc>
                <a:spcPct val="95000"/>
              </a:lnSpc>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Embedded: For a Single Query Subject</a:t>
            </a:r>
          </a:p>
        </p:txBody>
      </p:sp>
      <p:sp>
        <p:nvSpPr>
          <p:cNvPr id="8"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8300" y="1595120"/>
            <a:ext cx="182880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Create &amp; Manage Packages</a:t>
            </a:r>
            <a:endParaRPr lang="en-US" sz="1600" dirty="0"/>
          </a:p>
        </p:txBody>
      </p:sp>
      <p:sp>
        <p:nvSpPr>
          <p:cNvPr id="5" name="Text Box 2"/>
          <p:cNvSpPr txBox="1">
            <a:spLocks noChangeArrowheads="1"/>
          </p:cNvSpPr>
          <p:nvPr/>
        </p:nvSpPr>
        <p:spPr bwMode="auto">
          <a:xfrm>
            <a:off x="3111500" y="1130299"/>
            <a:ext cx="6400800" cy="41148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To create and manage packages, you can</a:t>
            </a:r>
            <a:r>
              <a:rPr lang="en-US" sz="2000" dirty="0">
                <a:cs typeface="Times New Roman" pitchFamily="18" charset="0"/>
              </a:rPr>
              <a:t>:</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Define the package contents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Modify a package</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Specify languages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Set governors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View package inclusion</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Enable versioning</a:t>
            </a:r>
          </a:p>
        </p:txBody>
      </p:sp>
      <p:sp>
        <p:nvSpPr>
          <p:cNvPr id="6"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2197100" y="1121296"/>
            <a:ext cx="7315200" cy="45720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Cognos 11 </a:t>
            </a:r>
            <a:r>
              <a:rPr lang="en-US" sz="2000" dirty="0">
                <a:cs typeface="Times New Roman" pitchFamily="18" charset="0"/>
              </a:rPr>
              <a:t>security is implemented through user authentication and authorized access to content. </a:t>
            </a:r>
          </a:p>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To </a:t>
            </a:r>
            <a:r>
              <a:rPr lang="en-US" sz="2000" dirty="0">
                <a:cs typeface="Times New Roman" pitchFamily="18" charset="0"/>
              </a:rPr>
              <a:t>set security in Framework Manager, you can:</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Define access to packages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Create security filters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Define access to objects</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Define package administration access</a:t>
            </a:r>
          </a:p>
          <a:p>
            <a:pPr marL="569913" lvl="1" indent="-228600">
              <a:lnSpc>
                <a:spcPct val="95000"/>
              </a:lnSpc>
              <a:spcBef>
                <a:spcPts val="613"/>
              </a:spcBef>
              <a:spcAft>
                <a:spcPts val="263"/>
              </a:spcAft>
              <a:buClr>
                <a:srgbClr val="009999"/>
              </a:buClr>
              <a:buSzPct val="80000"/>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400" dirty="0">
              <a:solidFill>
                <a:srgbClr val="000000"/>
              </a:solidFill>
              <a:latin typeface="Times New Roman" pitchFamily="18" charset="0"/>
              <a:cs typeface="Times New Roman" pitchFamily="18" charset="0"/>
            </a:endParaRPr>
          </a:p>
        </p:txBody>
      </p:sp>
      <p:sp>
        <p:nvSpPr>
          <p:cNvPr id="5" name="Rectangle 4"/>
          <p:cNvSpPr/>
          <p:nvPr/>
        </p:nvSpPr>
        <p:spPr>
          <a:xfrm>
            <a:off x="377962" y="1587500"/>
            <a:ext cx="164592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Set Security</a:t>
            </a:r>
            <a:endParaRPr lang="en-US" sz="1600" dirty="0"/>
          </a:p>
        </p:txBody>
      </p:sp>
      <p:sp>
        <p:nvSpPr>
          <p:cNvPr id="8"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2648318" y="1130300"/>
            <a:ext cx="6858000" cy="4572000"/>
          </a:xfrm>
          <a:prstGeom prst="rect">
            <a:avLst/>
          </a:prstGeom>
          <a:noFill/>
          <a:ln w="9525">
            <a:noFill/>
            <a:round/>
            <a:headEnd/>
            <a:tailEnd/>
          </a:ln>
        </p:spPr>
        <p:txBody>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cs typeface="Times New Roman" pitchFamily="18" charset="0"/>
              </a:rPr>
              <a:t>Perform project management activities such as</a:t>
            </a:r>
            <a:r>
              <a:rPr lang="en-US" sz="2000" dirty="0">
                <a:cs typeface="Times New Roman" pitchFamily="18" charset="0"/>
              </a:rPr>
              <a:t>:</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Implementing multiuser modeling</a:t>
            </a:r>
          </a:p>
          <a:p>
            <a:pPr marL="640080" lvl="1" indent="-182880">
              <a:lnSpc>
                <a:spcPct val="95000"/>
              </a:lnSpc>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Repository control</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Sharing and reusing information</a:t>
            </a:r>
          </a:p>
          <a:p>
            <a:pPr marL="640080" lvl="1" indent="-182880">
              <a:lnSpc>
                <a:spcPct val="95000"/>
              </a:lnSpc>
              <a:spcBef>
                <a:spcPts val="600"/>
              </a:spcBef>
              <a:spcAft>
                <a:spcPts val="600"/>
              </a:spcAft>
              <a:buClr>
                <a:schemeClr val="accent2"/>
              </a:buClr>
              <a:buSzPct val="8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Segmenting and linking</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Action logging and synchronizing</a:t>
            </a:r>
          </a:p>
          <a:p>
            <a:pPr marL="457200" lvl="1" indent="-182880" defTabSz="714375" eaLnBrk="0" hangingPunct="0">
              <a:lnSpc>
                <a:spcPct val="9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a:cs typeface="Times New Roman" pitchFamily="18" charset="0"/>
              </a:rPr>
              <a:t>Project </a:t>
            </a:r>
            <a:r>
              <a:rPr lang="en-US" sz="1600" dirty="0" smtClean="0">
                <a:cs typeface="Times New Roman" pitchFamily="18" charset="0"/>
              </a:rPr>
              <a:t>verification</a:t>
            </a:r>
            <a:endParaRPr lang="en-US" sz="1600" dirty="0">
              <a:cs typeface="Times New Roman" pitchFamily="18" charset="0"/>
            </a:endParaRPr>
          </a:p>
        </p:txBody>
      </p:sp>
      <p:sp>
        <p:nvSpPr>
          <p:cNvPr id="6" name="Rectangle 5"/>
          <p:cNvSpPr/>
          <p:nvPr/>
        </p:nvSpPr>
        <p:spPr>
          <a:xfrm>
            <a:off x="368300" y="1587500"/>
            <a:ext cx="1828800" cy="6400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Manage Project</a:t>
            </a:r>
            <a:endParaRPr lang="en-US" sz="1600" dirty="0"/>
          </a:p>
        </p:txBody>
      </p:sp>
      <p:sp>
        <p:nvSpPr>
          <p:cNvPr id="8"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3"/>
          <p:cNvSpPr>
            <a:spLocks noGrp="1" noChangeArrowheads="1"/>
          </p:cNvSpPr>
          <p:nvPr>
            <p:ph idx="1"/>
          </p:nvPr>
        </p:nvSpPr>
        <p:spPr/>
        <p:txBody>
          <a:bodyPr lIns="91440" tIns="45720" rIns="91440" bIns="45720"/>
          <a:lstStyle/>
          <a:p>
            <a:pPr marL="274320" indent="-274320" defTabSz="714375" eaLnBrk="0" hangingPunct="0">
              <a:lnSpc>
                <a:spcPct val="105000"/>
              </a:lnSpc>
              <a:spcBef>
                <a:spcPts val="12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a:cs typeface="Times New Roman" pitchFamily="18" charset="0"/>
              </a:rPr>
              <a:t>A relational data source should be dimensionally modeled when you want to do one or more of the following:</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Use </a:t>
            </a:r>
            <a:r>
              <a:rPr lang="en-US" sz="1600" dirty="0">
                <a:cs typeface="Times New Roman" pitchFamily="18" charset="0"/>
              </a:rPr>
              <a:t>Analysis Studio</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Enable </a:t>
            </a:r>
            <a:r>
              <a:rPr lang="en-US" sz="1600" dirty="0">
                <a:cs typeface="Times New Roman" pitchFamily="18" charset="0"/>
              </a:rPr>
              <a:t>drill functionality in reports</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Access </a:t>
            </a:r>
            <a:r>
              <a:rPr lang="en-US" sz="1600" dirty="0">
                <a:cs typeface="Times New Roman" pitchFamily="18" charset="0"/>
              </a:rPr>
              <a:t>member functions in the report authoring tools</a:t>
            </a:r>
          </a:p>
        </p:txBody>
      </p:sp>
      <p:sp>
        <p:nvSpPr>
          <p:cNvPr id="6" name="Slide Number Placeholder 5"/>
          <p:cNvSpPr>
            <a:spLocks noGrp="1"/>
          </p:cNvSpPr>
          <p:nvPr>
            <p:ph type="sldNum" sz="quarter" idx="4294967295"/>
          </p:nvPr>
        </p:nvSpPr>
        <p:spPr>
          <a:xfrm>
            <a:off x="8915400" y="6473952"/>
            <a:ext cx="822198" cy="246888"/>
          </a:xfrm>
          <a:prstGeom prst="rect">
            <a:avLst/>
          </a:prstGeom>
        </p:spPr>
        <p:txBody>
          <a:bodyPr anchor="ctr"/>
          <a:lstStyle/>
          <a:p>
            <a:pPr algn="r" fontAlgn="auto">
              <a:spcBef>
                <a:spcPts val="0"/>
              </a:spcBef>
              <a:spcAft>
                <a:spcPts val="0"/>
              </a:spcAft>
              <a:defRPr/>
            </a:pPr>
            <a:fld id="{E2E30F77-50DA-4BDF-9A0C-0E5C1ACD4A6B}" type="slidenum">
              <a:rPr lang="en-US" sz="1200">
                <a:solidFill>
                  <a:schemeClr val="tx1">
                    <a:tint val="75000"/>
                  </a:schemeClr>
                </a:solidFill>
                <a:latin typeface="+mn-lt"/>
              </a:rPr>
              <a:pPr algn="r" fontAlgn="auto">
                <a:spcBef>
                  <a:spcPts val="0"/>
                </a:spcBef>
                <a:spcAft>
                  <a:spcPts val="0"/>
                </a:spcAft>
                <a:defRPr/>
              </a:pPr>
              <a:t>23</a:t>
            </a:fld>
            <a:endParaRPr lang="en-US" sz="1200">
              <a:solidFill>
                <a:schemeClr val="tx1">
                  <a:tint val="75000"/>
                </a:schemeClr>
              </a:solidFill>
              <a:latin typeface="+mn-lt"/>
            </a:endParaRPr>
          </a:p>
        </p:txBody>
      </p:sp>
      <p:sp>
        <p:nvSpPr>
          <p:cNvPr id="7"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nvSpPr>
        <p:spPr>
          <a:xfrm>
            <a:off x="7099300" y="6356351"/>
            <a:ext cx="2311400" cy="365125"/>
          </a:xfrm>
          <a:prstGeom prst="rect">
            <a:avLst/>
          </a:prstGeom>
          <a:noFill/>
        </p:spPr>
        <p:txBody>
          <a:bodyPr anchor="ctr"/>
          <a:lstStyle/>
          <a:p>
            <a:pPr algn="r" fontAlgn="auto">
              <a:spcBef>
                <a:spcPts val="0"/>
              </a:spcBef>
              <a:spcAft>
                <a:spcPts val="0"/>
              </a:spcAft>
              <a:defRPr/>
            </a:pPr>
            <a:fld id="{3DFF58F2-93F3-41CC-9D70-CF23F64F515C}" type="slidenum">
              <a:rPr lang="en-US" sz="1200">
                <a:solidFill>
                  <a:schemeClr val="tx1">
                    <a:tint val="75000"/>
                  </a:schemeClr>
                </a:solidFill>
                <a:latin typeface="+mn-lt"/>
              </a:rPr>
              <a:pPr algn="r" fontAlgn="auto">
                <a:spcBef>
                  <a:spcPts val="0"/>
                </a:spcBef>
                <a:spcAft>
                  <a:spcPts val="0"/>
                </a:spcAft>
                <a:defRPr/>
              </a:pPr>
              <a:t>24</a:t>
            </a:fld>
            <a:endParaRPr lang="en-US" sz="1200">
              <a:solidFill>
                <a:schemeClr val="tx1">
                  <a:tint val="75000"/>
                </a:schemeClr>
              </a:solidFill>
              <a:latin typeface="+mn-lt"/>
            </a:endParaRPr>
          </a:p>
        </p:txBody>
      </p:sp>
      <p:sp>
        <p:nvSpPr>
          <p:cNvPr id="216069" name="Rectangle 3"/>
          <p:cNvSpPr>
            <a:spLocks noGrp="1" noChangeArrowheads="1"/>
          </p:cNvSpPr>
          <p:nvPr>
            <p:ph idx="1"/>
          </p:nvPr>
        </p:nvSpPr>
        <p:spPr/>
        <p:txBody>
          <a:bodyPr lIns="91440" tIns="45720" rIns="91440" bIns="45720"/>
          <a:lstStyle/>
          <a:p>
            <a:pPr marL="274320" indent="-274320" defTabSz="714375" eaLnBrk="0" hangingPunct="0">
              <a:lnSpc>
                <a:spcPct val="105000"/>
              </a:lnSpc>
              <a:spcBef>
                <a:spcPts val="12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a:cs typeface="Times New Roman" pitchFamily="18" charset="0"/>
              </a:rPr>
              <a:t>Following are the steps to create dimensional model in FM</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Create </a:t>
            </a:r>
            <a:r>
              <a:rPr lang="en-US" sz="1600" dirty="0">
                <a:cs typeface="Times New Roman" pitchFamily="18" charset="0"/>
              </a:rPr>
              <a:t>a regular dimension for groups of query subjects that have hierarchical relationships representing a single business concept</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Create </a:t>
            </a:r>
            <a:r>
              <a:rPr lang="en-US" sz="1600" dirty="0">
                <a:cs typeface="Times New Roman" pitchFamily="18" charset="0"/>
              </a:rPr>
              <a:t>a measure dimension for groups of query subjects that have factual data sharing many regular dimensions or having a master-detail type of relationship.</a:t>
            </a: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600" dirty="0" smtClean="0">
              <a:cs typeface="Times New Roman" pitchFamily="18" charset="0"/>
            </a:endParaRPr>
          </a:p>
          <a:p>
            <a:pPr lvl="1" indent="-182880" defTabSz="714375" eaLnBrk="0" hangingPunct="0">
              <a:lnSpc>
                <a:spcPct val="95000"/>
              </a:lnSpc>
              <a:spcBef>
                <a:spcPts val="600"/>
              </a:spcBef>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600" dirty="0" smtClean="0">
                <a:cs typeface="Times New Roman" pitchFamily="18" charset="0"/>
              </a:rPr>
              <a:t>Use </a:t>
            </a:r>
            <a:r>
              <a:rPr lang="en-US" sz="1600" dirty="0">
                <a:cs typeface="Times New Roman" pitchFamily="18" charset="0"/>
              </a:rPr>
              <a:t>the cardinality rules to identify areas of the model where the role of an object as fact or dimension is not clear</a:t>
            </a:r>
          </a:p>
          <a:p>
            <a:pPr eaLnBrk="1" hangingPunct="1">
              <a:buFontTx/>
              <a:buNone/>
            </a:pPr>
            <a:endParaRPr lang="en-US" sz="2000" dirty="0">
              <a:latin typeface="Arial" pitchFamily="34" charset="0"/>
              <a:cs typeface="Arial" pitchFamily="34" charset="0"/>
            </a:endParaRPr>
          </a:p>
          <a:p>
            <a:pPr eaLnBrk="1" hangingPunct="1">
              <a:buFontTx/>
              <a:buNone/>
            </a:pPr>
            <a:r>
              <a:rPr lang="en-US" sz="1400" b="1" dirty="0">
                <a:latin typeface="Arial" pitchFamily="34" charset="0"/>
                <a:cs typeface="Arial" pitchFamily="34" charset="0"/>
              </a:rPr>
              <a:t>	</a:t>
            </a:r>
            <a:endParaRPr lang="en-US" sz="2000" dirty="0">
              <a:latin typeface="Arial" pitchFamily="34" charset="0"/>
              <a:cs typeface="Arial" pitchFamily="34" charset="0"/>
            </a:endParaRPr>
          </a:p>
        </p:txBody>
      </p:sp>
      <p:sp>
        <p:nvSpPr>
          <p:cNvPr id="8"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3"/>
          <p:cNvSpPr>
            <a:spLocks noGrp="1" noChangeArrowheads="1"/>
          </p:cNvSpPr>
          <p:nvPr>
            <p:ph idx="1"/>
          </p:nvPr>
        </p:nvSpPr>
        <p:spPr/>
        <p:txBody>
          <a:bodyPr lIns="91440" tIns="45720" rIns="91440" bIns="45720">
            <a:noAutofit/>
          </a:bodyPr>
          <a:lstStyle/>
          <a:p>
            <a:pPr eaLnBrk="1" hangingPunct="1">
              <a:lnSpc>
                <a:spcPct val="150000"/>
              </a:lnSpc>
            </a:pPr>
            <a:r>
              <a:rPr lang="en-US" dirty="0" smtClean="0">
                <a:cs typeface="Times New Roman" pitchFamily="18" charset="0"/>
              </a:rPr>
              <a:t>Regular Dimension contains </a:t>
            </a:r>
            <a:r>
              <a:rPr lang="en-US" dirty="0">
                <a:cs typeface="Times New Roman" pitchFamily="18" charset="0"/>
              </a:rPr>
              <a:t>descriptive and business key information that provides context for data modeled in measure dimensions</a:t>
            </a:r>
          </a:p>
          <a:p>
            <a:pPr>
              <a:lnSpc>
                <a:spcPct val="150000"/>
              </a:lnSpc>
            </a:pPr>
            <a:r>
              <a:rPr lang="en-US" dirty="0">
                <a:cs typeface="Times New Roman" pitchFamily="18" charset="0"/>
              </a:rPr>
              <a:t>Organizes the information in a hierarchy from the highest level of granularity to the lowest.</a:t>
            </a:r>
          </a:p>
          <a:p>
            <a:pPr>
              <a:lnSpc>
                <a:spcPct val="150000"/>
              </a:lnSpc>
            </a:pPr>
            <a:r>
              <a:rPr lang="en-US" dirty="0">
                <a:cs typeface="Times New Roman" pitchFamily="18" charset="0"/>
              </a:rPr>
              <a:t>It has multiple levels and may have multiple key segments to define a level.</a:t>
            </a:r>
          </a:p>
          <a:p>
            <a:pPr>
              <a:lnSpc>
                <a:spcPct val="150000"/>
              </a:lnSpc>
            </a:pPr>
            <a:r>
              <a:rPr lang="en-US" dirty="0">
                <a:cs typeface="Times New Roman" pitchFamily="18" charset="0"/>
              </a:rPr>
              <a:t>It may also have multiple hierarchies.</a:t>
            </a:r>
          </a:p>
          <a:p>
            <a:pPr>
              <a:lnSpc>
                <a:spcPct val="150000"/>
              </a:lnSpc>
            </a:pPr>
            <a:r>
              <a:rPr lang="en-US" dirty="0">
                <a:cs typeface="Times New Roman" pitchFamily="18" charset="0"/>
              </a:rPr>
              <a:t>Can use only one hierarchy at a time in a query.</a:t>
            </a:r>
          </a:p>
          <a:p>
            <a:pPr>
              <a:lnSpc>
                <a:spcPct val="150000"/>
              </a:lnSpc>
            </a:pPr>
            <a:r>
              <a:rPr lang="en-US" dirty="0">
                <a:cs typeface="Times New Roman" pitchFamily="18" charset="0"/>
              </a:rPr>
              <a:t>To use two hierarchies in the same report, create two dimensions, one for each hierarchy</a:t>
            </a:r>
          </a:p>
          <a:p>
            <a:pPr>
              <a:lnSpc>
                <a:spcPct val="150000"/>
              </a:lnSpc>
            </a:pPr>
            <a:r>
              <a:rPr lang="en-US" dirty="0">
                <a:cs typeface="Times New Roman" pitchFamily="18" charset="0"/>
              </a:rPr>
              <a:t>Is broken into groups of information called levels. </a:t>
            </a:r>
          </a:p>
        </p:txBody>
      </p:sp>
      <p:sp>
        <p:nvSpPr>
          <p:cNvPr id="7" name="Slide Number Placeholder 5"/>
          <p:cNvSpPr>
            <a:spLocks noGrp="1"/>
          </p:cNvSpPr>
          <p:nvPr>
            <p:ph type="sldNum" sz="quarter" idx="4294967295"/>
          </p:nvPr>
        </p:nvSpPr>
        <p:spPr>
          <a:xfrm>
            <a:off x="8915400" y="6473952"/>
            <a:ext cx="822198" cy="246888"/>
          </a:xfrm>
          <a:prstGeom prst="rect">
            <a:avLst/>
          </a:prstGeom>
        </p:spPr>
        <p:txBody>
          <a:bodyPr anchor="ctr"/>
          <a:lstStyle/>
          <a:p>
            <a:pPr algn="r" fontAlgn="auto">
              <a:spcBef>
                <a:spcPts val="0"/>
              </a:spcBef>
              <a:spcAft>
                <a:spcPts val="0"/>
              </a:spcAft>
              <a:defRPr/>
            </a:pPr>
            <a:fld id="{D02BB322-07C7-4C23-BFAC-A4672B46B5BF}" type="slidenum">
              <a:rPr lang="en-US" sz="1200">
                <a:solidFill>
                  <a:schemeClr val="tx1">
                    <a:tint val="75000"/>
                  </a:schemeClr>
                </a:solidFill>
                <a:latin typeface="+mn-lt"/>
              </a:rPr>
              <a:pPr algn="r" fontAlgn="auto">
                <a:spcBef>
                  <a:spcPts val="0"/>
                </a:spcBef>
                <a:spcAft>
                  <a:spcPts val="0"/>
                </a:spcAft>
                <a:defRPr/>
              </a:pPr>
              <a:t>25</a:t>
            </a:fld>
            <a:endParaRPr lang="en-US" sz="1200">
              <a:solidFill>
                <a:schemeClr val="tx1">
                  <a:tint val="75000"/>
                </a:schemeClr>
              </a:solidFill>
              <a:latin typeface="+mn-lt"/>
            </a:endParaRPr>
          </a:p>
        </p:txBody>
      </p:sp>
      <p:sp>
        <p:nvSpPr>
          <p:cNvPr id="6"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lIns="91440" tIns="45720" rIns="91440" bIns="45720"/>
          <a:lstStyle/>
          <a:p>
            <a:pPr>
              <a:lnSpc>
                <a:spcPct val="150000"/>
              </a:lnSpc>
            </a:pPr>
            <a:r>
              <a:rPr lang="en-US" dirty="0" smtClean="0">
                <a:cs typeface="Times New Roman" pitchFamily="18" charset="0"/>
              </a:rPr>
              <a:t>Measure Dimension is a </a:t>
            </a:r>
            <a:r>
              <a:rPr lang="en-US" dirty="0">
                <a:cs typeface="Times New Roman" pitchFamily="18" charset="0"/>
              </a:rPr>
              <a:t>collection of facts.</a:t>
            </a:r>
          </a:p>
          <a:p>
            <a:pPr>
              <a:lnSpc>
                <a:spcPct val="150000"/>
              </a:lnSpc>
            </a:pPr>
            <a:r>
              <a:rPr lang="en-US" dirty="0">
                <a:cs typeface="Times New Roman" pitchFamily="18" charset="0"/>
              </a:rPr>
              <a:t>Can be created for one or more query subjects that have a valid relationship between them.</a:t>
            </a:r>
          </a:p>
          <a:p>
            <a:pPr>
              <a:lnSpc>
                <a:spcPct val="150000"/>
              </a:lnSpc>
            </a:pPr>
            <a:r>
              <a:rPr lang="en-US" dirty="0">
                <a:cs typeface="Times New Roman" pitchFamily="18" charset="0"/>
              </a:rPr>
              <a:t>Represent the quantitative data described by regular dimensions.</a:t>
            </a:r>
          </a:p>
          <a:p>
            <a:pPr>
              <a:lnSpc>
                <a:spcPct val="150000"/>
              </a:lnSpc>
            </a:pPr>
            <a:r>
              <a:rPr lang="en-US" dirty="0">
                <a:cs typeface="Times New Roman" pitchFamily="18" charset="0"/>
              </a:rPr>
              <a:t>Differ from fact query subjects </a:t>
            </a:r>
          </a:p>
          <a:p>
            <a:pPr marL="0" lvl="1">
              <a:lnSpc>
                <a:spcPct val="150000"/>
              </a:lnSpc>
              <a:buSzPct val="100000"/>
              <a:buFont typeface="Wingdings" pitchFamily="2" charset="2"/>
              <a:buChar char="§"/>
            </a:pPr>
            <a:r>
              <a:rPr lang="en-US" sz="2000" dirty="0">
                <a:cs typeface="Times New Roman" pitchFamily="18" charset="0"/>
              </a:rPr>
              <a:t>They do not include the foreign keys used to join a fact query subject to a dimensional query subject.</a:t>
            </a:r>
          </a:p>
          <a:p>
            <a:pPr marL="457200" indent="-457200">
              <a:lnSpc>
                <a:spcPct val="150000"/>
              </a:lnSpc>
            </a:pPr>
            <a:endParaRPr lang="en-US" sz="2000" dirty="0">
              <a:latin typeface="Arial" pitchFamily="34" charset="0"/>
              <a:cs typeface="Arial" pitchFamily="34" charset="0"/>
            </a:endParaRPr>
          </a:p>
        </p:txBody>
      </p:sp>
      <p:sp>
        <p:nvSpPr>
          <p:cNvPr id="5"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3"/>
          <p:cNvSpPr>
            <a:spLocks noGrp="1" noChangeArrowheads="1"/>
          </p:cNvSpPr>
          <p:nvPr>
            <p:ph idx="1"/>
          </p:nvPr>
        </p:nvSpPr>
        <p:spPr/>
        <p:txBody>
          <a:bodyPr lIns="91440" tIns="45720" rIns="91440" bIns="45720"/>
          <a:lstStyle/>
          <a:p>
            <a:pPr eaLnBrk="1" hangingPunct="1">
              <a:buFontTx/>
              <a:buNone/>
            </a:pPr>
            <a:r>
              <a:rPr lang="en-US" sz="1400" b="1" dirty="0">
                <a:latin typeface="Arial" pitchFamily="34" charset="0"/>
                <a:cs typeface="Arial" pitchFamily="34" charset="0"/>
              </a:rPr>
              <a:t>	</a:t>
            </a:r>
            <a:r>
              <a:rPr lang="en-US" dirty="0">
                <a:cs typeface="Times New Roman" pitchFamily="18" charset="0"/>
              </a:rPr>
              <a:t>To simplify the model in this example, create a model query subject that combines the foreign keys of both Order Header and Order Details and includes all measures at the Order Detail level. Then create a measure dimension based on the model query subject. </a:t>
            </a:r>
          </a:p>
        </p:txBody>
      </p:sp>
      <p:sp>
        <p:nvSpPr>
          <p:cNvPr id="7" name="Slide Number Placeholder 5"/>
          <p:cNvSpPr>
            <a:spLocks noGrp="1"/>
          </p:cNvSpPr>
          <p:nvPr>
            <p:ph type="sldNum" sz="quarter" idx="4294967295"/>
          </p:nvPr>
        </p:nvSpPr>
        <p:spPr>
          <a:xfrm>
            <a:off x="8915400" y="6473952"/>
            <a:ext cx="822198" cy="246888"/>
          </a:xfrm>
          <a:prstGeom prst="rect">
            <a:avLst/>
          </a:prstGeom>
        </p:spPr>
        <p:txBody>
          <a:bodyPr anchor="ctr"/>
          <a:lstStyle/>
          <a:p>
            <a:pPr algn="r" fontAlgn="auto">
              <a:spcBef>
                <a:spcPts val="0"/>
              </a:spcBef>
              <a:spcAft>
                <a:spcPts val="0"/>
              </a:spcAft>
              <a:defRPr/>
            </a:pPr>
            <a:fld id="{F06FED8D-D7C4-4ED7-AF4E-9847B6FD2929}" type="slidenum">
              <a:rPr lang="en-US" sz="1200">
                <a:solidFill>
                  <a:schemeClr val="tx1">
                    <a:tint val="75000"/>
                  </a:schemeClr>
                </a:solidFill>
                <a:latin typeface="+mn-lt"/>
              </a:rPr>
              <a:pPr algn="r" fontAlgn="auto">
                <a:spcBef>
                  <a:spcPts val="0"/>
                </a:spcBef>
                <a:spcAft>
                  <a:spcPts val="0"/>
                </a:spcAft>
                <a:defRPr/>
              </a:pPr>
              <a:t>27</a:t>
            </a:fld>
            <a:endParaRPr lang="en-US" sz="1200">
              <a:solidFill>
                <a:schemeClr val="tx1">
                  <a:tint val="75000"/>
                </a:schemeClr>
              </a:solidFill>
              <a:latin typeface="+mn-lt"/>
            </a:endParaRPr>
          </a:p>
        </p:txBody>
      </p:sp>
      <p:pic>
        <p:nvPicPr>
          <p:cNvPr id="44038" name="Picture 4"/>
          <p:cNvPicPr>
            <a:picLocks noChangeAspect="1" noChangeArrowheads="1"/>
          </p:cNvPicPr>
          <p:nvPr/>
        </p:nvPicPr>
        <p:blipFill>
          <a:blip r:embed="rId3" cstate="print"/>
          <a:srcRect/>
          <a:stretch>
            <a:fillRect/>
          </a:stretch>
        </p:blipFill>
        <p:spPr bwMode="auto">
          <a:xfrm>
            <a:off x="2146300" y="2667000"/>
            <a:ext cx="5695950" cy="3200400"/>
          </a:xfrm>
          <a:prstGeom prst="rect">
            <a:avLst/>
          </a:prstGeom>
          <a:noFill/>
          <a:ln w="9525">
            <a:noFill/>
            <a:miter lim="800000"/>
            <a:headEnd/>
            <a:tailEnd/>
          </a:ln>
        </p:spPr>
      </p:pic>
      <p:sp>
        <p:nvSpPr>
          <p:cNvPr id="8" name="Rectangle 1"/>
          <p:cNvSpPr txBox="1">
            <a:spLocks noChangeArrowheads="1"/>
          </p:cNvSpPr>
          <p:nvPr/>
        </p:nvSpPr>
        <p:spPr bwMode="black">
          <a:xfrm>
            <a:off x="-2852" y="0"/>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p:cNvSpPr>
            <a:spLocks noChangeArrowheads="1"/>
          </p:cNvSpPr>
          <p:nvPr/>
        </p:nvSpPr>
        <p:spPr bwMode="auto">
          <a:xfrm>
            <a:off x="368300" y="1116236"/>
            <a:ext cx="8928100" cy="891013"/>
          </a:xfrm>
          <a:prstGeom prst="rect">
            <a:avLst/>
          </a:prstGeom>
          <a:noFill/>
          <a:ln w="9525">
            <a:noFill/>
            <a:miter lim="800000"/>
            <a:headEnd/>
            <a:tailEnd/>
          </a:ln>
          <a:effectLst/>
        </p:spPr>
        <p:txBody>
          <a:bodyPr>
            <a:spAutoFit/>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Model </a:t>
            </a:r>
            <a:r>
              <a:rPr lang="en-US" sz="1800" dirty="0">
                <a:cs typeface="Times New Roman" pitchFamily="18" charset="0"/>
              </a:rPr>
              <a:t>Design </a:t>
            </a:r>
            <a:r>
              <a:rPr lang="en-US" sz="1800" dirty="0" smtClean="0">
                <a:cs typeface="Times New Roman" pitchFamily="18" charset="0"/>
              </a:rPr>
              <a:t>Accelerator</a:t>
            </a:r>
            <a:endParaRPr lang="en-US" sz="1800" dirty="0">
              <a:cs typeface="Times New Roman" pitchFamily="18" charset="0"/>
            </a:endParaRP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Visual </a:t>
            </a:r>
            <a:r>
              <a:rPr lang="en-US" sz="1400" dirty="0">
                <a:cs typeface="Times New Roman" pitchFamily="18" charset="0"/>
              </a:rPr>
              <a:t>design tool in Framework Manager for modelers to  easily create new models more quickly and leverage proven practices</a:t>
            </a:r>
          </a:p>
        </p:txBody>
      </p:sp>
      <p:sp>
        <p:nvSpPr>
          <p:cNvPr id="150533" name="Rectangle 5"/>
          <p:cNvSpPr>
            <a:spLocks noChangeArrowheads="1"/>
          </p:cNvSpPr>
          <p:nvPr/>
        </p:nvSpPr>
        <p:spPr bwMode="auto">
          <a:xfrm>
            <a:off x="374204" y="2276872"/>
            <a:ext cx="5400600" cy="2722284"/>
          </a:xfrm>
          <a:prstGeom prst="rect">
            <a:avLst/>
          </a:prstGeom>
          <a:noFill/>
          <a:ln w="9525">
            <a:noFill/>
            <a:miter lim="800000"/>
            <a:headEnd/>
            <a:tailEnd/>
          </a:ln>
          <a:effectLst/>
        </p:spPr>
        <p:txBody>
          <a:bodyPr wrap="square">
            <a:spAutoFit/>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Key Capabilities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Quick and easy way for new modelers to create </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Framework Manager models through a simplified, guided, and automated tool</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Provides a jump start to the model design process for experienced modelers, who  can then augment models in Framework Manager for more complex requirements</a:t>
            </a:r>
          </a:p>
          <a:p>
            <a:pPr marL="457200" lvl="1" indent="-182880" defTabSz="714375" eaLnBrk="0" hangingPunct="0">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Guides modelers through proven practices and helps to correct and validate common errors</a:t>
            </a:r>
          </a:p>
        </p:txBody>
      </p:sp>
      <p:sp>
        <p:nvSpPr>
          <p:cNvPr id="150534" name="Rectangle 6"/>
          <p:cNvSpPr>
            <a:spLocks noChangeArrowheads="1"/>
          </p:cNvSpPr>
          <p:nvPr/>
        </p:nvSpPr>
        <p:spPr bwMode="auto">
          <a:xfrm>
            <a:off x="378397" y="4995173"/>
            <a:ext cx="9146604" cy="1260345"/>
          </a:xfrm>
          <a:prstGeom prst="rect">
            <a:avLst/>
          </a:prstGeom>
          <a:noFill/>
          <a:ln w="9525">
            <a:noFill/>
            <a:miter lim="800000"/>
            <a:headEnd/>
            <a:tailEnd/>
          </a:ln>
          <a:effectLst/>
        </p:spPr>
        <p:txBody>
          <a:bodyPr wrap="square">
            <a:spAutoFit/>
          </a:bodyPr>
          <a:lstStyle/>
          <a:p>
            <a:pPr marL="274320" indent="-274320" defTabSz="714375" eaLnBrk="0" hangingPunct="0">
              <a:lnSpc>
                <a:spcPct val="105000"/>
              </a:lnSpc>
              <a:spcBef>
                <a:spcPts val="12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Benefits</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Allows new models to easier and quickly build and deploy new models</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Expedites the modeling design process through easy, guided and automated model creation</a:t>
            </a:r>
          </a:p>
          <a:p>
            <a:pPr marL="457200" lvl="1"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Leverages proven practices to reduce common errors and to improve delivery of models</a:t>
            </a:r>
          </a:p>
        </p:txBody>
      </p:sp>
      <p:pic>
        <p:nvPicPr>
          <p:cNvPr id="150535" name="Picture 7"/>
          <p:cNvPicPr>
            <a:picLocks noChangeAspect="1" noChangeArrowheads="1"/>
          </p:cNvPicPr>
          <p:nvPr/>
        </p:nvPicPr>
        <p:blipFill>
          <a:blip r:embed="rId2" cstate="print"/>
          <a:srcRect/>
          <a:stretch>
            <a:fillRect/>
          </a:stretch>
        </p:blipFill>
        <p:spPr bwMode="auto">
          <a:xfrm>
            <a:off x="5816600" y="2384425"/>
            <a:ext cx="3519488" cy="2720975"/>
          </a:xfrm>
          <a:prstGeom prst="rect">
            <a:avLst/>
          </a:prstGeom>
          <a:noFill/>
          <a:ln w="9525">
            <a:noFill/>
            <a:miter lim="800000"/>
            <a:headEnd/>
            <a:tailEnd/>
          </a:ln>
          <a:effectLst/>
        </p:spPr>
      </p:pic>
      <p:sp>
        <p:nvSpPr>
          <p:cNvPr id="7"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498776" y="1052736"/>
            <a:ext cx="9144000" cy="5045997"/>
          </a:xfrm>
          <a:prstGeom prst="rect">
            <a:avLst/>
          </a:prstGeom>
          <a:noFill/>
          <a:ln w="9525">
            <a:noFill/>
            <a:miter lim="800000"/>
            <a:headEnd/>
            <a:tailEnd/>
          </a:ln>
          <a:effectLst/>
        </p:spPr>
        <p:txBody>
          <a:bodyPr wrap="square">
            <a:spAutoFit/>
          </a:bodyPr>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Model Design Accelerator</a:t>
            </a:r>
            <a:endParaRPr lang="en-US" sz="1400" dirty="0" smtClean="0">
              <a:latin typeface="Times New Roman" pitchFamily="18" charset="0"/>
              <a:cs typeface="Times New Roman" pitchFamily="18" charset="0"/>
            </a:endParaRPr>
          </a:p>
          <a:p>
            <a:pPr marL="274320" indent="-274320" defTabSz="714375" eaLnBrk="0" hangingPunct="0">
              <a:lnSpc>
                <a:spcPct val="105000"/>
              </a:lnSpc>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Key Facts</a:t>
            </a:r>
          </a:p>
          <a:p>
            <a:pPr marL="457200"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Visual </a:t>
            </a:r>
            <a:r>
              <a:rPr lang="en-US" sz="1400" dirty="0">
                <a:cs typeface="Times New Roman" pitchFamily="18" charset="0"/>
              </a:rPr>
              <a:t>design tool to jump start the building of new multi-layer Framework Manager models (</a:t>
            </a:r>
            <a:r>
              <a:rPr lang="en-US" sz="1400" dirty="0" smtClean="0">
                <a:cs typeface="Times New Roman" pitchFamily="18" charset="0"/>
              </a:rPr>
              <a:t>from within </a:t>
            </a:r>
            <a:r>
              <a:rPr lang="en-US" sz="1400" dirty="0">
                <a:cs typeface="Times New Roman" pitchFamily="18" charset="0"/>
              </a:rPr>
              <a:t>Framework manager) for creating relational packages </a:t>
            </a:r>
            <a:r>
              <a:rPr lang="en-US" sz="1400" dirty="0" smtClean="0">
                <a:cs typeface="Times New Roman" pitchFamily="18" charset="0"/>
              </a:rPr>
              <a:t>only</a:t>
            </a:r>
            <a:endParaRPr lang="en-US" sz="1400" dirty="0">
              <a:cs typeface="Times New Roman" pitchFamily="18" charset="0"/>
            </a:endParaRPr>
          </a:p>
          <a:p>
            <a:pPr marL="457200"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Allows new modelers to easily create new models more quickly and leverage proven practices…</a:t>
            </a:r>
          </a:p>
          <a:p>
            <a:pPr marL="457200"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Work from an empty Star schema </a:t>
            </a:r>
            <a:r>
              <a:rPr lang="en-US" sz="1400" dirty="0" smtClean="0">
                <a:cs typeface="Times New Roman" pitchFamily="18" charset="0"/>
              </a:rPr>
              <a:t>template</a:t>
            </a:r>
            <a:endParaRPr lang="en-US" sz="1400" dirty="0">
              <a:cs typeface="Times New Roman" pitchFamily="18" charset="0"/>
            </a:endParaRPr>
          </a:p>
          <a:p>
            <a:pPr marL="800100" lvl="2" indent="-34290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200" dirty="0" smtClean="0">
                <a:solidFill>
                  <a:srgbClr val="000000"/>
                </a:solidFill>
                <a:cs typeface="Times New Roman" pitchFamily="18" charset="0"/>
              </a:rPr>
              <a:t>contains single fact and unlimited associated MQS structures</a:t>
            </a:r>
          </a:p>
          <a:p>
            <a:pPr marL="800100" lvl="2" indent="-34290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200" dirty="0" smtClean="0">
                <a:solidFill>
                  <a:srgbClr val="000000"/>
                </a:solidFill>
                <a:cs typeface="Times New Roman" pitchFamily="18" charset="0"/>
              </a:rPr>
              <a:t>Modeler adds fact items and MQS items (filling in the blanks)</a:t>
            </a:r>
          </a:p>
          <a:p>
            <a:pPr marL="800100" lvl="2" indent="-342900">
              <a:spcAft>
                <a:spcPts val="600"/>
              </a:spcAft>
              <a:buClr>
                <a:schemeClr val="accent2"/>
              </a:buClr>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200" dirty="0" smtClean="0">
                <a:solidFill>
                  <a:srgbClr val="000000"/>
                </a:solidFill>
                <a:cs typeface="Times New Roman" pitchFamily="18" charset="0"/>
              </a:rPr>
              <a:t>modeling rules validated as you go… notification rules violated…</a:t>
            </a:r>
            <a:endParaRPr lang="en-US" sz="1400" b="0" dirty="0">
              <a:latin typeface="Times New Roman" pitchFamily="18" charset="0"/>
              <a:cs typeface="Times New Roman" pitchFamily="18" charset="0"/>
            </a:endParaRPr>
          </a:p>
          <a:p>
            <a:pPr marL="457200" indent="-182880" defTabSz="714375" eaLnBrk="0"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The model is generated into a new or current project with only the tables necessary to support the items referenced in the star. Modelers can augment further and for more complex modeling immediately</a:t>
            </a:r>
            <a:endParaRPr lang="en-US" sz="1400" b="0" dirty="0">
              <a:latin typeface="Times New Roman" pitchFamily="18" charset="0"/>
              <a:cs typeface="Times New Roman" pitchFamily="18" charset="0"/>
            </a:endParaRPr>
          </a:p>
          <a:p>
            <a:pPr marL="274320" indent="-274320" defTabSz="714375" eaLnBrk="0" hangingPunct="0">
              <a:lnSpc>
                <a:spcPct val="105000"/>
              </a:lnSpc>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a:cs typeface="Times New Roman" pitchFamily="18" charset="0"/>
              </a:rPr>
              <a:t>Target User</a:t>
            </a:r>
          </a:p>
          <a:p>
            <a:pPr marL="457200" indent="-182880" defTabSz="714375" eaLnBrk="0" hangingPunct="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New modelers that are looking for an easy and simple way to publish models off of simple and well structured data sources</a:t>
            </a:r>
          </a:p>
          <a:p>
            <a:pPr marL="457200" indent="-182880" defTabSz="714375" eaLnBrk="0" hangingPunct="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Advanced modelers are not likely to use it, other than as a “jump start” for creating a new model.</a:t>
            </a:r>
          </a:p>
          <a:p>
            <a:pPr marL="457200" indent="-182880" defTabSz="714375" eaLnBrk="0" hangingPunct="0">
              <a:lnSpc>
                <a:spcPct val="105000"/>
              </a:lnSpc>
              <a:spcBef>
                <a:spcPts val="35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They will then go into Framework Managers afterwards to augment the model</a:t>
            </a:r>
          </a:p>
        </p:txBody>
      </p:sp>
      <p:sp>
        <p:nvSpPr>
          <p:cNvPr id="4"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498776" y="1052736"/>
            <a:ext cx="9144000" cy="3123932"/>
          </a:xfrm>
          <a:prstGeom prst="rect">
            <a:avLst/>
          </a:prstGeom>
          <a:noFill/>
          <a:ln w="9525">
            <a:noFill/>
            <a:miter lim="800000"/>
            <a:headEnd/>
            <a:tailEnd/>
          </a:ln>
          <a:effectLst/>
        </p:spPr>
        <p:txBody>
          <a:bodyPr wrap="square">
            <a:spAutoFit/>
          </a:bodyPr>
          <a:lstStyle/>
          <a:p>
            <a:pPr marL="274320" indent="-274320" defTabSz="714375" eaLnBrk="0" hangingPunct="0">
              <a:lnSpc>
                <a:spcPct val="105000"/>
              </a:lnSpc>
              <a:spcBef>
                <a:spcPts val="1200"/>
              </a:spcBef>
              <a:spcAft>
                <a:spcPts val="600"/>
              </a:spcAft>
              <a:buClr>
                <a:schemeClr val="accent2"/>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Query Processing Types</a:t>
            </a:r>
            <a:endParaRPr lang="en-US" sz="1400" dirty="0" smtClean="0">
              <a:latin typeface="Times New Roman" pitchFamily="18" charset="0"/>
              <a:cs typeface="Times New Roman" pitchFamily="18" charset="0"/>
            </a:endParaRPr>
          </a:p>
          <a:p>
            <a:pPr marL="274320" indent="-274320" defTabSz="714375" eaLnBrk="0" hangingPunct="0">
              <a:lnSpc>
                <a:spcPct val="105000"/>
              </a:lnSpc>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Limited Local</a:t>
            </a:r>
          </a:p>
          <a:p>
            <a:pPr marL="457200"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Visual </a:t>
            </a:r>
            <a:r>
              <a:rPr lang="en-US" sz="1400" dirty="0">
                <a:cs typeface="Times New Roman" pitchFamily="18" charset="0"/>
              </a:rPr>
              <a:t>design tool to jump start the building of new multi-layer Framework Manager models (</a:t>
            </a:r>
            <a:r>
              <a:rPr lang="en-US" sz="1400" dirty="0" smtClean="0">
                <a:cs typeface="Times New Roman" pitchFamily="18" charset="0"/>
              </a:rPr>
              <a:t>from within </a:t>
            </a:r>
            <a:r>
              <a:rPr lang="en-US" sz="1400" dirty="0">
                <a:cs typeface="Times New Roman" pitchFamily="18" charset="0"/>
              </a:rPr>
              <a:t>Framework manager) for creating relational packages </a:t>
            </a:r>
            <a:r>
              <a:rPr lang="en-US" sz="1400" dirty="0" smtClean="0">
                <a:cs typeface="Times New Roman" pitchFamily="18" charset="0"/>
              </a:rPr>
              <a:t>only</a:t>
            </a:r>
            <a:endParaRPr lang="en-US" sz="1400" dirty="0">
              <a:cs typeface="Times New Roman" pitchFamily="18" charset="0"/>
            </a:endParaRPr>
          </a:p>
          <a:p>
            <a:pPr marL="457200" indent="-182880" defTabSz="714375" eaLnBrk="0" hangingPunct="0">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a:cs typeface="Times New Roman" pitchFamily="18" charset="0"/>
              </a:rPr>
              <a:t>Allows new modelers to easily create new models more quickly and leverage proven </a:t>
            </a:r>
            <a:r>
              <a:rPr lang="en-US" sz="1400" dirty="0" smtClean="0">
                <a:cs typeface="Times New Roman" pitchFamily="18" charset="0"/>
              </a:rPr>
              <a:t>practices.</a:t>
            </a:r>
          </a:p>
          <a:p>
            <a:pPr marL="274320" indent="-274320" defTabSz="714375" eaLnBrk="0" hangingPunct="0">
              <a:lnSpc>
                <a:spcPct val="105000"/>
              </a:lnSpc>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1800" dirty="0" smtClean="0">
              <a:cs typeface="Times New Roman" pitchFamily="18" charset="0"/>
            </a:endParaRPr>
          </a:p>
          <a:p>
            <a:pPr marL="274320" indent="-274320" defTabSz="714375" eaLnBrk="0" fontAlgn="base" hangingPunct="0">
              <a:lnSpc>
                <a:spcPct val="105000"/>
              </a:lnSpc>
              <a:spcBef>
                <a:spcPts val="600"/>
              </a:spcBef>
              <a:spcAft>
                <a:spcPts val="600"/>
              </a:spcAft>
              <a:buClr>
                <a:schemeClr val="accent2"/>
              </a:buClr>
              <a:buSzPct val="100000"/>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800" dirty="0" smtClean="0">
                <a:cs typeface="Times New Roman" pitchFamily="18" charset="0"/>
              </a:rPr>
              <a:t>Database only</a:t>
            </a:r>
          </a:p>
          <a:p>
            <a:pPr marL="457200" lvl="1" indent="-182880" defTabSz="714375" eaLnBrk="0" fontAlgn="base" hangingPunct="0">
              <a:lnSpc>
                <a:spcPct val="105000"/>
              </a:lnSpc>
              <a:spcBef>
                <a:spcPts val="600"/>
              </a:spcBef>
              <a:spcAft>
                <a:spcPts val="600"/>
              </a:spcAft>
              <a:buClr>
                <a:schemeClr val="accent2"/>
              </a:buClr>
              <a:buSzPct val="100000"/>
              <a:buFont typeface="Arial"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1400" dirty="0" smtClean="0">
                <a:cs typeface="Times New Roman" pitchFamily="18" charset="0"/>
              </a:rPr>
              <a:t>The database server does all the SQL processing and execution with the exception of tasks not supported by the database. An error appears if any reports of report sections require local SQL processing.</a:t>
            </a:r>
          </a:p>
        </p:txBody>
      </p:sp>
      <p:sp>
        <p:nvSpPr>
          <p:cNvPr id="4" name="Rectangle 1"/>
          <p:cNvSpPr txBox="1">
            <a:spLocks noChangeArrowheads="1"/>
          </p:cNvSpPr>
          <p:nvPr/>
        </p:nvSpPr>
        <p:spPr bwMode="black">
          <a:xfrm>
            <a:off x="-2852" y="-1"/>
            <a:ext cx="9902952" cy="914400"/>
          </a:xfrm>
          <a:prstGeom prst="rect">
            <a:avLst/>
          </a:prstGeom>
          <a:noFill/>
          <a:ln w="9525">
            <a:noFill/>
            <a:miter lim="800000"/>
            <a:headEnd/>
            <a:tailEnd/>
          </a:ln>
        </p:spPr>
        <p:txBody>
          <a:bodyPr vert="horz" wrap="square" lIns="45720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
                <a:srgbClr val="4E84C4"/>
              </a:buClr>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sz="2800" b="0" i="0" u="none" strike="noStrike" kern="1200" cap="none" spc="0" normalizeH="0" baseline="0" noProof="0" dirty="0" smtClean="0">
                <a:ln>
                  <a:noFill/>
                </a:ln>
                <a:effectLst/>
                <a:uLnTx/>
                <a:uFillTx/>
                <a:latin typeface="Arial Narrow" pitchFamily="34" charset="0"/>
                <a:cs typeface="Arial" pitchFamily="34" charset="0"/>
              </a:rPr>
              <a:t>Framework Manager (contd…)</a:t>
            </a:r>
          </a:p>
        </p:txBody>
      </p:sp>
    </p:spTree>
  </p:cSld>
  <p:clrMapOvr>
    <a:masterClrMapping/>
  </p:clrMapOvr>
  <p:transition advClick="0">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Administration</a:t>
            </a:r>
            <a:endParaRPr lang="en-US" dirty="0"/>
          </a:p>
        </p:txBody>
      </p:sp>
      <p:sp>
        <p:nvSpPr>
          <p:cNvPr id="5" name="Text Box 2"/>
          <p:cNvSpPr txBox="1">
            <a:spLocks noChangeArrowheads="1"/>
          </p:cNvSpPr>
          <p:nvPr/>
        </p:nvSpPr>
        <p:spPr bwMode="auto">
          <a:xfrm>
            <a:off x="375312" y="1137940"/>
            <a:ext cx="9144000" cy="5029200"/>
          </a:xfrm>
          <a:prstGeom prst="rect">
            <a:avLst/>
          </a:prstGeom>
          <a:noFill/>
          <a:ln w="9525">
            <a:noFill/>
            <a:round/>
            <a:headEnd/>
            <a:tailEnd/>
          </a:ln>
        </p:spPr>
        <p:txBody>
          <a:bodyPr/>
          <a:lstStyle/>
          <a:p>
            <a:pPr marL="0" lvl="1" indent="-274320">
              <a:spcAft>
                <a:spcPts val="600"/>
              </a:spcAft>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b="1" dirty="0" smtClean="0">
                <a:solidFill>
                  <a:srgbClr val="000000"/>
                </a:solidFill>
                <a:cs typeface="Times New Roman" pitchFamily="18" charset="0"/>
              </a:rPr>
              <a:t>IBM Cognos Business Intelligence administrators ensure that IBM Cognos BI runs smoothly and at its optimum performance</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solidFill>
                <a:srgbClr val="000000"/>
              </a:solidFill>
              <a:cs typeface="Times New Roman" pitchFamily="18" charset="0"/>
            </a:endParaRP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Define Data Source Connection.</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Define security permissions for users and groups in the organization.</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Manage servers and dispatchers and fine-tune the performance of IBM Cognos BI.</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Customize the appearance and functionality of IBM Cognos BI.</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Package Deployments.</a:t>
            </a:r>
          </a:p>
          <a:p>
            <a:pPr marL="274320" indent="-274320">
              <a:spcAft>
                <a:spcPts val="1200"/>
              </a:spcAft>
              <a:buClr>
                <a:schemeClr val="accent2"/>
              </a:buClr>
              <a:buFont typeface="Wingdings"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dirty="0" smtClean="0">
                <a:solidFill>
                  <a:srgbClr val="000000"/>
                </a:solidFill>
                <a:cs typeface="Times New Roman" pitchFamily="18" charset="0"/>
              </a:rPr>
              <a:t>Scheduling Contents.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Administration</a:t>
            </a:r>
            <a:endParaRPr lang="en-US" dirty="0"/>
          </a:p>
        </p:txBody>
      </p:sp>
      <p:sp>
        <p:nvSpPr>
          <p:cNvPr id="5" name="Text Box 2"/>
          <p:cNvSpPr txBox="1">
            <a:spLocks noChangeArrowheads="1"/>
          </p:cNvSpPr>
          <p:nvPr/>
        </p:nvSpPr>
        <p:spPr bwMode="auto">
          <a:xfrm>
            <a:off x="375312" y="1137940"/>
            <a:ext cx="9144000" cy="5029200"/>
          </a:xfrm>
          <a:prstGeom prst="rect">
            <a:avLst/>
          </a:prstGeom>
          <a:noFill/>
          <a:ln w="9525">
            <a:noFill/>
            <a:round/>
            <a:headEnd/>
            <a:tailEnd/>
          </a:ln>
        </p:spPr>
        <p:txBody>
          <a:bodyPr/>
          <a:lstStyle/>
          <a:p>
            <a:pPr>
              <a:buClr>
                <a:srgbClr val="009999"/>
              </a:buClr>
              <a:buFont typeface="Wingdings" pitchFamily="2" charset="2"/>
              <a:buChar char="§"/>
            </a:pPr>
            <a:r>
              <a:rPr lang="en-US" sz="2000" dirty="0" smtClean="0"/>
              <a:t> </a:t>
            </a:r>
            <a:r>
              <a:rPr lang="en-US" sz="2000" dirty="0" smtClean="0">
                <a:solidFill>
                  <a:srgbClr val="000000"/>
                </a:solidFill>
              </a:rPr>
              <a:t>After IBM Cognos software is installed and configured, you can perform server</a:t>
            </a:r>
          </a:p>
          <a:p>
            <a:r>
              <a:rPr lang="en-US" sz="2000" dirty="0" smtClean="0">
                <a:solidFill>
                  <a:srgbClr val="000000"/>
                </a:solidFill>
              </a:rPr>
              <a:t>administration, data management, security and content administration, activities</a:t>
            </a:r>
          </a:p>
          <a:p>
            <a:r>
              <a:rPr lang="en-US" sz="2000" dirty="0" smtClean="0">
                <a:solidFill>
                  <a:srgbClr val="000000"/>
                </a:solidFill>
              </a:rPr>
              <a:t>management, and portal services administration.</a:t>
            </a:r>
            <a:endParaRPr lang="en-US" sz="2000" dirty="0" smtClean="0">
              <a:solidFill>
                <a:srgbClr val="000000"/>
              </a:solidFill>
              <a:cs typeface="Times New Roman" pitchFamily="18" charset="0"/>
            </a:endParaRPr>
          </a:p>
          <a:p>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t> </a:t>
            </a:r>
            <a:r>
              <a:rPr lang="en-US" sz="2000" dirty="0" smtClean="0">
                <a:solidFill>
                  <a:srgbClr val="000000"/>
                </a:solidFill>
              </a:rPr>
              <a:t>You can also perform the following administrative tasks:</a:t>
            </a:r>
          </a:p>
          <a:p>
            <a:pPr lvl="1">
              <a:buClr>
                <a:srgbClr val="009999"/>
              </a:buClr>
              <a:buFont typeface="Wingdings" pitchFamily="2" charset="2"/>
              <a:buChar char="Ø"/>
            </a:pPr>
            <a:r>
              <a:rPr lang="en-US" sz="2000" dirty="0" smtClean="0">
                <a:solidFill>
                  <a:srgbClr val="000000"/>
                </a:solidFill>
              </a:rPr>
              <a:t> automating tasks</a:t>
            </a:r>
          </a:p>
          <a:p>
            <a:pPr lvl="1">
              <a:buClr>
                <a:srgbClr val="009999"/>
              </a:buClr>
              <a:buFont typeface="Wingdings" pitchFamily="2" charset="2"/>
              <a:buChar char="Ø"/>
            </a:pPr>
            <a:r>
              <a:rPr lang="en-US" sz="2000" dirty="0" smtClean="0">
                <a:solidFill>
                  <a:srgbClr val="000000"/>
                </a:solidFill>
              </a:rPr>
              <a:t> setting up your environment and configuring your database for      multilingual reporting</a:t>
            </a:r>
          </a:p>
          <a:p>
            <a:pPr lvl="1">
              <a:buClr>
                <a:srgbClr val="009999"/>
              </a:buClr>
              <a:buFont typeface="Wingdings" pitchFamily="2" charset="2"/>
              <a:buChar char="Ø"/>
            </a:pPr>
            <a:r>
              <a:rPr lang="en-US" sz="2000" dirty="0" smtClean="0">
                <a:solidFill>
                  <a:srgbClr val="000000"/>
                </a:solidFill>
              </a:rPr>
              <a:t> installing fonts</a:t>
            </a:r>
          </a:p>
          <a:p>
            <a:pPr lvl="1">
              <a:buClr>
                <a:srgbClr val="009999"/>
              </a:buClr>
              <a:buFont typeface="Wingdings" pitchFamily="2" charset="2"/>
              <a:buChar char="Ø"/>
            </a:pPr>
            <a:r>
              <a:rPr lang="en-US" sz="2000" dirty="0" smtClean="0">
                <a:solidFill>
                  <a:srgbClr val="000000"/>
                </a:solidFill>
              </a:rPr>
              <a:t> setting up printers</a:t>
            </a:r>
          </a:p>
          <a:p>
            <a:pPr lvl="1">
              <a:buClr>
                <a:srgbClr val="009999"/>
              </a:buClr>
              <a:buFont typeface="Wingdings" pitchFamily="2" charset="2"/>
              <a:buChar char="Ø"/>
            </a:pPr>
            <a:r>
              <a:rPr lang="en-US" sz="2000" dirty="0" smtClean="0">
                <a:solidFill>
                  <a:srgbClr val="000000"/>
                </a:solidFill>
              </a:rPr>
              <a:t>configuring web browsers</a:t>
            </a:r>
          </a:p>
          <a:p>
            <a:pPr lvl="1">
              <a:buClr>
                <a:srgbClr val="009999"/>
              </a:buClr>
              <a:buFont typeface="Wingdings" pitchFamily="2" charset="2"/>
              <a:buChar char="Ø"/>
            </a:pPr>
            <a:r>
              <a:rPr lang="en-US" sz="2000" dirty="0" smtClean="0">
                <a:solidFill>
                  <a:srgbClr val="000000"/>
                </a:solidFill>
              </a:rPr>
              <a:t>allowing user access to Series 7 reports</a:t>
            </a:r>
          </a:p>
          <a:p>
            <a:pPr lvl="1">
              <a:buClr>
                <a:srgbClr val="009999"/>
              </a:buClr>
              <a:buFont typeface="Wingdings" pitchFamily="2" charset="2"/>
              <a:buChar char="Ø"/>
            </a:pPr>
            <a:r>
              <a:rPr lang="en-US" sz="2000" dirty="0" smtClean="0">
                <a:solidFill>
                  <a:srgbClr val="000000"/>
                </a:solidFill>
              </a:rPr>
              <a:t>restricting access to IBM Cognos software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5" name="Text Box 2"/>
          <p:cNvSpPr txBox="1">
            <a:spLocks noChangeArrowheads="1"/>
          </p:cNvSpPr>
          <p:nvPr/>
        </p:nvSpPr>
        <p:spPr bwMode="auto">
          <a:xfrm>
            <a:off x="375312" y="1137940"/>
            <a:ext cx="9225888" cy="5186660"/>
          </a:xfrm>
          <a:prstGeom prst="rect">
            <a:avLst/>
          </a:prstGeom>
          <a:noFill/>
          <a:ln w="9525">
            <a:noFill/>
            <a:round/>
            <a:headEnd/>
            <a:tailEnd/>
          </a:ln>
        </p:spPr>
        <p:txBody>
          <a:bodyPr/>
          <a:lstStyle/>
          <a:p>
            <a:pPr>
              <a:buClr>
                <a:srgbClr val="009999"/>
              </a:buClr>
            </a:pPr>
            <a:r>
              <a:rPr lang="en-US" sz="2000" b="1" dirty="0" smtClean="0">
                <a:solidFill>
                  <a:srgbClr val="000000"/>
                </a:solidFill>
              </a:rPr>
              <a:t>Introduction About Cognos Security</a:t>
            </a:r>
          </a:p>
          <a:p>
            <a:pPr>
              <a:buClr>
                <a:srgbClr val="009999"/>
              </a:buClr>
              <a:buFont typeface="Wingdings" pitchFamily="2" charset="2"/>
              <a:buChar char="§"/>
            </a:pPr>
            <a:endParaRPr lang="en-US" sz="2000" dirty="0" smtClean="0">
              <a:solidFill>
                <a:srgbClr val="000000"/>
              </a:solidFill>
            </a:endParaRPr>
          </a:p>
          <a:p>
            <a:pPr>
              <a:buClr>
                <a:srgbClr val="009999"/>
              </a:buClr>
              <a:buFont typeface="Wingdings" pitchFamily="2" charset="2"/>
              <a:buChar char="§"/>
            </a:pPr>
            <a:r>
              <a:rPr lang="en-US" sz="2000" dirty="0" smtClean="0">
                <a:solidFill>
                  <a:srgbClr val="000000"/>
                </a:solidFill>
              </a:rPr>
              <a:t> IBM Cognos software security is designed to meet the need for security in different environments. You can use it in everything from a proof of concept application where security is rarely enabled to a large scale enterprise deployment.</a:t>
            </a:r>
          </a:p>
          <a:p>
            <a:pPr>
              <a:buClr>
                <a:srgbClr val="009999"/>
              </a:buClr>
            </a:pPr>
            <a:endParaRPr lang="en-US" sz="18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rPr>
              <a:t>  Security in IBM Cognos software is optional. If security is not enabled it  means that no authentication providers are configured, and therefore all user access is anonymous. Typically, anonymous users have limited, read-only access.</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5" name="Text Box 2"/>
          <p:cNvSpPr txBox="1">
            <a:spLocks noChangeArrowheads="1"/>
          </p:cNvSpPr>
          <p:nvPr/>
        </p:nvSpPr>
        <p:spPr bwMode="auto">
          <a:xfrm>
            <a:off x="375312" y="1137940"/>
            <a:ext cx="9225888" cy="5186660"/>
          </a:xfrm>
          <a:prstGeom prst="rect">
            <a:avLst/>
          </a:prstGeom>
          <a:noFill/>
          <a:ln w="9525">
            <a:noFill/>
            <a:round/>
            <a:headEnd/>
            <a:tailEnd/>
          </a:ln>
        </p:spPr>
        <p:txBody>
          <a:bodyPr/>
          <a:lstStyle/>
          <a:p>
            <a:pPr marL="0" lvl="1" indent="-274320">
              <a:spcAft>
                <a:spcPts val="600"/>
              </a:spcAft>
              <a:buClr>
                <a:srgbClr val="009999"/>
              </a:buCl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b="1" dirty="0" smtClean="0">
                <a:solidFill>
                  <a:srgbClr val="000000"/>
                </a:solidFill>
                <a:cs typeface="Times New Roman" pitchFamily="18" charset="0"/>
              </a:rPr>
              <a:t>Authentication Providers:</a:t>
            </a:r>
          </a:p>
          <a:p>
            <a:pPr marL="0" lvl="1" indent="-274320">
              <a:spcAft>
                <a:spcPts val="600"/>
              </a:spcAft>
              <a:buClr>
                <a:srgbClr val="009999"/>
              </a:buClr>
              <a:buFont typeface="Wingdings" pitchFamily="2" charset="2"/>
              <a:buChar char="§"/>
              <a:tabLst>
                <a:tab pos="120650" algn="l"/>
                <a:tab pos="1035050" algn="l"/>
                <a:tab pos="1949450" algn="l"/>
                <a:tab pos="2863850" algn="l"/>
                <a:tab pos="3778250" algn="l"/>
                <a:tab pos="4692650" algn="l"/>
                <a:tab pos="5607050" algn="l"/>
                <a:tab pos="6521450" algn="l"/>
                <a:tab pos="7435850" algn="l"/>
                <a:tab pos="8350250" algn="l"/>
                <a:tab pos="9264650" algn="l"/>
                <a:tab pos="10179050" algn="l"/>
              </a:tabLst>
            </a:pPr>
            <a:r>
              <a:rPr lang="en-US" sz="2000" dirty="0" smtClean="0">
                <a:solidFill>
                  <a:srgbClr val="000000"/>
                </a:solidFill>
                <a:cs typeface="Times New Roman" pitchFamily="18" charset="0"/>
              </a:rPr>
              <a:t>User authentication in IBM Cognos software is managed by authentication</a:t>
            </a:r>
          </a:p>
          <a:p>
            <a:r>
              <a:rPr lang="en-US" sz="2000" dirty="0" smtClean="0">
                <a:solidFill>
                  <a:srgbClr val="000000"/>
                </a:solidFill>
                <a:cs typeface="Times New Roman" pitchFamily="18" charset="0"/>
              </a:rPr>
              <a:t>    Providers. Authentication providers define users, groups, and roles used for</a:t>
            </a:r>
          </a:p>
          <a:p>
            <a:r>
              <a:rPr lang="en-US" sz="2000" dirty="0" smtClean="0">
                <a:solidFill>
                  <a:srgbClr val="000000"/>
                </a:solidFill>
                <a:cs typeface="Times New Roman" pitchFamily="18" charset="0"/>
              </a:rPr>
              <a:t>    Authentication. User names, IDs, passwords, regional settings, personal</a:t>
            </a:r>
          </a:p>
          <a:p>
            <a:r>
              <a:rPr lang="en-US" sz="2000" dirty="0" smtClean="0">
                <a:solidFill>
                  <a:srgbClr val="000000"/>
                </a:solidFill>
                <a:cs typeface="Times New Roman" pitchFamily="18" charset="0"/>
              </a:rPr>
              <a:t>    preferences are some examples of information stored in the providers.</a:t>
            </a:r>
          </a:p>
          <a:p>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cs typeface="Times New Roman" pitchFamily="18" charset="0"/>
              </a:rPr>
              <a:t>  If you set up authentication for IBM Cognos software, users must provide             	valid credentials, such as user ID and password, at logon time. In an   	IBM Cognos software environment, authentication providers are also 	referred to as namespaces, and they are represented by namespace 	entries in the user interface. Manage servers and dispatchers and fine-	tune the performance of IBM Cognos BI.</a:t>
            </a:r>
          </a:p>
          <a:p>
            <a:pPr>
              <a:buClr>
                <a:srgbClr val="009999"/>
              </a:buClr>
            </a:pPr>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cs typeface="Times New Roman" pitchFamily="18" charset="0"/>
              </a:rPr>
              <a:t>  IBM Cognos software does not replicate the users, groups, and roles defined       in your authentication provider. However, you can reference them in IBM    Cognos software when you set access permissions to reports and other content.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5232202"/>
          </a:xfrm>
          <a:prstGeom prst="rect">
            <a:avLst/>
          </a:prstGeom>
          <a:noFill/>
        </p:spPr>
        <p:txBody>
          <a:bodyPr wrap="square" rtlCol="0">
            <a:spAutoFit/>
          </a:bodyPr>
          <a:lstStyle/>
          <a:p>
            <a:r>
              <a:rPr lang="en-US" sz="2000" b="1" dirty="0" smtClean="0">
                <a:solidFill>
                  <a:srgbClr val="000000"/>
                </a:solidFill>
              </a:rPr>
              <a:t>Authentication Providers:</a:t>
            </a:r>
          </a:p>
          <a:p>
            <a:endParaRPr lang="en-US" sz="2000" b="1" dirty="0" smtClean="0"/>
          </a:p>
          <a:p>
            <a:pPr>
              <a:buClr>
                <a:srgbClr val="009999"/>
              </a:buClr>
              <a:buFont typeface="Wingdings" pitchFamily="2" charset="2"/>
              <a:buChar char="§"/>
            </a:pPr>
            <a:r>
              <a:rPr lang="en-US" sz="2000" dirty="0" smtClean="0">
                <a:solidFill>
                  <a:srgbClr val="000000"/>
                </a:solidFill>
                <a:cs typeface="Times New Roman" pitchFamily="18" charset="0"/>
              </a:rPr>
              <a:t>  IBM Cognos components support the following types of servers as authentication sources:</a:t>
            </a:r>
          </a:p>
          <a:p>
            <a:pPr lvl="1">
              <a:buClr>
                <a:srgbClr val="009999"/>
              </a:buClr>
              <a:buFont typeface="Wingdings" pitchFamily="2" charset="2"/>
              <a:buChar char="Ø"/>
            </a:pPr>
            <a:r>
              <a:rPr lang="en-US" sz="2000" dirty="0" smtClean="0">
                <a:solidFill>
                  <a:srgbClr val="000000"/>
                </a:solidFill>
                <a:cs typeface="Times New Roman" pitchFamily="18" charset="0"/>
              </a:rPr>
              <a:t> IBM Cognos Series 7 namespace</a:t>
            </a:r>
          </a:p>
          <a:p>
            <a:pPr lvl="1">
              <a:buClr>
                <a:srgbClr val="009999"/>
              </a:buClr>
              <a:buFont typeface="Wingdings" pitchFamily="2" charset="2"/>
              <a:buChar char="Ø"/>
            </a:pPr>
            <a:r>
              <a:rPr lang="en-US" sz="2000" dirty="0" smtClean="0">
                <a:solidFill>
                  <a:srgbClr val="000000"/>
                </a:solidFill>
                <a:cs typeface="Times New Roman" pitchFamily="18" charset="0"/>
              </a:rPr>
              <a:t> Active Directory Server</a:t>
            </a:r>
          </a:p>
          <a:p>
            <a:pPr lvl="1">
              <a:buClr>
                <a:srgbClr val="009999"/>
              </a:buClr>
              <a:buFont typeface="Wingdings" pitchFamily="2" charset="2"/>
              <a:buChar char="Ø"/>
            </a:pPr>
            <a:r>
              <a:rPr lang="en-US" sz="2000" dirty="0" smtClean="0">
                <a:solidFill>
                  <a:srgbClr val="000000"/>
                </a:solidFill>
                <a:cs typeface="Times New Roman" pitchFamily="18" charset="0"/>
              </a:rPr>
              <a:t>Custom Authentication Provider</a:t>
            </a:r>
          </a:p>
          <a:p>
            <a:pPr lvl="1">
              <a:buClr>
                <a:srgbClr val="009999"/>
              </a:buClr>
              <a:buFont typeface="Wingdings" pitchFamily="2" charset="2"/>
              <a:buChar char="Ø"/>
            </a:pPr>
            <a:r>
              <a:rPr lang="en-US" sz="2000" dirty="0" smtClean="0">
                <a:solidFill>
                  <a:srgbClr val="000000"/>
                </a:solidFill>
                <a:cs typeface="Times New Roman" pitchFamily="18" charset="0"/>
              </a:rPr>
              <a:t>LDAP</a:t>
            </a:r>
          </a:p>
          <a:p>
            <a:pPr lvl="1">
              <a:buClr>
                <a:srgbClr val="009999"/>
              </a:buClr>
              <a:buFont typeface="Wingdings" pitchFamily="2" charset="2"/>
              <a:buChar char="Ø"/>
            </a:pPr>
            <a:r>
              <a:rPr lang="en-US" sz="2000" dirty="0" smtClean="0">
                <a:solidFill>
                  <a:srgbClr val="000000"/>
                </a:solidFill>
                <a:cs typeface="Times New Roman" pitchFamily="18" charset="0"/>
              </a:rPr>
              <a:t>CA </a:t>
            </a:r>
            <a:r>
              <a:rPr lang="en-US" sz="2000" dirty="0" err="1" smtClean="0">
                <a:solidFill>
                  <a:srgbClr val="000000"/>
                </a:solidFill>
                <a:cs typeface="Times New Roman" pitchFamily="18" charset="0"/>
              </a:rPr>
              <a:t>SiteMinder</a:t>
            </a:r>
            <a:endParaRPr lang="en-US" sz="2000" dirty="0" smtClean="0">
              <a:solidFill>
                <a:srgbClr val="000000"/>
              </a:solidFill>
              <a:cs typeface="Times New Roman" pitchFamily="18" charset="0"/>
            </a:endParaRPr>
          </a:p>
          <a:p>
            <a:pPr lvl="1">
              <a:buClr>
                <a:srgbClr val="009999"/>
              </a:buClr>
              <a:buFont typeface="Wingdings" pitchFamily="2" charset="2"/>
              <a:buChar char="Ø"/>
            </a:pPr>
            <a:r>
              <a:rPr lang="en-US" sz="2000" dirty="0" smtClean="0">
                <a:solidFill>
                  <a:srgbClr val="000000"/>
                </a:solidFill>
                <a:cs typeface="Times New Roman" pitchFamily="18" charset="0"/>
              </a:rPr>
              <a:t>RACF®</a:t>
            </a:r>
          </a:p>
          <a:p>
            <a:pPr lvl="1">
              <a:buClr>
                <a:srgbClr val="009999"/>
              </a:buClr>
              <a:buFont typeface="Wingdings" pitchFamily="2" charset="2"/>
              <a:buChar char="Ø"/>
            </a:pPr>
            <a:r>
              <a:rPr lang="en-US" sz="2000" dirty="0" smtClean="0">
                <a:solidFill>
                  <a:srgbClr val="000000"/>
                </a:solidFill>
                <a:cs typeface="Times New Roman" pitchFamily="18" charset="0"/>
              </a:rPr>
              <a:t>SAP</a:t>
            </a:r>
          </a:p>
          <a:p>
            <a:pPr>
              <a:buClr>
                <a:srgbClr val="009999"/>
              </a:buClr>
              <a:buFont typeface="Wingdings" pitchFamily="2" charset="2"/>
              <a:buChar char="§"/>
            </a:pPr>
            <a:r>
              <a:rPr lang="en-US" sz="2000" dirty="0" smtClean="0">
                <a:solidFill>
                  <a:srgbClr val="000000"/>
                </a:solidFill>
                <a:cs typeface="Times New Roman" pitchFamily="18" charset="0"/>
              </a:rPr>
              <a:t>  If you use more than one Content Manager, you must configure identical</a:t>
            </a:r>
          </a:p>
          <a:p>
            <a:r>
              <a:rPr lang="en-US" sz="2000" dirty="0" smtClean="0">
                <a:solidFill>
                  <a:srgbClr val="000000"/>
                </a:solidFill>
                <a:cs typeface="Times New Roman" pitchFamily="18" charset="0"/>
              </a:rPr>
              <a:t>authentication providers in each Content Manager location. This means that            the type of authentication provider you select and the way you configure it must    be identical in all locations for all platforms. The configuration must contain</a:t>
            </a:r>
          </a:p>
          <a:p>
            <a:r>
              <a:rPr lang="en-US" sz="2000" smtClean="0">
                <a:solidFill>
                  <a:srgbClr val="000000"/>
                </a:solidFill>
                <a:cs typeface="Times New Roman" pitchFamily="18" charset="0"/>
              </a:rPr>
              <a:t>information </a:t>
            </a:r>
            <a:r>
              <a:rPr lang="en-US" sz="2000" dirty="0" smtClean="0">
                <a:solidFill>
                  <a:srgbClr val="000000"/>
                </a:solidFill>
                <a:cs typeface="Times New Roman" pitchFamily="18" charset="0"/>
              </a:rPr>
              <a:t>that is accessible by all Content Managers.</a:t>
            </a:r>
          </a:p>
          <a:p>
            <a:endParaRPr lang="en-US" sz="1400" dirty="0" err="1" smtClean="0">
              <a:solidFill>
                <a:schemeClr val="tx2">
                  <a:lumMod val="50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4924425"/>
          </a:xfrm>
          <a:prstGeom prst="rect">
            <a:avLst/>
          </a:prstGeom>
          <a:noFill/>
        </p:spPr>
        <p:txBody>
          <a:bodyPr wrap="square" rtlCol="0">
            <a:spAutoFit/>
          </a:bodyPr>
          <a:lstStyle/>
          <a:p>
            <a:r>
              <a:rPr lang="en-US" sz="2000" b="1" dirty="0" smtClean="0">
                <a:solidFill>
                  <a:srgbClr val="000000"/>
                </a:solidFill>
              </a:rPr>
              <a:t>Cognos Namespace:</a:t>
            </a:r>
          </a:p>
          <a:p>
            <a:endParaRPr lang="en-US" sz="1400" dirty="0" smtClean="0">
              <a:solidFill>
                <a:schemeClr val="tx2">
                  <a:lumMod val="50000"/>
                </a:schemeClr>
              </a:solidFill>
            </a:endParaRPr>
          </a:p>
          <a:p>
            <a:pPr>
              <a:buClr>
                <a:srgbClr val="009999"/>
              </a:buClr>
              <a:buFont typeface="Wingdings" pitchFamily="2" charset="2"/>
              <a:buChar char="§"/>
            </a:pPr>
            <a:r>
              <a:rPr lang="en-US" sz="2000" dirty="0" smtClean="0">
                <a:solidFill>
                  <a:srgbClr val="000000"/>
                </a:solidFill>
                <a:cs typeface="Times New Roman" pitchFamily="18" charset="0"/>
              </a:rPr>
              <a:t>  The Cognos namespace is the IBM Cognos software built-in namespace. It    contains the IBM Cognos objects, such as groups, roles, data sources, distribution lists, and contacts.</a:t>
            </a:r>
          </a:p>
          <a:p>
            <a:pPr>
              <a:buClr>
                <a:srgbClr val="009999"/>
              </a:buClr>
            </a:pPr>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cs typeface="Times New Roman" pitchFamily="18" charset="0"/>
              </a:rPr>
              <a:t>  You can rename the Cognos namespace using IBM Cognos Configuration, but   you cannot delete it. The namespace is always active.</a:t>
            </a:r>
          </a:p>
          <a:p>
            <a:pPr>
              <a:buFont typeface="Wingdings" pitchFamily="2" charset="2"/>
              <a:buChar char="§"/>
            </a:pPr>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cs typeface="Times New Roman" pitchFamily="18" charset="0"/>
              </a:rPr>
              <a:t>  When you set security in IBM Cognos software, you may want to use the  Cognos namespace to create groups and roles that are specific to IBM Cognos software. In this namespace, you can also create security policies that indirectly reference the security entries in authentication providers so that IBM Cognos software can be more easily deployed from one installation to another “Security and Deployment”.</a:t>
            </a:r>
          </a:p>
          <a:p>
            <a:pPr>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3385542"/>
          </a:xfrm>
          <a:prstGeom prst="rect">
            <a:avLst/>
          </a:prstGeom>
          <a:noFill/>
        </p:spPr>
        <p:txBody>
          <a:bodyPr wrap="square" rtlCol="0">
            <a:spAutoFit/>
          </a:bodyPr>
          <a:lstStyle/>
          <a:p>
            <a:r>
              <a:rPr lang="en-US" sz="2000" b="1" dirty="0" smtClean="0">
                <a:solidFill>
                  <a:srgbClr val="000000"/>
                </a:solidFill>
              </a:rPr>
              <a:t>Initial security:</a:t>
            </a:r>
          </a:p>
          <a:p>
            <a:endParaRPr lang="en-US" sz="1400" dirty="0" smtClean="0">
              <a:solidFill>
                <a:schemeClr val="tx2">
                  <a:lumMod val="50000"/>
                </a:schemeClr>
              </a:solidFill>
            </a:endParaRPr>
          </a:p>
          <a:p>
            <a:pPr>
              <a:buClr>
                <a:srgbClr val="009999"/>
              </a:buClr>
              <a:buFont typeface="Wingdings" pitchFamily="2" charset="2"/>
              <a:buChar char="§"/>
            </a:pPr>
            <a:r>
              <a:rPr lang="en-US" sz="2000" dirty="0" smtClean="0">
                <a:solidFill>
                  <a:srgbClr val="000000"/>
                </a:solidFill>
                <a:cs typeface="Times New Roman" pitchFamily="18" charset="0"/>
              </a:rPr>
              <a:t>  When a content store is initialized, a set of security objects is created and stored in the Cognos namespace. These objects are designed to simplify the IBM Cognos administration.</a:t>
            </a:r>
          </a:p>
          <a:p>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cs typeface="Times New Roman" pitchFamily="18" charset="0"/>
              </a:rPr>
              <a:t>  The initial security policies grant unrestricted access to all objects in the content store to all users. The security administrator must modify the initial security settings to secure the content store</a:t>
            </a:r>
          </a:p>
          <a:p>
            <a:pPr>
              <a:buClr>
                <a:srgbClr val="009999"/>
              </a:buClr>
            </a:pPr>
            <a:endParaRPr lang="en-US" sz="2000" dirty="0" smtClean="0">
              <a:solidFill>
                <a:srgbClr val="000000"/>
              </a:solidFill>
              <a:cs typeface="Times New Roman" pitchFamily="18" charset="0"/>
            </a:endParaRPr>
          </a:p>
          <a:p>
            <a:pPr>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4924425"/>
          </a:xfrm>
          <a:prstGeom prst="rect">
            <a:avLst/>
          </a:prstGeom>
          <a:noFill/>
        </p:spPr>
        <p:txBody>
          <a:bodyPr wrap="square" rtlCol="0">
            <a:spAutoFit/>
          </a:bodyPr>
          <a:lstStyle/>
          <a:p>
            <a:r>
              <a:rPr lang="en-US" sz="2000" b="1" dirty="0" smtClean="0">
                <a:solidFill>
                  <a:srgbClr val="000000"/>
                </a:solidFill>
              </a:rPr>
              <a:t>Built-in entries:</a:t>
            </a:r>
          </a:p>
          <a:p>
            <a:endParaRPr lang="en-US" sz="1400" dirty="0" smtClean="0">
              <a:solidFill>
                <a:schemeClr val="tx2">
                  <a:lumMod val="50000"/>
                </a:schemeClr>
              </a:solidFill>
            </a:endParaRPr>
          </a:p>
          <a:p>
            <a:pPr>
              <a:buClr>
                <a:srgbClr val="009999"/>
              </a:buClr>
              <a:buFont typeface="Wingdings" pitchFamily="2" charset="2"/>
              <a:buChar char="§"/>
            </a:pPr>
            <a:r>
              <a:rPr lang="en-US" sz="2000" dirty="0" smtClean="0">
                <a:solidFill>
                  <a:srgbClr val="000000"/>
                </a:solidFill>
                <a:cs typeface="Times New Roman" pitchFamily="18" charset="0"/>
              </a:rPr>
              <a:t>  The built-in entries include the Anonymous user account, the groups All</a:t>
            </a:r>
          </a:p>
          <a:p>
            <a:r>
              <a:rPr lang="en-US" sz="2000" dirty="0" smtClean="0">
                <a:solidFill>
                  <a:srgbClr val="000000"/>
                </a:solidFill>
                <a:cs typeface="Times New Roman" pitchFamily="18" charset="0"/>
              </a:rPr>
              <a:t>Authenticated Users and Everyone, and the roles System Administrators and</a:t>
            </a:r>
          </a:p>
          <a:p>
            <a:r>
              <a:rPr lang="en-US" sz="2000" dirty="0" smtClean="0">
                <a:solidFill>
                  <a:srgbClr val="000000"/>
                </a:solidFill>
                <a:cs typeface="Times New Roman" pitchFamily="18" charset="0"/>
              </a:rPr>
              <a:t>Tenant Administrators. You cannot delete the built-in entries. They appear in both</a:t>
            </a:r>
          </a:p>
          <a:p>
            <a:r>
              <a:rPr lang="en-US" sz="2000" dirty="0" smtClean="0">
                <a:solidFill>
                  <a:srgbClr val="000000"/>
                </a:solidFill>
                <a:cs typeface="Times New Roman" pitchFamily="18" charset="0"/>
              </a:rPr>
              <a:t>secured and non-secured environments.</a:t>
            </a:r>
          </a:p>
          <a:p>
            <a:endParaRPr lang="en-US" sz="2000" dirty="0" smtClean="0">
              <a:solidFill>
                <a:srgbClr val="000000"/>
              </a:solidFill>
              <a:cs typeface="Times New Roman" pitchFamily="18" charset="0"/>
            </a:endParaRPr>
          </a:p>
          <a:p>
            <a:pPr lvl="1">
              <a:buClr>
                <a:srgbClr val="009999"/>
              </a:buClr>
              <a:buFont typeface="Wingdings" pitchFamily="2" charset="2"/>
              <a:buChar char="Ø"/>
            </a:pPr>
            <a:r>
              <a:rPr lang="en-US" sz="2000" b="1" u="sng" dirty="0" smtClean="0">
                <a:solidFill>
                  <a:srgbClr val="000000"/>
                </a:solidFill>
              </a:rPr>
              <a:t>Anonymous</a:t>
            </a:r>
            <a:endParaRPr lang="en-US" sz="2000" u="sng" dirty="0" smtClean="0">
              <a:solidFill>
                <a:srgbClr val="000000"/>
              </a:solidFill>
              <a:cs typeface="Times New Roman" pitchFamily="18" charset="0"/>
            </a:endParaRPr>
          </a:p>
          <a:p>
            <a:pPr>
              <a:buClr>
                <a:srgbClr val="009999"/>
              </a:buClr>
            </a:pPr>
            <a:endParaRPr lang="en-US" sz="2000" dirty="0" smtClean="0">
              <a:solidFill>
                <a:srgbClr val="000000"/>
              </a:solidFill>
              <a:cs typeface="Times New Roman" pitchFamily="18" charset="0"/>
            </a:endParaRPr>
          </a:p>
          <a:p>
            <a:pPr lvl="2">
              <a:buClr>
                <a:srgbClr val="009999"/>
              </a:buClr>
              <a:buFont typeface="Wingdings" pitchFamily="2" charset="2"/>
              <a:buChar char="§"/>
            </a:pPr>
            <a:r>
              <a:rPr lang="en-US" sz="2000" dirty="0" smtClean="0">
                <a:solidFill>
                  <a:srgbClr val="000000"/>
                </a:solidFill>
              </a:rPr>
              <a:t>This entry represents a user account shared by members of the general public who can access IBM Cognos software without being prompted for authentication. For example, this type of access is useful when distributing an online catalog.</a:t>
            </a:r>
          </a:p>
          <a:p>
            <a:pPr lvl="1">
              <a:buClr>
                <a:srgbClr val="009999"/>
              </a:buClr>
            </a:pPr>
            <a:endParaRPr lang="en-US" sz="2000" dirty="0" smtClean="0">
              <a:solidFill>
                <a:srgbClr val="000000"/>
              </a:solidFill>
            </a:endParaRPr>
          </a:p>
          <a:p>
            <a:pPr lvl="2">
              <a:buClr>
                <a:srgbClr val="009999"/>
              </a:buClr>
              <a:buFont typeface="Wingdings" pitchFamily="2" charset="2"/>
              <a:buChar char="§"/>
            </a:pPr>
            <a:r>
              <a:rPr lang="en-US" sz="2000" dirty="0" smtClean="0">
                <a:solidFill>
                  <a:srgbClr val="000000"/>
                </a:solidFill>
              </a:rPr>
              <a:t> You can disable the Anonymous user account by changing the configuration parameters in the configuration tool.</a:t>
            </a:r>
            <a:endParaRPr lang="en-US" sz="2000" dirty="0" smtClean="0">
              <a:solidFill>
                <a:srgbClr val="000000"/>
              </a:solidFill>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5539978"/>
          </a:xfrm>
          <a:prstGeom prst="rect">
            <a:avLst/>
          </a:prstGeom>
          <a:noFill/>
        </p:spPr>
        <p:txBody>
          <a:bodyPr wrap="square" rtlCol="0">
            <a:spAutoFit/>
          </a:bodyPr>
          <a:lstStyle/>
          <a:p>
            <a:r>
              <a:rPr lang="en-US" sz="2000" b="1" dirty="0" smtClean="0">
                <a:solidFill>
                  <a:srgbClr val="000000"/>
                </a:solidFill>
              </a:rPr>
              <a:t>Built-in entries:</a:t>
            </a:r>
          </a:p>
          <a:p>
            <a:endParaRPr lang="en-US" sz="1400" dirty="0" smtClean="0">
              <a:solidFill>
                <a:schemeClr val="tx2">
                  <a:lumMod val="50000"/>
                </a:schemeClr>
              </a:solidFill>
            </a:endParaRPr>
          </a:p>
          <a:p>
            <a:pPr lvl="1">
              <a:buClr>
                <a:srgbClr val="009999"/>
              </a:buClr>
              <a:buFont typeface="Wingdings" pitchFamily="2" charset="2"/>
              <a:buChar char="Ø"/>
            </a:pPr>
            <a:r>
              <a:rPr lang="en-US" sz="2000" b="1" u="sng" dirty="0" smtClean="0">
                <a:solidFill>
                  <a:srgbClr val="000000"/>
                </a:solidFill>
              </a:rPr>
              <a:t>All Authenticated Users</a:t>
            </a:r>
          </a:p>
          <a:p>
            <a:pPr lvl="2">
              <a:buClr>
                <a:srgbClr val="009999"/>
              </a:buClr>
              <a:buFont typeface="Wingdings" pitchFamily="2" charset="2"/>
              <a:buChar char="§"/>
            </a:pPr>
            <a:endParaRPr lang="en-US" sz="2000" dirty="0" smtClean="0">
              <a:solidFill>
                <a:srgbClr val="000000"/>
              </a:solidFill>
            </a:endParaRPr>
          </a:p>
          <a:p>
            <a:pPr lvl="2">
              <a:buClr>
                <a:srgbClr val="009999"/>
              </a:buClr>
              <a:buFont typeface="Wingdings" pitchFamily="2" charset="2"/>
              <a:buChar char="§"/>
            </a:pPr>
            <a:r>
              <a:rPr lang="en-US" sz="2000" dirty="0" smtClean="0">
                <a:solidFill>
                  <a:srgbClr val="000000"/>
                </a:solidFill>
              </a:rPr>
              <a:t>This group represents users who are authenticated by authentication  providers. The membership of this group is maintained by the product and cannot be viewed or altered.</a:t>
            </a:r>
          </a:p>
          <a:p>
            <a:pPr lvl="1">
              <a:buClr>
                <a:srgbClr val="009999"/>
              </a:buClr>
              <a:buFont typeface="Wingdings" pitchFamily="2" charset="2"/>
              <a:buChar char="Ø"/>
            </a:pPr>
            <a:endParaRPr lang="en-US" sz="2000" b="1" u="sng" dirty="0" smtClean="0">
              <a:solidFill>
                <a:srgbClr val="000000"/>
              </a:solidFill>
              <a:cs typeface="Times New Roman" pitchFamily="18" charset="0"/>
            </a:endParaRPr>
          </a:p>
          <a:p>
            <a:pPr lvl="1">
              <a:buClr>
                <a:srgbClr val="009999"/>
              </a:buClr>
              <a:buFont typeface="Wingdings" pitchFamily="2" charset="2"/>
              <a:buChar char="Ø"/>
            </a:pPr>
            <a:r>
              <a:rPr lang="en-US" sz="2000" b="1" u="sng" dirty="0" smtClean="0">
                <a:solidFill>
                  <a:srgbClr val="000000"/>
                </a:solidFill>
              </a:rPr>
              <a:t>Everyone:</a:t>
            </a:r>
          </a:p>
          <a:p>
            <a:pPr lvl="1">
              <a:buClr>
                <a:srgbClr val="009999"/>
              </a:buClr>
            </a:pPr>
            <a:endParaRPr lang="en-US" sz="2000" b="1" u="sng" dirty="0" smtClean="0">
              <a:solidFill>
                <a:srgbClr val="000000"/>
              </a:solidFill>
            </a:endParaRPr>
          </a:p>
          <a:p>
            <a:pPr lvl="2">
              <a:buClr>
                <a:srgbClr val="009999"/>
              </a:buClr>
              <a:buFont typeface="Wingdings" pitchFamily="2" charset="2"/>
              <a:buChar char="§"/>
            </a:pPr>
            <a:r>
              <a:rPr lang="en-US" sz="2000" dirty="0" smtClean="0">
                <a:solidFill>
                  <a:srgbClr val="000000"/>
                </a:solidFill>
              </a:rPr>
              <a:t>This group represents all authenticated users and the Anonymous user account. The membership of this group is maintained by the product and cannot be viewed or altered.</a:t>
            </a:r>
            <a:endParaRPr lang="en-US" sz="4800" b="1" u="sng" dirty="0" smtClean="0">
              <a:solidFill>
                <a:srgbClr val="000000"/>
              </a:solidFill>
              <a:cs typeface="Times New Roman" pitchFamily="18" charset="0"/>
            </a:endParaRPr>
          </a:p>
          <a:p>
            <a:pPr lvl="1">
              <a:buClr>
                <a:srgbClr val="009999"/>
              </a:buClr>
            </a:pPr>
            <a:endParaRPr lang="en-US" sz="2000" b="1" u="sng" dirty="0" smtClean="0">
              <a:solidFill>
                <a:srgbClr val="000000"/>
              </a:solidFill>
              <a:cs typeface="Times New Roman" pitchFamily="18" charset="0"/>
            </a:endParaRPr>
          </a:p>
          <a:p>
            <a:pPr>
              <a:buClr>
                <a:srgbClr val="009999"/>
              </a:buClr>
            </a:pPr>
            <a:r>
              <a:rPr lang="en-US" sz="2000" dirty="0" smtClean="0">
                <a:solidFill>
                  <a:srgbClr val="000000"/>
                </a:solidFill>
                <a:cs typeface="Times New Roman" pitchFamily="18" charset="0"/>
              </a:rPr>
              <a:t>	</a:t>
            </a: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5847755"/>
          </a:xfrm>
          <a:prstGeom prst="rect">
            <a:avLst/>
          </a:prstGeom>
          <a:noFill/>
        </p:spPr>
        <p:txBody>
          <a:bodyPr wrap="square" rtlCol="0">
            <a:spAutoFit/>
          </a:bodyPr>
          <a:lstStyle/>
          <a:p>
            <a:r>
              <a:rPr lang="en-US" sz="2000" b="1" dirty="0" smtClean="0">
                <a:solidFill>
                  <a:srgbClr val="000000"/>
                </a:solidFill>
              </a:rPr>
              <a:t>Built-in entries:</a:t>
            </a:r>
          </a:p>
          <a:p>
            <a:endParaRPr lang="en-US" sz="1400" dirty="0" smtClean="0">
              <a:solidFill>
                <a:schemeClr val="tx2">
                  <a:lumMod val="50000"/>
                </a:schemeClr>
              </a:solidFill>
            </a:endParaRPr>
          </a:p>
          <a:p>
            <a:pPr lvl="1">
              <a:buClr>
                <a:srgbClr val="009999"/>
              </a:buClr>
              <a:buFont typeface="Wingdings" pitchFamily="2" charset="2"/>
              <a:buChar char="Ø"/>
            </a:pPr>
            <a:r>
              <a:rPr lang="en-US" sz="2000" b="1" u="sng" dirty="0" smtClean="0">
                <a:solidFill>
                  <a:srgbClr val="000000"/>
                </a:solidFill>
              </a:rPr>
              <a:t>System Administrators</a:t>
            </a:r>
          </a:p>
          <a:p>
            <a:pPr lvl="1">
              <a:buClr>
                <a:srgbClr val="009999"/>
              </a:buClr>
            </a:pPr>
            <a:endParaRPr lang="en-US" sz="2000" u="sng" dirty="0" smtClean="0">
              <a:solidFill>
                <a:srgbClr val="000000"/>
              </a:solidFill>
            </a:endParaRPr>
          </a:p>
          <a:p>
            <a:pPr lvl="2">
              <a:buClr>
                <a:srgbClr val="009999"/>
              </a:buClr>
              <a:buFont typeface="Wingdings" pitchFamily="2" charset="2"/>
              <a:buChar char="§"/>
            </a:pPr>
            <a:r>
              <a:rPr lang="en-US" sz="2000" dirty="0" smtClean="0">
                <a:solidFill>
                  <a:srgbClr val="000000"/>
                </a:solidFill>
              </a:rPr>
              <a:t>This is a special role in IBM Cognos software. Members of this role are considered root users or super users. They may access and modify any object in the content store, regardless of any security policies set for the object. Only members of the System Administrators role can modify the membership of this role.</a:t>
            </a:r>
          </a:p>
          <a:p>
            <a:pPr lvl="2">
              <a:buClr>
                <a:srgbClr val="009999"/>
              </a:buClr>
            </a:pPr>
            <a:endParaRPr lang="en-US" sz="2000" dirty="0" smtClean="0">
              <a:solidFill>
                <a:srgbClr val="000000"/>
              </a:solidFill>
            </a:endParaRPr>
          </a:p>
          <a:p>
            <a:pPr lvl="2">
              <a:buClr>
                <a:srgbClr val="009999"/>
              </a:buClr>
              <a:buFont typeface="Wingdings" pitchFamily="2" charset="2"/>
              <a:buChar char="§"/>
            </a:pPr>
            <a:r>
              <a:rPr lang="en-US" sz="2000" dirty="0" smtClean="0">
                <a:solidFill>
                  <a:srgbClr val="000000"/>
                </a:solidFill>
              </a:rPr>
              <a:t>The System Administrators role cannot be empty. If you do not want to use System Administrators, you can create an empty group in the Cognos namespace or in your authentication provider, and add this group to the membership of the System Administrators role</a:t>
            </a:r>
            <a:r>
              <a:rPr lang="en-US" sz="2000" dirty="0" smtClean="0"/>
              <a:t>.</a:t>
            </a:r>
            <a:endParaRPr lang="en-US" sz="4800" dirty="0" smtClean="0">
              <a:solidFill>
                <a:srgbClr val="000000"/>
              </a:solidFill>
            </a:endParaRPr>
          </a:p>
          <a:p>
            <a:pPr lvl="1">
              <a:buClr>
                <a:srgbClr val="009999"/>
              </a:buClr>
            </a:pPr>
            <a:endParaRPr lang="en-US" sz="2000" b="1" u="sng" dirty="0" smtClean="0">
              <a:solidFill>
                <a:srgbClr val="000000"/>
              </a:solidFill>
              <a:cs typeface="Times New Roman" pitchFamily="18" charset="0"/>
            </a:endParaRPr>
          </a:p>
          <a:p>
            <a:pPr>
              <a:buClr>
                <a:srgbClr val="009999"/>
              </a:buClr>
            </a:pPr>
            <a:r>
              <a:rPr lang="en-US" sz="2000" dirty="0" smtClean="0">
                <a:solidFill>
                  <a:srgbClr val="000000"/>
                </a:solidFill>
                <a:cs typeface="Times New Roman" pitchFamily="18" charset="0"/>
              </a:rPr>
              <a:t>	</a:t>
            </a: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4616648"/>
          </a:xfrm>
          <a:prstGeom prst="rect">
            <a:avLst/>
          </a:prstGeom>
          <a:noFill/>
        </p:spPr>
        <p:txBody>
          <a:bodyPr wrap="square" rtlCol="0">
            <a:spAutoFit/>
          </a:bodyPr>
          <a:lstStyle/>
          <a:p>
            <a:r>
              <a:rPr lang="en-US" sz="2000" b="1" dirty="0" smtClean="0">
                <a:solidFill>
                  <a:srgbClr val="000000"/>
                </a:solidFill>
              </a:rPr>
              <a:t>Predefined entries:</a:t>
            </a:r>
          </a:p>
          <a:p>
            <a:endParaRPr lang="en-US" sz="1400" dirty="0" smtClean="0">
              <a:solidFill>
                <a:srgbClr val="000000"/>
              </a:solidFill>
            </a:endParaRPr>
          </a:p>
          <a:p>
            <a:pPr>
              <a:buClr>
                <a:srgbClr val="009999"/>
              </a:buClr>
              <a:buFont typeface="Wingdings" pitchFamily="2" charset="2"/>
              <a:buChar char="§"/>
            </a:pPr>
            <a:r>
              <a:rPr lang="en-US" sz="2000" dirty="0" smtClean="0">
                <a:solidFill>
                  <a:srgbClr val="000000"/>
                </a:solidFill>
              </a:rPr>
              <a:t> The predefined entries include several IBM Cognos roles. Each role has a  specific set of access permissions and can be used to secure different components and functions in IBM Cognos software. You can use the predefined roles, or delete them.</a:t>
            </a:r>
          </a:p>
          <a:p>
            <a:pPr>
              <a:buClr>
                <a:srgbClr val="009999"/>
              </a:buClr>
              <a:buFont typeface="Wingdings" pitchFamily="2" charset="2"/>
              <a:buChar char="§"/>
            </a:pPr>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rPr>
              <a:t> When the predefined roles are created during the content store initialization, the group Everyone is a member of some of them. Some of such roles are Consumers, Query Users, Analysis Users, and Authors. If you want to use the predefined roles, you should modify their initial membership immediately after installing and configuring IBM Cognos software.</a:t>
            </a: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4616648"/>
          </a:xfrm>
          <a:prstGeom prst="rect">
            <a:avLst/>
          </a:prstGeom>
          <a:noFill/>
        </p:spPr>
        <p:txBody>
          <a:bodyPr wrap="square" rtlCol="0">
            <a:spAutoFit/>
          </a:bodyPr>
          <a:lstStyle/>
          <a:p>
            <a:r>
              <a:rPr lang="en-US" sz="2000" b="1" dirty="0" smtClean="0">
                <a:solidFill>
                  <a:srgbClr val="000000"/>
                </a:solidFill>
              </a:rPr>
              <a:t>Users, Groups, and Roles:</a:t>
            </a:r>
          </a:p>
          <a:p>
            <a:endParaRPr lang="en-US" sz="1400" dirty="0" smtClean="0">
              <a:solidFill>
                <a:srgbClr val="000000"/>
              </a:solidFill>
            </a:endParaRPr>
          </a:p>
          <a:p>
            <a:pPr>
              <a:buClr>
                <a:srgbClr val="009999"/>
              </a:buClr>
              <a:buFont typeface="Wingdings" pitchFamily="2" charset="2"/>
              <a:buChar char="§"/>
            </a:pPr>
            <a:r>
              <a:rPr lang="en-US" sz="2000" dirty="0" smtClean="0">
                <a:solidFill>
                  <a:srgbClr val="000000"/>
                </a:solidFill>
              </a:rPr>
              <a:t> Users, groups, and roles are created for authentication and authorization purposes.</a:t>
            </a:r>
          </a:p>
          <a:p>
            <a:pPr>
              <a:buClr>
                <a:srgbClr val="009999"/>
              </a:buClr>
            </a:pPr>
            <a:endParaRPr lang="en-US" sz="2000" dirty="0" smtClean="0">
              <a:solidFill>
                <a:srgbClr val="000000"/>
              </a:solidFill>
            </a:endParaRPr>
          </a:p>
          <a:p>
            <a:pPr>
              <a:buClr>
                <a:srgbClr val="009999"/>
              </a:buClr>
              <a:buFont typeface="Wingdings" pitchFamily="2" charset="2"/>
              <a:buChar char="§"/>
            </a:pPr>
            <a:r>
              <a:rPr lang="en-US" sz="2000" dirty="0" smtClean="0">
                <a:solidFill>
                  <a:srgbClr val="000000"/>
                </a:solidFill>
              </a:rPr>
              <a:t> You can use groups and roles created in IBM Cognos software, and users,  groups, and roles created in authentication providers. The groups and roles created in IBM Cognos software are referred to as Cognos groups and Cognos roles.</a:t>
            </a:r>
          </a:p>
          <a:p>
            <a:pPr>
              <a:buClr>
                <a:srgbClr val="009999"/>
              </a:buClr>
              <a:buFont typeface="Wingdings" pitchFamily="2" charset="2"/>
              <a:buChar char="§"/>
            </a:pPr>
            <a:endParaRPr lang="en-US" sz="2000" dirty="0" smtClean="0">
              <a:solidFill>
                <a:srgbClr val="000000"/>
              </a:solidFill>
              <a:cs typeface="Times New Roman" pitchFamily="18" charset="0"/>
            </a:endParaRPr>
          </a:p>
          <a:p>
            <a:pPr>
              <a:buClr>
                <a:srgbClr val="009999"/>
              </a:buClr>
              <a:buFont typeface="Wingdings" pitchFamily="2" charset="2"/>
              <a:buChar char="§"/>
            </a:pPr>
            <a:r>
              <a:rPr lang="en-US" sz="2000" dirty="0" smtClean="0">
                <a:solidFill>
                  <a:srgbClr val="000000"/>
                </a:solidFill>
              </a:rPr>
              <a:t>  A user entry is created and maintained in an authentication provider to uniquely identify a human or a computer account. You cannot create user entries in IBM Cognos software.</a:t>
            </a: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Cognos Security</a:t>
            </a:r>
            <a:endParaRPr lang="en-US" dirty="0"/>
          </a:p>
        </p:txBody>
      </p:sp>
      <p:sp>
        <p:nvSpPr>
          <p:cNvPr id="3" name="TextBox 2"/>
          <p:cNvSpPr txBox="1"/>
          <p:nvPr/>
        </p:nvSpPr>
        <p:spPr>
          <a:xfrm>
            <a:off x="381000" y="1143000"/>
            <a:ext cx="9296400" cy="3693319"/>
          </a:xfrm>
          <a:prstGeom prst="rect">
            <a:avLst/>
          </a:prstGeom>
          <a:noFill/>
        </p:spPr>
        <p:txBody>
          <a:bodyPr wrap="square" rtlCol="0">
            <a:spAutoFit/>
          </a:bodyPr>
          <a:lstStyle/>
          <a:p>
            <a:r>
              <a:rPr lang="en-US" sz="2000" b="1" dirty="0" smtClean="0">
                <a:solidFill>
                  <a:srgbClr val="000000"/>
                </a:solidFill>
              </a:rPr>
              <a:t>Users, Groups, and Roles:</a:t>
            </a:r>
          </a:p>
          <a:p>
            <a:endParaRPr lang="en-US" sz="2000" b="1" dirty="0" smtClean="0">
              <a:solidFill>
                <a:srgbClr val="000000"/>
              </a:solidFill>
            </a:endParaRPr>
          </a:p>
          <a:p>
            <a:pPr>
              <a:buClr>
                <a:srgbClr val="009999"/>
              </a:buClr>
              <a:buFont typeface="Wingdings" pitchFamily="2" charset="2"/>
              <a:buChar char="§"/>
            </a:pPr>
            <a:r>
              <a:rPr lang="en-US" sz="2000" dirty="0" smtClean="0"/>
              <a:t> </a:t>
            </a:r>
            <a:r>
              <a:rPr lang="en-US" sz="2000" dirty="0" smtClean="0">
                <a:solidFill>
                  <a:srgbClr val="000000"/>
                </a:solidFill>
              </a:rPr>
              <a:t>Groups and roles represent collections of users that perform similar functions,</a:t>
            </a:r>
          </a:p>
          <a:p>
            <a:r>
              <a:rPr lang="en-US" sz="2000" dirty="0" smtClean="0">
                <a:solidFill>
                  <a:srgbClr val="000000"/>
                </a:solidFill>
              </a:rPr>
              <a:t>or have a similar status in an organization. Examples of groups are Employees,</a:t>
            </a:r>
          </a:p>
          <a:p>
            <a:r>
              <a:rPr lang="en-US" sz="2000" dirty="0" smtClean="0">
                <a:solidFill>
                  <a:srgbClr val="000000"/>
                </a:solidFill>
              </a:rPr>
              <a:t>Developers, or Sales Personnel. Members of groups can be users and other groups. When users log on, they cannot select a group they want to use for a session. They always log on with all the permissions associated with the groups to which they belong.</a:t>
            </a:r>
            <a:endParaRPr lang="en-US" sz="2000" b="1" dirty="0" smtClean="0">
              <a:solidFill>
                <a:srgbClr val="000000"/>
              </a:solidFill>
            </a:endParaRPr>
          </a:p>
          <a:p>
            <a:endParaRPr lang="en-US" sz="1400" dirty="0" smtClean="0">
              <a:solidFill>
                <a:srgbClr val="000000"/>
              </a:solidFill>
            </a:endParaRPr>
          </a:p>
          <a:p>
            <a:pPr>
              <a:buClr>
                <a:srgbClr val="009999"/>
              </a:buClr>
              <a:buFont typeface="Wingdings" pitchFamily="2" charset="2"/>
              <a:buChar cha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a:p>
            <a:pPr lvl="2">
              <a:buClr>
                <a:srgbClr val="009999"/>
              </a:buClr>
            </a:pPr>
            <a:endParaRPr lang="en-US" sz="2000" dirty="0" smtClean="0">
              <a:solidFill>
                <a:srgbClr val="000000"/>
              </a:solidFill>
              <a:cs typeface="Times New Roman" pitchFamily="18" charset="0"/>
            </a:endParaRPr>
          </a:p>
        </p:txBody>
      </p:sp>
      <p:pic>
        <p:nvPicPr>
          <p:cNvPr id="712706" name="Picture 2"/>
          <p:cNvPicPr>
            <a:picLocks noChangeAspect="1" noChangeArrowheads="1"/>
          </p:cNvPicPr>
          <p:nvPr/>
        </p:nvPicPr>
        <p:blipFill>
          <a:blip r:embed="rId2"/>
          <a:srcRect/>
          <a:stretch>
            <a:fillRect/>
          </a:stretch>
        </p:blipFill>
        <p:spPr bwMode="auto">
          <a:xfrm>
            <a:off x="381000" y="3733800"/>
            <a:ext cx="8553450" cy="227647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 y="2743200"/>
            <a:ext cx="9905999" cy="1371600"/>
          </a:xfrm>
        </p:spPr>
        <p:txBody>
          <a:bodyPr lIns="0" tIns="0" rIns="0" bIns="0" anchor="ctr" anchorCtr="1"/>
          <a:lstStyle/>
          <a:p>
            <a:pPr algn="ctr">
              <a:lnSpc>
                <a:spcPct val="100000"/>
              </a:lnSpc>
            </a:pPr>
            <a:r>
              <a:rPr sz="6000" dirty="0" smtClean="0"/>
              <a:t>Q &amp; A</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361952" y="1163638"/>
            <a:ext cx="8355013" cy="5281612"/>
          </a:xfrm>
          <a:prstGeom prst="rect">
            <a:avLst/>
          </a:prstGeom>
          <a:noFill/>
          <a:ln w="9525">
            <a:noFill/>
            <a:miter lim="800000"/>
            <a:headEnd/>
            <a:tailEnd/>
          </a:ln>
        </p:spPr>
        <p:txBody>
          <a:bodyPr vert="horz" wrap="square" lIns="288000" tIns="36000" rIns="72000" bIns="36000" numCol="1" anchor="t" anchorCtr="0" compatLnSpc="1">
            <a:prstTxWarp prst="textNoShape">
              <a:avLst/>
            </a:prstTxWarp>
          </a:bodyPr>
          <a:lstStyle/>
          <a:p>
            <a:pPr marL="342900" marR="0" lvl="1" indent="-342900" algn="l" defTabSz="714375" rtl="0" eaLnBrk="1" fontAlgn="base" latinLnBrk="0" hangingPunct="1">
              <a:lnSpc>
                <a:spcPts val="2600"/>
              </a:lnSpc>
              <a:spcBef>
                <a:spcPct val="20000"/>
              </a:spcBef>
              <a:spcAft>
                <a:spcPct val="0"/>
              </a:spcAft>
              <a:buClr>
                <a:schemeClr val="accent2"/>
              </a:buClr>
              <a:buSzPct val="85000"/>
              <a:buFont typeface="ZapfDingbats" pitchFamily="82" charset="2"/>
              <a:buNone/>
              <a:tabLst/>
              <a:defRPr/>
            </a:pPr>
            <a:endParaRPr kumimoji="0" lang="en-US" altLang="zh-CN" sz="2000" b="0" i="0" u="none" strike="noStrike" kern="1200" cap="none" spc="0" normalizeH="0" baseline="0" noProof="0" dirty="0" smtClean="0">
              <a:ln>
                <a:noFill/>
              </a:ln>
              <a:solidFill>
                <a:schemeClr val="tx1"/>
              </a:solidFill>
              <a:effectLst/>
              <a:uLnTx/>
              <a:uFillTx/>
              <a:latin typeface="+mn-lt"/>
              <a:ea typeface="宋体" charset="-122"/>
              <a:cs typeface="+mn-cs"/>
            </a:endParaRPr>
          </a:p>
        </p:txBody>
      </p:sp>
      <p:sp>
        <p:nvSpPr>
          <p:cNvPr id="6" name="TextBox 5"/>
          <p:cNvSpPr txBox="1"/>
          <p:nvPr/>
        </p:nvSpPr>
        <p:spPr>
          <a:xfrm>
            <a:off x="533400" y="1295400"/>
            <a:ext cx="6477000" cy="800100"/>
          </a:xfrm>
          <a:prstGeom prst="rect">
            <a:avLst/>
          </a:prstGeom>
          <a:noFill/>
        </p:spPr>
        <p:txBody>
          <a:bodyPr>
            <a:spAutoFit/>
          </a:bodyPr>
          <a:lstStyle/>
          <a:p>
            <a:pPr fontAlgn="auto">
              <a:spcBef>
                <a:spcPts val="0"/>
              </a:spcBef>
              <a:spcAft>
                <a:spcPts val="0"/>
              </a:spcAft>
              <a:defRPr/>
            </a:pPr>
            <a:r>
              <a:rPr lang="en-US" sz="3200" dirty="0" smtClean="0">
                <a:solidFill>
                  <a:schemeClr val="tx2">
                    <a:lumMod val="50000"/>
                  </a:schemeClr>
                </a:solidFill>
                <a:latin typeface="+mn-lt"/>
                <a:cs typeface="+mn-cs"/>
              </a:rPr>
              <a:t> </a:t>
            </a:r>
            <a:endParaRPr lang="en-US" sz="3200" dirty="0">
              <a:solidFill>
                <a:schemeClr val="tx2">
                  <a:lumMod val="50000"/>
                </a:schemeClr>
              </a:solidFill>
              <a:latin typeface="+mn-lt"/>
              <a:cs typeface="+mn-cs"/>
            </a:endParaRPr>
          </a:p>
          <a:p>
            <a:pPr fontAlgn="auto">
              <a:spcBef>
                <a:spcPts val="0"/>
              </a:spcBef>
              <a:spcAft>
                <a:spcPts val="0"/>
              </a:spcAft>
              <a:defRPr/>
            </a:pPr>
            <a:endParaRPr lang="en-US" sz="1400" dirty="0">
              <a:solidFill>
                <a:schemeClr val="tx2">
                  <a:lumMod val="50000"/>
                </a:schemeClr>
              </a:solidFill>
              <a:latin typeface="+mn-lt"/>
              <a:cs typeface="+mn-cs"/>
            </a:endParaRPr>
          </a:p>
        </p:txBody>
      </p:sp>
      <p:sp>
        <p:nvSpPr>
          <p:cNvPr id="7" name="Title 1"/>
          <p:cNvSpPr txBox="1">
            <a:spLocks/>
          </p:cNvSpPr>
          <p:nvPr/>
        </p:nvSpPr>
        <p:spPr>
          <a:xfrm>
            <a:off x="1" y="2743200"/>
            <a:ext cx="9905999" cy="1371600"/>
          </a:xfrm>
          <a:prstGeom prst="rect">
            <a:avLst/>
          </a:prstGeom>
        </p:spPr>
        <p:txBody>
          <a:bodyPr vert="horz" lIns="0" tIns="0" rIns="0" bIns="0" rtlCol="0" anchor="ctr" anchorCtr="1">
            <a:noAutofit/>
          </a:bodyPr>
          <a:lstStyle/>
          <a:p>
            <a:pPr marL="0" marR="0" lvl="0" indent="0" algn="ctr" defTabSz="914342" rtl="0" eaLnBrk="1" fontAlgn="auto" latinLnBrk="0" hangingPunct="1">
              <a:spcBef>
                <a:spcPct val="0"/>
              </a:spcBef>
              <a:spcAft>
                <a:spcPts val="0"/>
              </a:spcAft>
              <a:buClrTx/>
              <a:buSzTx/>
              <a:buFontTx/>
              <a:buNone/>
              <a:tabLst/>
              <a:defRPr/>
            </a:pPr>
            <a:r>
              <a:rPr lang="en-US" sz="3200" dirty="0" smtClean="0">
                <a:latin typeface="Arial Narrow" pitchFamily="34" charset="0"/>
                <a:ea typeface="+mj-ea"/>
                <a:cs typeface="+mj-cs"/>
              </a:rPr>
              <a:t>Thank You</a:t>
            </a:r>
            <a:endParaRPr kumimoji="0" lang="en-US" sz="3200" b="0" i="0" u="none" strike="noStrike" kern="1200" cap="none" spc="0" normalizeH="0" baseline="0" noProof="0" dirty="0" smtClean="0">
              <a:ln>
                <a:noFill/>
              </a:ln>
              <a:solidFill>
                <a:schemeClr val="tx1"/>
              </a:solidFill>
              <a:effectLst/>
              <a:uLnTx/>
              <a:uFillTx/>
              <a:latin typeface="Arial Narrow" pitchFamily="34" charset="0"/>
              <a:ea typeface="+mj-ea"/>
              <a:cs typeface="+mj-cs"/>
            </a:endParaRPr>
          </a:p>
        </p:txBody>
      </p:sp>
      <p:graphicFrame>
        <p:nvGraphicFramePr>
          <p:cNvPr id="5" name="Table 4"/>
          <p:cNvGraphicFramePr>
            <a:graphicFrameLocks noGrp="1"/>
          </p:cNvGraphicFramePr>
          <p:nvPr/>
        </p:nvGraphicFramePr>
        <p:xfrm>
          <a:off x="6858000" y="5029200"/>
          <a:ext cx="2819400" cy="1112520"/>
        </p:xfrm>
        <a:graphic>
          <a:graphicData uri="http://schemas.openxmlformats.org/drawingml/2006/table">
            <a:tbl>
              <a:tblPr firstRow="1" bandRow="1">
                <a:tableStyleId>{72833802-FEF1-4C79-8D5D-14CF1EAF98D9}</a:tableStyleId>
              </a:tblPr>
              <a:tblGrid>
                <a:gridCol w="1371600"/>
                <a:gridCol w="1447800"/>
              </a:tblGrid>
              <a:tr h="370840">
                <a:tc>
                  <a:txBody>
                    <a:bodyPr/>
                    <a:lstStyle/>
                    <a:p>
                      <a:r>
                        <a:rPr lang="en-US" sz="1000" b="1" dirty="0" smtClean="0">
                          <a:solidFill>
                            <a:schemeClr val="tx1"/>
                          </a:solidFill>
                        </a:rPr>
                        <a:t>Review Date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b="1" dirty="0" smtClean="0">
                          <a:solidFill>
                            <a:schemeClr val="tx1"/>
                          </a:solidFill>
                        </a:rPr>
                        <a:t>14-July-2016</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r>
                        <a:rPr lang="en-US" sz="1000" b="1" dirty="0" smtClean="0">
                          <a:solidFill>
                            <a:schemeClr val="tx1"/>
                          </a:solidFill>
                        </a:rPr>
                        <a:t>Version</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0" b="1" dirty="0" smtClean="0">
                          <a:solidFill>
                            <a:schemeClr val="tx1"/>
                          </a:solidFill>
                        </a:rPr>
                        <a:t>1.0</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1000" b="1" dirty="0" smtClean="0">
                          <a:solidFill>
                            <a:schemeClr val="tx1"/>
                          </a:solidFill>
                        </a:rPr>
                        <a:t>Next Review Due</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42" rtl="0" eaLnBrk="1" fontAlgn="auto" latinLnBrk="0" hangingPunct="1">
                        <a:lnSpc>
                          <a:spcPct val="100000"/>
                        </a:lnSpc>
                        <a:spcBef>
                          <a:spcPts val="0"/>
                        </a:spcBef>
                        <a:spcAft>
                          <a:spcPts val="0"/>
                        </a:spcAft>
                        <a:buClrTx/>
                        <a:buSzTx/>
                        <a:buFontTx/>
                        <a:buNone/>
                        <a:tabLst/>
                        <a:defRPr/>
                      </a:pPr>
                      <a:r>
                        <a:rPr lang="en-US" sz="1000" b="1" smtClean="0">
                          <a:solidFill>
                            <a:schemeClr val="tx1"/>
                          </a:solidFill>
                        </a:rPr>
                        <a:t>14-July-2017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8558643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40347" name="think-cell Slide" r:id="rId4" imgW="360" imgH="360" progId="">
                  <p:embed/>
                </p:oleObj>
              </mc:Choice>
              <mc:Fallback>
                <p:oleObj name="think-cell Slide" r:id="rId4" imgW="360" imgH="360" progId="">
                  <p:embed/>
                  <p:pic>
                    <p:nvPicPr>
                      <p:cNvPr id="0" name="Picture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7192&quot;/&gt;&lt;partner val=&quot;610&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eweekdayFirstOfWeek val=&quot;2&quot;/&gt;&lt;m_mruColor&gt;&lt;m_vecMRU length=&quot;0&quot;/&gt;&lt;/m_mruColor&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gt;,&lt;/m_chDecimalSymbol&gt;&lt;m_nGroupingDigits val=&quot;3&quot;/&gt;&lt;m_chGroupingSymbol&gt;.&lt;/m_chGroupingSymbol&gt;&lt;/m_precDefault&gt;&lt;/CDefaultPrec&gt;&lt;/root&gt;"/>
  <p:tag name="THINKCELLUNDODONOTDELETE" val="6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jqZTlbzwhkOEBq_f4HJ0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gz3YXo3l0OkLMYAWunui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RCdww2x_kWXwqqw_did_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jQt7HR0uEmHGOBxH6tjb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aLI83S.QyU2cWSfucWO3Y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hxTia5XSD0.OzMnWznRyt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sights &amp; Data_LnD_Template">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6350" cap="flat" cmpd="sng" algn="ctr">
          <a:solidFill>
            <a:schemeClr val="bg2"/>
          </a:solidFill>
          <a:prstDash val="solid"/>
          <a:round/>
          <a:headEnd type="none" w="med" len="med"/>
          <a:tailEnd type="none" w="med" len="med"/>
        </a:ln>
        <a:effectLst/>
      </a:spPr>
      <a:bodyPr vert="horz" wrap="none" lIns="91440" tIns="45720" rIns="91440" bIns="45720" numCol="1" rtlCol="0" anchor="ctr" anchorCtr="0" compatLnSpc="1">
        <a:prstTxWarp prst="textNoShape">
          <a:avLst/>
        </a:prstTxWarp>
      </a:bodyPr>
      <a:lstStyle>
        <a:defPPr marL="0" marR="0" indent="0" algn="ctr" defTabSz="914400" rtl="0" eaLnBrk="0" fontAlgn="base" latinLnBrk="0" hangingPunct="0">
          <a:spcBef>
            <a:spcPct val="0"/>
          </a:spcBef>
          <a:spcAft>
            <a:spcPct val="0"/>
          </a:spcAft>
          <a:buClrTx/>
          <a:buSzTx/>
          <a:buFontTx/>
          <a:buNone/>
          <a:tabLst/>
          <a:defRPr kumimoji="0" sz="1600" i="0" u="none" strike="noStrike" cap="none" normalizeH="0" baseline="0" dirty="0" smtClean="0">
            <a:ln>
              <a:noFill/>
            </a:ln>
            <a:solidFill>
              <a:schemeClr val="tx2">
                <a:lumMod val="50000"/>
              </a:schemeClr>
            </a:solidFill>
            <a:effectLst/>
            <a:latin typeface="+mn-lt"/>
            <a:cs typeface="Arial" charset="0"/>
          </a:defRPr>
        </a:defPPr>
      </a:lstStyle>
    </a:spDef>
    <a:lnDef>
      <a:spPr bwMode="auto">
        <a:solidFill>
          <a:schemeClr val="accent6"/>
        </a:solidFill>
        <a:ln w="6350" cap="flat" cmpd="sng" algn="ctr">
          <a:solidFill>
            <a:schemeClr val="bg2"/>
          </a:solidFill>
          <a:prstDash val="solid"/>
          <a:round/>
          <a:headEnd type="none" w="med" len="med"/>
          <a:tailEnd type="none" w="med" len="med"/>
        </a:ln>
        <a:effectLst/>
      </a:spPr>
      <a:bodyPr/>
      <a:lst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I&amp;D_Learning and Development 2015_Closing Slides">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amp;D_Learning and Development 2015_Section break">
  <a:themeElements>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fontScheme name="Capgemini-New">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I&amp;D-New">
    <a:dk1>
      <a:srgbClr val="263147"/>
    </a:dk1>
    <a:lt1>
      <a:sysClr val="window" lastClr="FFFFFF"/>
    </a:lt1>
    <a:dk2>
      <a:srgbClr val="909090"/>
    </a:dk2>
    <a:lt2>
      <a:srgbClr val="998C85"/>
    </a:lt2>
    <a:accent1>
      <a:srgbClr val="263147"/>
    </a:accent1>
    <a:accent2>
      <a:srgbClr val="0098C7"/>
    </a:accent2>
    <a:accent3>
      <a:srgbClr val="B7BE16"/>
    </a:accent3>
    <a:accent4>
      <a:srgbClr val="598E20"/>
    </a:accent4>
    <a:accent5>
      <a:srgbClr val="762C7C"/>
    </a:accent5>
    <a:accent6>
      <a:srgbClr val="AC2B37"/>
    </a:accent6>
    <a:hlink>
      <a:srgbClr val="E47E1A"/>
    </a:hlink>
    <a:folHlink>
      <a:srgbClr val="C167C9"/>
    </a:folHlink>
  </a:clrScheme>
</a:themeOverride>
</file>

<file path=docProps/app.xml><?xml version="1.0" encoding="utf-8"?>
<Properties xmlns="http://schemas.openxmlformats.org/officeDocument/2006/extended-properties" xmlns:vt="http://schemas.openxmlformats.org/officeDocument/2006/docPropsVTypes">
  <Template>Insights &amp; Data_LnD_Template</Template>
  <TotalTime>788</TotalTime>
  <Words>5272</Words>
  <Application>Microsoft Office PowerPoint</Application>
  <PresentationFormat>A4 Paper (210x297 mm)</PresentationFormat>
  <Paragraphs>606</Paragraphs>
  <Slides>46</Slides>
  <Notes>26</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46</vt:i4>
      </vt:variant>
    </vt:vector>
  </HeadingPairs>
  <TitlesOfParts>
    <vt:vector size="50" baseType="lpstr">
      <vt:lpstr>Insights &amp; Data_LnD_Template</vt:lpstr>
      <vt:lpstr>I&amp;D_Learning and Development 2015_Closing Slides</vt:lpstr>
      <vt:lpstr>I&amp;D_Learning and Development 2015_Section break</vt:lpstr>
      <vt:lpstr>think-cell Slide</vt:lpstr>
      <vt:lpstr>Learning &amp; Development  Enabling development, Impacting growth…</vt:lpstr>
      <vt:lpstr>PowerPoint Presentation</vt:lpstr>
      <vt:lpstr>PowerPoint Presentation</vt:lpstr>
      <vt:lpstr>PowerPoint Presentation</vt:lpstr>
      <vt:lpstr>Framework Manager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Framework Manager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Cognos Administration</vt:lpstr>
      <vt:lpstr>Cognos Administration</vt:lpstr>
      <vt:lpstr>Cognos Security</vt:lpstr>
      <vt:lpstr>Cognos Security</vt:lpstr>
      <vt:lpstr>Cognos Security</vt:lpstr>
      <vt:lpstr>Cognos Security</vt:lpstr>
      <vt:lpstr>Cognos Security</vt:lpstr>
      <vt:lpstr>Cognos Security</vt:lpstr>
      <vt:lpstr>Cognos Security</vt:lpstr>
      <vt:lpstr>Cognos Security</vt:lpstr>
      <vt:lpstr>Cognos Security</vt:lpstr>
      <vt:lpstr>Cognos Security</vt:lpstr>
      <vt:lpstr>Cognos Security</vt:lpstr>
      <vt:lpstr>Q &amp; A</vt:lpstr>
      <vt:lpstr>PowerPoint Presentation</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&amp; Development  Enabling development, Impacting growth…</dc:title>
  <dc:creator>vivmore</dc:creator>
  <cp:lastModifiedBy>Rajita Dhumal</cp:lastModifiedBy>
  <cp:revision>161</cp:revision>
  <dcterms:created xsi:type="dcterms:W3CDTF">2015-07-10T14:05:09Z</dcterms:created>
  <dcterms:modified xsi:type="dcterms:W3CDTF">2016-08-08T03:54:39Z</dcterms:modified>
</cp:coreProperties>
</file>